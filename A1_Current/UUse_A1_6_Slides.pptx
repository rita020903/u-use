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4ace28801e04a14" /><Relationship Type="http://schemas.openxmlformats.org/officeDocument/2006/relationships/extended-properties" Target="/docProps/app.xml" Id="R4d3057d5f9cf4c85" /><Relationship Type="http://schemas.openxmlformats.org/officeDocument/2006/relationships/officeDocument" Target="/ppt/presentation.xml" Id="R411ed43c209b4c29" /></Relationships>
</file>

<file path=ppt/presentation.xml><?xml version="1.0" encoding="utf-8"?>
<p:presentation xmlns:p="http://schemas.openxmlformats.org/presentationml/2006/main">
  <p:sldMasterIdLst>
    <p:sldMasterId xmlns:r="http://schemas.openxmlformats.org/officeDocument/2006/relationships" id="2147483648" r:id="R6017096b5aa24f3d"/>
  </p:sldMasterIdLst>
  <p:notesMasterIdLst>
    <p:notesMasterId xmlns:r="http://schemas.openxmlformats.org/officeDocument/2006/relationships" r:id="Rf78ad1f8880a4fd9"/>
  </p:notesMasterIdLst>
  <p:sldIdLst>
    <p:sldId xmlns:r="http://schemas.openxmlformats.org/officeDocument/2006/relationships" id="256" r:id="R3d39cba8553a475b"/>
    <p:sldId xmlns:r="http://schemas.openxmlformats.org/officeDocument/2006/relationships" id="257" r:id="R3fb10efd8c234b84"/>
    <p:sldId xmlns:r="http://schemas.openxmlformats.org/officeDocument/2006/relationships" id="258" r:id="R79a81a3ae88947ca"/>
    <p:sldId xmlns:r="http://schemas.openxmlformats.org/officeDocument/2006/relationships" id="259" r:id="Rdd987e874c3d4db8"/>
    <p:sldId xmlns:r="http://schemas.openxmlformats.org/officeDocument/2006/relationships" id="260" r:id="Rc74abe09f7864bf2"/>
    <p:sldId xmlns:r="http://schemas.openxmlformats.org/officeDocument/2006/relationships" id="261" r:id="R6978056c9b8c46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2450c005b341c3" /><Relationship Type="http://schemas.openxmlformats.org/officeDocument/2006/relationships/slideMaster" Target="/ppt/slideMasters/slideMaster1.xml" Id="R6017096b5aa24f3d" /><Relationship Type="http://schemas.openxmlformats.org/officeDocument/2006/relationships/notesMaster" Target="/ppt/notesMasters/notesMaster1.xml" Id="Rf78ad1f8880a4fd9" /><Relationship Type="http://schemas.openxmlformats.org/officeDocument/2006/relationships/presProps" Target="/ppt/presProps.xml" Id="R551d60a8d5014f61" /><Relationship Type="http://schemas.openxmlformats.org/officeDocument/2006/relationships/tableStyles" Target="/ppt/tableStyles.xml" Id="Rc76407a8a53b492b" /><Relationship Type="http://schemas.openxmlformats.org/officeDocument/2006/relationships/slide" Target="/ppt/slides/slide1.xml" Id="R3d39cba8553a475b" /><Relationship Type="http://schemas.openxmlformats.org/officeDocument/2006/relationships/slide" Target="/ppt/slides/slide2.xml" Id="R3fb10efd8c234b84" /><Relationship Type="http://schemas.openxmlformats.org/officeDocument/2006/relationships/slide" Target="/ppt/slides/slide3.xml" Id="R79a81a3ae88947ca" /><Relationship Type="http://schemas.openxmlformats.org/officeDocument/2006/relationships/slide" Target="/ppt/slides/slide4.xml" Id="Rdd987e874c3d4db8" /><Relationship Type="http://schemas.openxmlformats.org/officeDocument/2006/relationships/slide" Target="/ppt/slides/slide5.xml" Id="Rc74abe09f7864bf2" /><Relationship Type="http://schemas.openxmlformats.org/officeDocument/2006/relationships/slide" Target="/ppt/slides/slide6.xml" Id="R6978056c9b8c46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e513d43d2448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acdaabd09a4fce" /><Relationship Type="http://schemas.openxmlformats.org/officeDocument/2006/relationships/notesMaster" Target="/ppt/notesMasters/notesMaster1.xml" Id="R26c312f3b88840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f21b7280304de7" /><Relationship Type="http://schemas.openxmlformats.org/officeDocument/2006/relationships/notesMaster" Target="/ppt/notesMasters/notesMaster1.xml" Id="Rfbee5e5f112a47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32fdf7c5144777" /><Relationship Type="http://schemas.openxmlformats.org/officeDocument/2006/relationships/notesMaster" Target="/ppt/notesMasters/notesMaster1.xml" Id="R6670b70f945f40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566cc19d5b449f" /><Relationship Type="http://schemas.openxmlformats.org/officeDocument/2006/relationships/notesMaster" Target="/ppt/notesMasters/notesMaster1.xml" Id="R35793668733f4d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3781698bf245fe" /><Relationship Type="http://schemas.openxmlformats.org/officeDocument/2006/relationships/notesMaster" Target="/ppt/notesMasters/notesMaster1.xml" Id="R73820807714241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e023b5f3344632" /><Relationship Type="http://schemas.openxmlformats.org/officeDocument/2006/relationships/notesMaster" Target="/ppt/notesMasters/notesMaster1.xml" Id="R8cc89a808b5b42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 Use helps XJTLU students find an item for the dates they need it and agree the handoff and return in advance. Students can buy, borrow, rent or permanently swap items. We will start with the eight DTS classes identified by the team rather than assume campus-wide use. The interface supports XEC and SIP.</a:t>
            </a:r>
          </a:p>
          <a:p xmlns:a="http://schemas.openxmlformats.org/drawingml/2006/main">
            <a:r>
              <a:t>Rita, 15 October 2026: proposed pilot covers eight DTS classes. Class sizes, permission to recruit and unique reach have not been supplied. DTS is kept as provided, without an invented full programme name.</a:t>
            </a:r>
          </a:p>
          <a:p xmlns:a="http://schemas.openxmlformats.org/drawingml/2006/main">
            <a:r>
              <a:t>Actual U Use local prototype screenshots from the 6 October 2026 support build. All displayed inventory, needs and accounts are synthetic demonstration data. The screenshots do not establish adoption, supply or demand.</a:t>
            </a:r>
          </a:p>
          <a:p xmlns:a="http://schemas.openxmlformats.org/drawingml/2006/main">
            <a:r>
              <a:t/>
            </a:r>
          </a:p>
          <a:p xmlns:a="http://schemas.openxmlformats.org/drawingml/2006/main">
            <a:r>
              <a:t>Version update, 19 October 2026: the feature set is now frozen for course demonstrations and real user tests. The cover image remains an actual prototype screenshot with synthetic demonstration inventory. It does not show adoption or committed supply.</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provided fifteen interview summaries. Three points shape the product. First, the need is occasional and students already have alternatives. Second, a relevant listing still needs an owner's commitment on the requested dates. Third, people need a way to meet without publishing live location or their complete timetable.</a:t>
            </a:r>
          </a:p>
          <a:p xmlns:a="http://schemas.openxmlformats.org/drawingml/2006/main">
            <a:r>
              <a:t>Low frequency: V002, V005, V008, V015. Dates and commitment: V001, V003, V009, V012, V014. Privacy and owner choice: V004, V008, V009, V013.</a:t>
            </a:r>
          </a:p>
          <a:p xmlns:a="http://schemas.openxmlformats.org/drawingml/2006/main">
            <a:r>
              <a:t>These are qualitative interpretations. They do not tell us how many DTS students will use or pay for the service. Negative responses remain in the evidence. The first persona is a targeting decision to test, not a measured description of the whole cohort.</a:t>
            </a:r>
          </a:p>
          <a:p xmlns:a="http://schemas.openxmlformats.org/drawingml/2006/main">
            <a:r>
              <a:t>Team-provided interview summaries V001-V015, reconfirmed by Rita on 18 October 2026 as reflecting the team interviews. The deck uses edited paraphrases. Participant-level dates, consent records and underlying transcripts were not provided for independent verification. This is qualitative input, not a representative survey or measured usability-test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TAM is a broad institutional user universe, not an evidenced short-term rental demand estimate or monetised market. XJTLU reports 26,000+ students, updated May 2026. No assumption places all of them at XEC/SIP.</a:t>
            </a:r>
          </a:p>
          <a:p xmlns:a="http://schemas.openxmlformats.org/drawingml/2006/main">
            <a:r>
              <a:t>Provisional SAM is the sum of eligible students in the eight DTS classes the team intends to reach, after verifying class sizes, channel permission and deduplication. No total headcount is invented. No national money TAM is claimed.</a:t>
            </a:r>
          </a:p>
          <a:p xmlns:a="http://schemas.openxmlformats.org/drawingml/2006/main">
            <a:r>
              <a:t>A four-week planning case invites 80 potential requesters (10 per class), assumes 10% post a request and 25% of requests complete. That yields eight requests and two completed requests, each serving one requester in this simplified case. A supply assumption of four responsive owners with two fulfilments each caps completions at eight. Expected completions are MIN(80*10%*25%,4*2)=2. These assumptions do not come from the interview sample. Zero demand or zero supply yields zero completions.</a:t>
            </a:r>
          </a:p>
          <a:p xmlns:a="http://schemas.openxmlformats.org/drawingml/2006/main">
            <a:r>
              <a:t>SOM here means two served requesters in four weeks, not two paying subscribers. The workbook shows the calculation and leaves class headcounts blank.</a:t>
            </a:r>
          </a:p>
          <a:p xmlns:a="http://schemas.openxmlformats.org/drawingml/2006/main">
            <a:r>
              <a:t>Competitor review describes visible service scope. It does not establish the global absence of any feature. We must compare a real local task before claiming a measurable advantage.</a:t>
            </a:r>
          </a:p>
          <a:p xmlns:a="http://schemas.openxmlformats.org/drawingml/2006/main">
            <a:r>
              <a:t>XJTLU Overview &amp; Key Facts. https://www.xjtlu.edu.cn/en/overview . Accessed 15 October 2026. Institutional figure updated May 2026.</a:t>
            </a:r>
          </a:p>
          <a:p xmlns:a="http://schemas.openxmlformats.org/drawingml/2006/main">
            <a:r>
              <a:t>Xianyu official homepage. https://www.goofish.com/ . Accessed 15 October 2026. Homepage review only.</a:t>
            </a:r>
          </a:p>
          <a:p xmlns:a="http://schemas.openxmlformats.org/drawingml/2006/main">
            <a:r>
              <a:t>Renrenzu official introduction. https://m.rrzu.com/about/us . Official indexed page accessed 15 October 2026. Rental terms vary by listing.</a:t>
            </a:r>
          </a:p>
          <a:p xmlns:a="http://schemas.openxmlformats.org/drawingml/2006/main">
            <a:r>
              <a:t>ATRenew official company profile. https://ir.atrenew.com/company/company-profile . Accessed 15 October 2026. AHS Recycle and Paipai have different roles.</a:t>
            </a:r>
          </a:p>
          <a:p xmlns:a="http://schemas.openxmlformats.org/drawingml/2006/main">
            <a:r>
              <a:t>New planning assumptions for this A1 edition. Four-week pilot: 80 potential requester invites, 10% posting, 25% fulfilment, four responsive owners, two fulfilments per owner, 50% paid share and CNY20 paid consideration. No observed outcomes are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now demonstrates two concrete forms of coordination. A requester posts the needed dates and budget, and an owner can privately recommend an item. A recommendation does not create a booking. Separately, each person may import their own timetable from an image or PDF, correct and confirm each class, and enable suggestions for mutual free time. The supplied seven-class timetable is only an OCR regression example. Neither the product nor the pilot assumes the same timetable, number of classes, semester dates or teaching weeks for everyone. Manual booking remains available without import. A suggested time still requires an explicit booking and owner acceptance.</a:t>
            </a:r>
          </a:p>
          <a:p xmlns:a="http://schemas.openxmlformats.org/drawingml/2006/main">
            <a:r>
              <a:t>The map is secondary and collapsed by default. Users can choose a public XEC or SIP handoff without location sharing. Full timetables and raw OCR are not shared with other users. The screenshot comes from the local 19 October QA run. It shows a synthetic QA account and request rather than a real participant or market outcome.</a:t>
            </a:r>
          </a:p>
          <a:p xmlns:a="http://schemas.openxmlformats.org/drawingml/2006/main">
            <a:r>
              <a:t>Three concepts use different operating models. A manual bulletin coordinates messages without holding stock. A managed item pool takes storage and inspection responsibility. U Use leaves items with their owners and adds dated requests and bookings.</a:t>
            </a:r>
          </a:p>
          <a:p xmlns:a="http://schemas.openxmlformats.org/drawingml/2006/main">
            <a:r>
              <a:t>The weighted matrix remains a planning judgment, not user ratings: scheduling 30%, operating burden 25%, feasibility 25%, privacy 10%, supply acquisition 10%. Scores out of five are 3.60, 2.55 and 3.80. Moving 15 percentage points from scheduling to operating burden makes the manual bulletin score 4.05 and U Use stay at 3.80. Low use or weak supply can therefore justify a simpler bulletin.</a:t>
            </a:r>
          </a:p>
          <a:p xmlns:a="http://schemas.openxmlformats.org/drawingml/2006/main">
            <a:r>
              <a:t>The browser run exercised two independent accounts, request recommendations, booking messages, bilateral handoff/return, different timetable imports and mutual suggestions, account export/logout and both campus maps. It used responsive viewports, not four physical devices. OCR remains fallible and requires review. Email verification demonstrates mailbox access, not university SSO. Payments and deposits remain offline records, with no platform escrow or insurance.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Business Model Canvas contains all nine blocks. Partners are proposed, not signed or university-endorsed. Segments cover requesters and willing item owners. Channels begin with eight DTS classes only if their channel owners permit voluntary recruitment. The product's value proposition is a compatible item/date plus explicit handoff and return terms. Customer relationships depend on accountable manual support. Key resources include relevant supply, the code and named operators. Key activities include moderation, maintenance and resolving reports.</a:t>
            </a:r>
          </a:p>
          <a:p xmlns:a="http://schemas.openxmlformats.org/drawingml/2006/main">
            <a:r>
              <a:t>The free four-week pilot has platform fee revenue CNY0. Planning cash allocations are hosting 60, email 20, materials 50, contingency 50, total CNY180. These are budget assumptions rather than quotes or invoices. Team time is separate: seven members*two hours/week*four weeks=56 hours. At an assumed CNY20/hour the opportunity cost is CNY1,120, not wages already paid.</a:t>
            </a:r>
          </a:p>
          <a:p xmlns:a="http://schemas.openxmlformats.org/drawingml/2006/main">
            <a:r>
              <a:t>For two expected completions with a 50% fee-bearing share and CNY20 consideration per fee-bearing transaction, GMV=2*50%*20=CNY20. Exclude free borrowing, swaps and refundable deposits. The pilot collects no service fee. A hypothetical later 5% service fee yields CNY1 before costs, showing why growth and profitability claims would be premature.</a:t>
            </a:r>
          </a:p>
          <a:p xmlns:a="http://schemas.openxmlformats.org/drawingml/2006/main">
            <a:r>
              <a:t>Cash contribution is -180 at the pilot fee, or -179 under the illustrative future fee. The latter becomes -1,299 after assumed team time, before taxes, payment fees and losses.</a:t>
            </a:r>
          </a:p>
          <a:p xmlns:a="http://schemas.openxmlformats.org/drawingml/2006/main">
            <a:r>
              <a:t>Source: planning assumptions P1 and the editable workbook. These calculations do not represent actual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roles follow Rita's agreed allocation and describe responsibility, not completed contribution. Every member should understand the evidence and planning assumptions.</a:t>
            </a:r>
          </a:p>
          <a:p xmlns:a="http://schemas.openxmlformats.org/drawingml/2006/main">
            <a:r>
              <a:t>As of 19 October, the course-demonstration code has passed the scoped engineering acceptance. Freeze new features and large refactors. Fix observed defects and rerun affected checks. Real user observations should now guide changes instead of speculative development.</a:t>
            </a:r>
          </a:p>
          <a:p xmlns:a="http://schemas.openxmlformats.org/drawingml/2006/main">
            <a:r>
              <a:t>Week 6, 19-25 October: connect at least three traceable interview insights to the persona, journey and design choices. Complete the actual dates, consent and privately stored source-record links for the fifteen team-provided summaries. Record the reason to persevere or adjust.</a:t>
            </a:r>
          </a:p>
          <a:p xmlns:a="http://schemas.openxmlformats.org/drawingml/2006/main">
            <a:r>
              <a:t>Week 7, 26 October-1 November: compare all three concepts and review the weighting. Observe real participants using their own differing timetables and understanding fees, dates, owner confirmation and privacy. Record actual task outcomes and problems, then retest fixes. Do not substitute engineering fixtures or the 100-person synthetic practice data for participant results.</a:t>
            </a:r>
          </a:p>
          <a:p xmlns:a="http://schemas.openxmlformats.org/drawingml/2006/main">
            <a:r>
              <a:t>Week 8, 2-6 November: verify all nine BMC blocks and the claim-to-evidence map, rehearse the six-slide explanation, confirm the portal's file and AI-disclosure requirements, and submit by 6 November 2026 at 23:59 through LMO. Rita approves and Huang Yuxuan archives the actual receipt. GitHub synchronization is not LMO submission. Keep the signed charter, baseline where applicable and real contributions as separate evidence. The handbook mentions both submission receipts without identifying them, so check the portal rather than inventing a second upload.</a:t>
            </a:r>
          </a:p>
          <a:p xmlns:a="http://schemas.openxmlformats.org/drawingml/2006/main">
            <a:r>
              <a:t>A proposed later four-week pilot targets two genuine completed requests without a severe privacy or loss incident. This is a learning gate, not completed traction, a handbook rule or proof of viability. The eight DTS classes are the recruitment boundary, with actual headcounts and permission still to confirm. Low use or inadequate supply may justify a manual bulletin.</a:t>
            </a:r>
          </a:p>
          <a:p xmlns:a="http://schemas.openxmlformats.org/drawingml/2006/main">
            <a:r>
              <a:t>AI drafting and code assistance require the university-approved disclosure. The supplied ENT303TC 2026/27 handbook is the current basis for exactly six A1 slides including cover, no appendix, with any newer independent brief taking precedence.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a429b8b8724e7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4aff4d481948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276e380433047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f89cc51bc74fe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76cabfd5d540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ae113b2eb5a4c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0E7F85-E1B8-45B6-98D6-AC1EBD9BB1B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8D2840-C488-4040-992E-0344C5ECCF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D4786DB-44F0-48F9-87C0-E64234E499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0F65F5-D2C1-4F56-95E2-1281F6CA35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F05B4E8-0DAF-4F3A-9BDE-090EFADA6A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D94AC3-1131-41BE-8846-AAA2B01A1E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A666AB-3F82-4233-B483-FEB551EEC5D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41017B6-2C09-4BEE-B37B-2432AE9575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DB096-3299-4E4F-B045-005BAEC750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FBD2D7-B756-4143-A896-98FF9846CB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09d749044e4047" /><Relationship Type="http://schemas.openxmlformats.org/officeDocument/2006/relationships/slideLayout" Target="/ppt/slideLayouts/slideLayout1.xml" Id="R81d37cfcab744fee" /><Relationship Type="http://schemas.openxmlformats.org/officeDocument/2006/relationships/slideLayout" Target="/ppt/slideLayouts/slideLayout2.xml" Id="R49ee661213d9400e" /><Relationship Type="http://schemas.openxmlformats.org/officeDocument/2006/relationships/slideLayout" Target="/ppt/slideLayouts/slideLayout3.xml" Id="R246500799afd4184" /><Relationship Type="http://schemas.openxmlformats.org/officeDocument/2006/relationships/slideLayout" Target="/ppt/slideLayouts/slideLayout4.xml" Id="Rd2d3bd63f60148b1" /><Relationship Type="http://schemas.openxmlformats.org/officeDocument/2006/relationships/slideLayout" Target="/ppt/slideLayouts/slideLayout5.xml" Id="Re370411ee9cc422f" /><Relationship Type="http://schemas.openxmlformats.org/officeDocument/2006/relationships/slideLayout" Target="/ppt/slideLayouts/slideLayout6.xml" Id="R6c6a32f9b77b49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d37cfcab744fee"/>
    <p:sldLayoutId xmlns:r="http://schemas.openxmlformats.org/officeDocument/2006/relationships" id="2147483650" r:id="R49ee661213d9400e"/>
    <p:sldLayoutId xmlns:r="http://schemas.openxmlformats.org/officeDocument/2006/relationships" id="2147483651" r:id="R246500799afd4184"/>
    <p:sldLayoutId xmlns:r="http://schemas.openxmlformats.org/officeDocument/2006/relationships" id="2147483652" r:id="Rd2d3bd63f60148b1"/>
    <p:sldLayoutId xmlns:r="http://schemas.openxmlformats.org/officeDocument/2006/relationships" id="2147483653" r:id="Re370411ee9cc422f"/>
    <p:sldLayoutId xmlns:r="http://schemas.openxmlformats.org/officeDocument/2006/relationships" id="2147483654" r:id="R6c6a32f9b77b49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1fc6cd064a7431a" /><Relationship Type="http://schemas.openxmlformats.org/officeDocument/2006/relationships/image" Target="/ppt/media/image.jpeg" Id="R42c67f4cbd3d4bd8" /><Relationship Type="http://schemas.openxmlformats.org/officeDocument/2006/relationships/notesSlide" Target="/ppt/notesSlides/notesSlide1.xml" Id="R4b8cce717f3544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f142b0e27f46be" /><Relationship Type="http://schemas.openxmlformats.org/officeDocument/2006/relationships/notesSlide" Target="/ppt/notesSlides/notesSlide2.xml" Id="R9c7442e82a124b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80298817f944604" /><Relationship Type="http://schemas.openxmlformats.org/officeDocument/2006/relationships/notesSlide" Target="/ppt/notesSlides/notesSlide3.xml" Id="Re4fbb517fcb244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abfdbcc7df46ec" /><Relationship Type="http://schemas.openxmlformats.org/officeDocument/2006/relationships/image" Target="/ppt/media/image2.jpeg" Id="R6a7b84d509484f9b" /><Relationship Type="http://schemas.openxmlformats.org/officeDocument/2006/relationships/notesSlide" Target="/ppt/notesSlides/notesSlide4.xml" Id="R2dd8b665b92f49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62fde709d04443" /><Relationship Type="http://schemas.openxmlformats.org/officeDocument/2006/relationships/notesSlide" Target="/ppt/notesSlides/notesSlide5.xml" Id="R3918ae879adb4a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eac53ac0ae44114" /><Relationship Type="http://schemas.openxmlformats.org/officeDocument/2006/relationships/notesSlide" Target="/ppt/notesSlides/notesSlide6.xml" Id="Rdf3de96c7b1d4ee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91D21-740B-4DC9-A3C6-5529A1C81AEB}"/>
              </a:ext>
            </a:extLst>
          </p:cNvPr>
          <p:cNvSpPr>
            <a:spLocks xmlns:a="http://schemas.openxmlformats.org/drawingml/2006/main" noGrp="1"/>
          </p:cNvSpPr>
          <p:nvPr/>
        </p:nvSpPr>
        <p:spPr>
          <a:xfrm xmlns:a="http://schemas.openxmlformats.org/drawingml/2006/main">
            <a:off x="609600" y="41910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ENT303TC Assessment 1</a:t>
            </a:r>
          </a:p>
        </p:txBody>
      </p:sp>
      <p:sp>
        <p:nvSpPr>
          <p:cNvPr id="2" name="">
            <a:extLst xmlns:a="http://schemas.openxmlformats.org/drawingml/2006/main">
              <a:ext uri="{FF2B5EF4-FFF2-40B4-BE49-F238E27FC236}">
                <a16:creationId xmlns:a16="http://schemas.microsoft.com/office/drawing/2014/main" id="{FC9A603C-CFE5-4941-8484-EDA24F2D8897}"/>
              </a:ext>
            </a:extLst>
          </p:cNvPr>
          <p:cNvSpPr>
            <a:spLocks xmlns:a="http://schemas.openxmlformats.org/drawingml/2006/main" noGrp="1"/>
          </p:cNvSpPr>
          <p:nvPr/>
        </p:nvSpPr>
        <p:spPr>
          <a:xfrm xmlns:a="http://schemas.openxmlformats.org/drawingml/2006/main">
            <a:off x="609600" y="1524000"/>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850" b="1">
                <a:solidFill>
                  <a:srgbClr val="28634E"/>
                </a:solidFill>
                <a:latin typeface="Arial"/>
                <a:ea typeface="Arial"/>
                <a:cs typeface="Arial"/>
              </a:defRPr>
            </a:defPPr>
            <a:lvl1pPr>
              <a:buNone/>
              <a:defRPr sz="8850" b="1">
                <a:solidFill>
                  <a:srgbClr val="28634E"/>
                </a:solidFill>
                <a:latin typeface="Arial"/>
                <a:ea typeface="Arial"/>
                <a:cs typeface="Arial"/>
              </a:defRPr>
            </a:lvl1pPr>
            <a:lvl2pPr>
              <a:buNone/>
              <a:defRPr sz="8850" b="1">
                <a:solidFill>
                  <a:srgbClr val="28634E"/>
                </a:solidFill>
                <a:latin typeface="Arial"/>
                <a:ea typeface="Arial"/>
                <a:cs typeface="Arial"/>
              </a:defRPr>
            </a:lvl2pPr>
            <a:lvl3pPr>
              <a:buNone/>
              <a:defRPr sz="8850" b="1">
                <a:solidFill>
                  <a:srgbClr val="28634E"/>
                </a:solidFill>
                <a:latin typeface="Arial"/>
                <a:ea typeface="Arial"/>
                <a:cs typeface="Arial"/>
              </a:defRPr>
            </a:lvl3pPr>
            <a:lvl4pPr>
              <a:buNone/>
              <a:defRPr sz="8850" b="1">
                <a:solidFill>
                  <a:srgbClr val="28634E"/>
                </a:solidFill>
                <a:latin typeface="Arial"/>
                <a:ea typeface="Arial"/>
                <a:cs typeface="Arial"/>
              </a:defRPr>
            </a:lvl4pPr>
            <a:lvl5pPr>
              <a:buNone/>
              <a:defRPr sz="8850" b="1">
                <a:solidFill>
                  <a:srgbClr val="28634E"/>
                </a:solidFill>
                <a:latin typeface="Arial"/>
                <a:ea typeface="Arial"/>
                <a:cs typeface="Arial"/>
              </a:defRPr>
            </a:lvl5pPr>
            <a:lvl6pPr>
              <a:buNone/>
              <a:defRPr sz="8850" b="1">
                <a:solidFill>
                  <a:srgbClr val="28634E"/>
                </a:solidFill>
                <a:latin typeface="Arial"/>
                <a:ea typeface="Arial"/>
                <a:cs typeface="Arial"/>
              </a:defRPr>
            </a:lvl6pPr>
            <a:lvl7pPr>
              <a:buNone/>
              <a:defRPr sz="8850" b="1">
                <a:solidFill>
                  <a:srgbClr val="28634E"/>
                </a:solidFill>
                <a:latin typeface="Arial"/>
                <a:ea typeface="Arial"/>
                <a:cs typeface="Arial"/>
              </a:defRPr>
            </a:lvl7pPr>
            <a:lvl8pPr>
              <a:buNone/>
              <a:defRPr sz="8850" b="1">
                <a:solidFill>
                  <a:srgbClr val="28634E"/>
                </a:solidFill>
                <a:latin typeface="Arial"/>
                <a:ea typeface="Arial"/>
                <a:cs typeface="Arial"/>
              </a:defRPr>
            </a:lvl8pPr>
            <a:lvl9pPr>
              <a:buNone/>
              <a:defRPr sz="8850" b="1">
                <a:solidFill>
                  <a:srgbClr val="28634E"/>
                </a:solidFill>
                <a:latin typeface="Arial"/>
                <a:ea typeface="Arial"/>
                <a:cs typeface="Arial"/>
              </a:defRPr>
            </a:lvl9pPr>
          </a:lstStyle>
          <a:p xmlns:a="http://schemas.openxmlformats.org/drawingml/2006/main">
            <a:pPr>
              <a:buNone/>
              <a:defRPr sz="8850" b="1">
                <a:solidFill>
                  <a:srgbClr val="28634E"/>
                </a:solidFill>
                <a:latin typeface="Arial"/>
                <a:ea typeface="Arial"/>
                <a:cs typeface="Arial"/>
              </a:defRPr>
            </a:pPr>
            <a:r>
              <a:rPr sz="8850" b="1">
                <a:solidFill>
                  <a:srgbClr val="28634E"/>
                </a:solidFill>
                <a:latin typeface="Arial"/>
                <a:ea typeface="Arial"/>
                <a:cs typeface="Arial"/>
              </a:rPr>
              <a:t>U Use</a:t>
            </a:r>
          </a:p>
        </p:txBody>
      </p:sp>
      <p:sp>
        <p:nvSpPr>
          <p:cNvPr id="3" name="">
            <a:extLst xmlns:a="http://schemas.openxmlformats.org/drawingml/2006/main">
              <a:ext uri="{FF2B5EF4-FFF2-40B4-BE49-F238E27FC236}">
                <a16:creationId xmlns:a16="http://schemas.microsoft.com/office/drawing/2014/main" id="{B133D04D-9879-4C89-ADC8-0C1F690AC051}"/>
              </a:ext>
            </a:extLst>
          </p:cNvPr>
          <p:cNvSpPr>
            <a:spLocks xmlns:a="http://schemas.openxmlformats.org/drawingml/2006/main" noGrp="1"/>
          </p:cNvSpPr>
          <p:nvPr/>
        </p:nvSpPr>
        <p:spPr>
          <a:xfrm xmlns:a="http://schemas.openxmlformats.org/drawingml/2006/main">
            <a:off x="609600" y="297180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300" b="1">
                <a:solidFill>
                  <a:srgbClr val="20322B"/>
                </a:solidFill>
                <a:latin typeface="Arial"/>
                <a:ea typeface="Arial"/>
                <a:cs typeface="Arial"/>
              </a:defRPr>
            </a:defPPr>
            <a:lvl1pPr>
              <a:buNone/>
              <a:defRPr sz="3300" b="1">
                <a:solidFill>
                  <a:srgbClr val="20322B"/>
                </a:solidFill>
                <a:latin typeface="Arial"/>
                <a:ea typeface="Arial"/>
                <a:cs typeface="Arial"/>
              </a:defRPr>
            </a:lvl1pPr>
            <a:lvl2pPr>
              <a:buNone/>
              <a:defRPr sz="3300" b="1">
                <a:solidFill>
                  <a:srgbClr val="20322B"/>
                </a:solidFill>
                <a:latin typeface="Arial"/>
                <a:ea typeface="Arial"/>
                <a:cs typeface="Arial"/>
              </a:defRPr>
            </a:lvl2pPr>
            <a:lvl3pPr>
              <a:buNone/>
              <a:defRPr sz="3300" b="1">
                <a:solidFill>
                  <a:srgbClr val="20322B"/>
                </a:solidFill>
                <a:latin typeface="Arial"/>
                <a:ea typeface="Arial"/>
                <a:cs typeface="Arial"/>
              </a:defRPr>
            </a:lvl3pPr>
            <a:lvl4pPr>
              <a:buNone/>
              <a:defRPr sz="3300" b="1">
                <a:solidFill>
                  <a:srgbClr val="20322B"/>
                </a:solidFill>
                <a:latin typeface="Arial"/>
                <a:ea typeface="Arial"/>
                <a:cs typeface="Arial"/>
              </a:defRPr>
            </a:lvl4pPr>
            <a:lvl5pPr>
              <a:buNone/>
              <a:defRPr sz="3300" b="1">
                <a:solidFill>
                  <a:srgbClr val="20322B"/>
                </a:solidFill>
                <a:latin typeface="Arial"/>
                <a:ea typeface="Arial"/>
                <a:cs typeface="Arial"/>
              </a:defRPr>
            </a:lvl5pPr>
            <a:lvl6pPr>
              <a:buNone/>
              <a:defRPr sz="3300" b="1">
                <a:solidFill>
                  <a:srgbClr val="20322B"/>
                </a:solidFill>
                <a:latin typeface="Arial"/>
                <a:ea typeface="Arial"/>
                <a:cs typeface="Arial"/>
              </a:defRPr>
            </a:lvl6pPr>
            <a:lvl7pPr>
              <a:buNone/>
              <a:defRPr sz="3300" b="1">
                <a:solidFill>
                  <a:srgbClr val="20322B"/>
                </a:solidFill>
                <a:latin typeface="Arial"/>
                <a:ea typeface="Arial"/>
                <a:cs typeface="Arial"/>
              </a:defRPr>
            </a:lvl7pPr>
            <a:lvl8pPr>
              <a:buNone/>
              <a:defRPr sz="3300" b="1">
                <a:solidFill>
                  <a:srgbClr val="20322B"/>
                </a:solidFill>
                <a:latin typeface="Arial"/>
                <a:ea typeface="Arial"/>
                <a:cs typeface="Arial"/>
              </a:defRPr>
            </a:lvl8pPr>
            <a:lvl9pPr>
              <a:buNone/>
              <a:defRPr sz="3300" b="1">
                <a:solidFill>
                  <a:srgbClr val="20322B"/>
                </a:solidFill>
                <a:latin typeface="Arial"/>
                <a:ea typeface="Arial"/>
                <a:cs typeface="Arial"/>
              </a:defRPr>
            </a:lvl9pPr>
          </a:lstStyle>
          <a:p xmlns:a="http://schemas.openxmlformats.org/drawingml/2006/main">
            <a:pPr>
              <a:buNone/>
              <a:defRPr sz="3300" b="1">
                <a:solidFill>
                  <a:srgbClr val="20322B"/>
                </a:solidFill>
                <a:latin typeface="Arial"/>
                <a:ea typeface="Arial"/>
                <a:cs typeface="Arial"/>
              </a:defRPr>
            </a:pPr>
            <a:r>
              <a:rPr sz="3300" b="1">
                <a:solidFill>
                  <a:srgbClr val="20322B"/>
                </a:solidFill>
                <a:latin typeface="Arial"/>
                <a:ea typeface="Arial"/>
                <a:cs typeface="Arial"/>
              </a:rPr>
              <a:t>Campus item access</a:t>
            </a:r>
          </a:p>
        </p:txBody>
      </p:sp>
      <p:sp>
        <p:nvSpPr>
          <p:cNvPr id="4" name="">
            <a:extLst xmlns:a="http://schemas.openxmlformats.org/drawingml/2006/main">
              <a:ext uri="{FF2B5EF4-FFF2-40B4-BE49-F238E27FC236}">
                <a16:creationId xmlns:a16="http://schemas.microsoft.com/office/drawing/2014/main" id="{6EB791AB-45A2-460F-B944-68A191C7BAAD}"/>
              </a:ext>
            </a:extLst>
          </p:cNvPr>
          <p:cNvSpPr>
            <a:spLocks xmlns:a="http://schemas.openxmlformats.org/drawingml/2006/main" noGrp="1"/>
          </p:cNvSpPr>
          <p:nvPr/>
        </p:nvSpPr>
        <p:spPr>
          <a:xfrm xmlns:a="http://schemas.openxmlformats.org/drawingml/2006/main">
            <a:off x="609600" y="3781425"/>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20322B"/>
                </a:solidFill>
                <a:latin typeface="Arial"/>
                <a:ea typeface="Arial"/>
                <a:cs typeface="Arial"/>
              </a:defRPr>
            </a:defPPr>
            <a:lvl1pPr>
              <a:buNone/>
              <a:defRPr sz="2250" b="0">
                <a:solidFill>
                  <a:srgbClr val="20322B"/>
                </a:solidFill>
                <a:latin typeface="Arial"/>
                <a:ea typeface="Arial"/>
                <a:cs typeface="Arial"/>
              </a:defRPr>
            </a:lvl1pPr>
            <a:lvl2pPr>
              <a:buNone/>
              <a:defRPr sz="2250" b="0">
                <a:solidFill>
                  <a:srgbClr val="20322B"/>
                </a:solidFill>
                <a:latin typeface="Arial"/>
                <a:ea typeface="Arial"/>
                <a:cs typeface="Arial"/>
              </a:defRPr>
            </a:lvl2pPr>
            <a:lvl3pPr>
              <a:buNone/>
              <a:defRPr sz="2250" b="0">
                <a:solidFill>
                  <a:srgbClr val="20322B"/>
                </a:solidFill>
                <a:latin typeface="Arial"/>
                <a:ea typeface="Arial"/>
                <a:cs typeface="Arial"/>
              </a:defRPr>
            </a:lvl3pPr>
            <a:lvl4pPr>
              <a:buNone/>
              <a:defRPr sz="2250" b="0">
                <a:solidFill>
                  <a:srgbClr val="20322B"/>
                </a:solidFill>
                <a:latin typeface="Arial"/>
                <a:ea typeface="Arial"/>
                <a:cs typeface="Arial"/>
              </a:defRPr>
            </a:lvl4pPr>
            <a:lvl5pPr>
              <a:buNone/>
              <a:defRPr sz="2250" b="0">
                <a:solidFill>
                  <a:srgbClr val="20322B"/>
                </a:solidFill>
                <a:latin typeface="Arial"/>
                <a:ea typeface="Arial"/>
                <a:cs typeface="Arial"/>
              </a:defRPr>
            </a:lvl5pPr>
            <a:lvl6pPr>
              <a:buNone/>
              <a:defRPr sz="2250" b="0">
                <a:solidFill>
                  <a:srgbClr val="20322B"/>
                </a:solidFill>
                <a:latin typeface="Arial"/>
                <a:ea typeface="Arial"/>
                <a:cs typeface="Arial"/>
              </a:defRPr>
            </a:lvl6pPr>
            <a:lvl7pPr>
              <a:buNone/>
              <a:defRPr sz="2250" b="0">
                <a:solidFill>
                  <a:srgbClr val="20322B"/>
                </a:solidFill>
                <a:latin typeface="Arial"/>
                <a:ea typeface="Arial"/>
                <a:cs typeface="Arial"/>
              </a:defRPr>
            </a:lvl7pPr>
            <a:lvl8pPr>
              <a:buNone/>
              <a:defRPr sz="2250" b="0">
                <a:solidFill>
                  <a:srgbClr val="20322B"/>
                </a:solidFill>
                <a:latin typeface="Arial"/>
                <a:ea typeface="Arial"/>
                <a:cs typeface="Arial"/>
              </a:defRPr>
            </a:lvl8pPr>
            <a:lvl9pPr>
              <a:buNone/>
              <a:defRPr sz="2250" b="0">
                <a:solidFill>
                  <a:srgbClr val="20322B"/>
                </a:solidFill>
                <a:latin typeface="Arial"/>
                <a:ea typeface="Arial"/>
                <a:cs typeface="Arial"/>
              </a:defRPr>
            </a:lvl9pPr>
          </a:lstStyle>
          <a:p xmlns:a="http://schemas.openxmlformats.org/drawingml/2006/main">
            <a:pPr>
              <a:buNone/>
              <a:defRPr sz="2250" b="0">
                <a:solidFill>
                  <a:srgbClr val="20322B"/>
                </a:solidFill>
                <a:latin typeface="Arial"/>
                <a:ea typeface="Arial"/>
                <a:cs typeface="Arial"/>
              </a:defRPr>
            </a:pPr>
            <a:r>
              <a:rPr sz="2250" b="0">
                <a:solidFill>
                  <a:srgbClr val="20322B"/>
                </a:solidFill>
                <a:latin typeface="Arial"/>
                <a:ea typeface="Arial"/>
                <a:cs typeface="Arial"/>
              </a:rPr>
              <a:t>An item for your dates, with an agreed handoff and clear return terms.</a:t>
            </a:r>
          </a:p>
        </p:txBody>
      </p:sp>
      <p:sp>
        <p:nvSpPr>
          <p:cNvPr id="5" name="">
            <a:extLst xmlns:a="http://schemas.openxmlformats.org/drawingml/2006/main">
              <a:ext uri="{FF2B5EF4-FFF2-40B4-BE49-F238E27FC236}">
                <a16:creationId xmlns:a16="http://schemas.microsoft.com/office/drawing/2014/main" id="{9891B6BA-D5FB-4A36-BD6C-081469922A54}"/>
              </a:ext>
            </a:extLst>
          </p:cNvPr>
          <p:cNvSpPr>
            <a:spLocks xmlns:a="http://schemas.openxmlformats.org/drawingml/2006/main" noGrp="1"/>
          </p:cNvSpPr>
          <p:nvPr/>
        </p:nvSpPr>
        <p:spPr>
          <a:xfrm xmlns:a="http://schemas.openxmlformats.org/drawingml/2006/main">
            <a:off x="609600" y="5095875"/>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8634E"/>
                </a:solidFill>
                <a:latin typeface="Arial"/>
                <a:ea typeface="Arial"/>
                <a:cs typeface="Arial"/>
              </a:defRPr>
            </a:defPPr>
            <a:lvl1pPr>
              <a:buNone/>
              <a:defRPr sz="1800" b="1">
                <a:solidFill>
                  <a:srgbClr val="28634E"/>
                </a:solidFill>
                <a:latin typeface="Arial"/>
                <a:ea typeface="Arial"/>
                <a:cs typeface="Arial"/>
              </a:defRPr>
            </a:lvl1pPr>
            <a:lvl2pPr>
              <a:buNone/>
              <a:defRPr sz="1800" b="1">
                <a:solidFill>
                  <a:srgbClr val="28634E"/>
                </a:solidFill>
                <a:latin typeface="Arial"/>
                <a:ea typeface="Arial"/>
                <a:cs typeface="Arial"/>
              </a:defRPr>
            </a:lvl2pPr>
            <a:lvl3pPr>
              <a:buNone/>
              <a:defRPr sz="1800" b="1">
                <a:solidFill>
                  <a:srgbClr val="28634E"/>
                </a:solidFill>
                <a:latin typeface="Arial"/>
                <a:ea typeface="Arial"/>
                <a:cs typeface="Arial"/>
              </a:defRPr>
            </a:lvl3pPr>
            <a:lvl4pPr>
              <a:buNone/>
              <a:defRPr sz="1800" b="1">
                <a:solidFill>
                  <a:srgbClr val="28634E"/>
                </a:solidFill>
                <a:latin typeface="Arial"/>
                <a:ea typeface="Arial"/>
                <a:cs typeface="Arial"/>
              </a:defRPr>
            </a:lvl4pPr>
            <a:lvl5pPr>
              <a:buNone/>
              <a:defRPr sz="1800" b="1">
                <a:solidFill>
                  <a:srgbClr val="28634E"/>
                </a:solidFill>
                <a:latin typeface="Arial"/>
                <a:ea typeface="Arial"/>
                <a:cs typeface="Arial"/>
              </a:defRPr>
            </a:lvl5pPr>
            <a:lvl6pPr>
              <a:buNone/>
              <a:defRPr sz="1800" b="1">
                <a:solidFill>
                  <a:srgbClr val="28634E"/>
                </a:solidFill>
                <a:latin typeface="Arial"/>
                <a:ea typeface="Arial"/>
                <a:cs typeface="Arial"/>
              </a:defRPr>
            </a:lvl6pPr>
            <a:lvl7pPr>
              <a:buNone/>
              <a:defRPr sz="1800" b="1">
                <a:solidFill>
                  <a:srgbClr val="28634E"/>
                </a:solidFill>
                <a:latin typeface="Arial"/>
                <a:ea typeface="Arial"/>
                <a:cs typeface="Arial"/>
              </a:defRPr>
            </a:lvl7pPr>
            <a:lvl8pPr>
              <a:buNone/>
              <a:defRPr sz="1800" b="1">
                <a:solidFill>
                  <a:srgbClr val="28634E"/>
                </a:solidFill>
                <a:latin typeface="Arial"/>
                <a:ea typeface="Arial"/>
                <a:cs typeface="Arial"/>
              </a:defRPr>
            </a:lvl8pPr>
            <a:lvl9pPr>
              <a:buNone/>
              <a:defRPr sz="1800" b="1">
                <a:solidFill>
                  <a:srgbClr val="28634E"/>
                </a:solidFill>
                <a:latin typeface="Arial"/>
                <a:ea typeface="Arial"/>
                <a:cs typeface="Arial"/>
              </a:defRPr>
            </a:lvl9pPr>
          </a:lstStyle>
          <a:p xmlns:a="http://schemas.openxmlformats.org/drawingml/2006/main">
            <a:pPr>
              <a:buNone/>
              <a:defRPr sz="1800" b="1">
                <a:solidFill>
                  <a:srgbClr val="28634E"/>
                </a:solidFill>
                <a:latin typeface="Arial"/>
                <a:ea typeface="Arial"/>
                <a:cs typeface="Arial"/>
              </a:defRPr>
            </a:pPr>
            <a:r>
              <a:rPr sz="1800" b="1">
                <a:solidFill>
                  <a:srgbClr val="28634E"/>
                </a:solidFill>
                <a:latin typeface="Arial"/>
                <a:ea typeface="Arial"/>
                <a:cs typeface="Arial"/>
              </a:rPr>
              <a:t>Buy, borrow, rent or swap</a:t>
            </a:r>
          </a:p>
        </p:txBody>
      </p:sp>
      <p:sp>
        <p:nvSpPr>
          <p:cNvPr id="6" name="">
            <a:extLst xmlns:a="http://schemas.openxmlformats.org/drawingml/2006/main">
              <a:ext uri="{FF2B5EF4-FFF2-40B4-BE49-F238E27FC236}">
                <a16:creationId xmlns:a16="http://schemas.microsoft.com/office/drawing/2014/main" id="{3116AA39-AAE4-440D-A08B-B71D27394C7F}"/>
              </a:ext>
            </a:extLst>
          </p:cNvPr>
          <p:cNvSpPr>
            <a:spLocks xmlns:a="http://schemas.openxmlformats.org/drawingml/2006/main" noGrp="1"/>
          </p:cNvSpPr>
          <p:nvPr/>
        </p:nvSpPr>
        <p:spPr>
          <a:xfrm xmlns:a="http://schemas.openxmlformats.org/drawingml/2006/main">
            <a:off x="609600" y="55245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58635E"/>
                </a:solidFill>
                <a:latin typeface="Arial"/>
                <a:ea typeface="Arial"/>
                <a:cs typeface="Arial"/>
              </a:defRPr>
            </a:defPPr>
            <a:lvl1pPr>
              <a:buNone/>
              <a:defRPr sz="1800" b="0">
                <a:solidFill>
                  <a:srgbClr val="58635E"/>
                </a:solidFill>
                <a:latin typeface="Arial"/>
                <a:ea typeface="Arial"/>
                <a:cs typeface="Arial"/>
              </a:defRPr>
            </a:lvl1pPr>
            <a:lvl2pPr>
              <a:buNone/>
              <a:defRPr sz="1800" b="0">
                <a:solidFill>
                  <a:srgbClr val="58635E"/>
                </a:solidFill>
                <a:latin typeface="Arial"/>
                <a:ea typeface="Arial"/>
                <a:cs typeface="Arial"/>
              </a:defRPr>
            </a:lvl2pPr>
            <a:lvl3pPr>
              <a:buNone/>
              <a:defRPr sz="1800" b="0">
                <a:solidFill>
                  <a:srgbClr val="58635E"/>
                </a:solidFill>
                <a:latin typeface="Arial"/>
                <a:ea typeface="Arial"/>
                <a:cs typeface="Arial"/>
              </a:defRPr>
            </a:lvl3pPr>
            <a:lvl4pPr>
              <a:buNone/>
              <a:defRPr sz="1800" b="0">
                <a:solidFill>
                  <a:srgbClr val="58635E"/>
                </a:solidFill>
                <a:latin typeface="Arial"/>
                <a:ea typeface="Arial"/>
                <a:cs typeface="Arial"/>
              </a:defRPr>
            </a:lvl4pPr>
            <a:lvl5pPr>
              <a:buNone/>
              <a:defRPr sz="1800" b="0">
                <a:solidFill>
                  <a:srgbClr val="58635E"/>
                </a:solidFill>
                <a:latin typeface="Arial"/>
                <a:ea typeface="Arial"/>
                <a:cs typeface="Arial"/>
              </a:defRPr>
            </a:lvl5pPr>
            <a:lvl6pPr>
              <a:buNone/>
              <a:defRPr sz="1800" b="0">
                <a:solidFill>
                  <a:srgbClr val="58635E"/>
                </a:solidFill>
                <a:latin typeface="Arial"/>
                <a:ea typeface="Arial"/>
                <a:cs typeface="Arial"/>
              </a:defRPr>
            </a:lvl6pPr>
            <a:lvl7pPr>
              <a:buNone/>
              <a:defRPr sz="1800" b="0">
                <a:solidFill>
                  <a:srgbClr val="58635E"/>
                </a:solidFill>
                <a:latin typeface="Arial"/>
                <a:ea typeface="Arial"/>
                <a:cs typeface="Arial"/>
              </a:defRPr>
            </a:lvl7pPr>
            <a:lvl8pPr>
              <a:buNone/>
              <a:defRPr sz="1800" b="0">
                <a:solidFill>
                  <a:srgbClr val="58635E"/>
                </a:solidFill>
                <a:latin typeface="Arial"/>
                <a:ea typeface="Arial"/>
                <a:cs typeface="Arial"/>
              </a:defRPr>
            </a:lvl8pPr>
            <a:lvl9pPr>
              <a:buNone/>
              <a:defRPr sz="1800" b="0">
                <a:solidFill>
                  <a:srgbClr val="58635E"/>
                </a:solidFill>
                <a:latin typeface="Arial"/>
                <a:ea typeface="Arial"/>
                <a:cs typeface="Arial"/>
              </a:defRPr>
            </a:lvl9pPr>
          </a:lstStyle>
          <a:p xmlns:a="http://schemas.openxmlformats.org/drawingml/2006/main">
            <a:pPr>
              <a:buNone/>
              <a:defRPr sz="1800" b="0">
                <a:solidFill>
                  <a:srgbClr val="58635E"/>
                </a:solidFill>
                <a:latin typeface="Arial"/>
                <a:ea typeface="Arial"/>
                <a:cs typeface="Arial"/>
              </a:defRPr>
            </a:pPr>
            <a:r>
              <a:rPr sz="1800" b="0">
                <a:solidFill>
                  <a:srgbClr val="58635E"/>
                </a:solidFill>
                <a:latin typeface="Arial"/>
                <a:ea typeface="Arial"/>
                <a:cs typeface="Arial"/>
              </a:rPr>
              <a:t>Proposed first pilot: eight DTS classes</a:t>
            </a:r>
          </a:p>
        </p:txBody>
      </p:sp>
      <p:sp>
        <p:nvSpPr>
          <p:cNvPr id="7" name="">
            <a:extLst xmlns:a="http://schemas.openxmlformats.org/drawingml/2006/main">
              <a:ext uri="{FF2B5EF4-FFF2-40B4-BE49-F238E27FC236}">
                <a16:creationId xmlns:a16="http://schemas.microsoft.com/office/drawing/2014/main" id="{6B69A06D-A132-438C-BA51-8C2A8D631979}"/>
              </a:ext>
            </a:extLst>
          </p:cNvPr>
          <p:cNvSpPr>
            <a:spLocks xmlns:a="http://schemas.openxmlformats.org/drawingml/2006/main" noGrp="1"/>
          </p:cNvSpPr>
          <p:nvPr/>
        </p:nvSpPr>
        <p:spPr>
          <a:xfrm xmlns:a="http://schemas.openxmlformats.org/drawingml/2006/main">
            <a:off x="609600" y="5972175"/>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19 October 2026</a:t>
            </a:r>
          </a:p>
        </p:txBody>
      </p:sp>
      <p:pic>
        <p:nvPicPr>
          <p:cNvPr id="8" name="">
            <a:extLst xmlns:a="http://schemas.openxmlformats.org/drawingml/2006/main">
              <a:ext uri="{FF2B5EF4-FFF2-40B4-BE49-F238E27FC236}">
                <a16:creationId xmlns:a16="http://schemas.microsoft.com/office/drawing/2014/main" id="{A6722693-B7AB-4255-B01A-BA59BFF79CDA}"/>
              </a:ext>
            </a:extLst>
          </p:cNvPr>
          <p:cNvPicPr>
            <a:picLocks xmlns:a="http://schemas.openxmlformats.org/drawingml/2006/main" noChangeAspect="1"/>
          </p:cNvPicPr>
          <p:nvPr/>
        </p:nvPicPr>
        <p:blipFill>
          <a:blip xmlns:r="http://schemas.openxmlformats.org/officeDocument/2006/relationships" xmlns:a="http://schemas.openxmlformats.org/drawingml/2006/main" r:embed="R42c67f4cbd3d4bd8"/>
          <a:stretch xmlns:a="http://schemas.openxmlformats.org/drawingml/2006/main"/>
        </p:blipFill>
        <p:spPr>
          <a:xfrm xmlns:a="http://schemas.openxmlformats.org/drawingml/2006/main">
            <a:off x="6076950" y="1398343"/>
            <a:ext cx="5505450" cy="402321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FAD1499-9DA2-4278-A2C9-EE3B3E56A13C}"/>
              </a:ext>
            </a:extLst>
          </p:cNvPr>
          <p:cNvSpPr>
            <a:spLocks xmlns:a="http://schemas.openxmlformats.org/drawingml/2006/main" noGrp="1"/>
          </p:cNvSpPr>
          <p:nvPr/>
        </p:nvSpPr>
        <p:spPr>
          <a:xfrm xmlns:a="http://schemas.openxmlformats.org/drawingml/2006/main">
            <a:off x="6248400" y="56292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Demo inventory. Features frozen for user tests.</a:t>
            </a:r>
          </a:p>
        </p:txBody>
      </p:sp>
      <p:sp>
        <p:nvSpPr>
          <p:cNvPr id="10" name="">
            <a:extLst xmlns:a="http://schemas.openxmlformats.org/drawingml/2006/main">
              <a:ext uri="{FF2B5EF4-FFF2-40B4-BE49-F238E27FC236}">
                <a16:creationId xmlns:a16="http://schemas.microsoft.com/office/drawing/2014/main" id="{D54A7809-A321-4876-89B6-15BCFC12C33E}"/>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1 / 6</a:t>
            </a:r>
          </a:p>
        </p:txBody>
      </p:sp>
    </p:spTree>
    <p:extLst>
      <p:ext uri="{BB962C8B-B14F-4D97-AF65-F5344CB8AC3E}">
        <p14:creationId xmlns:p14="http://schemas.microsoft.com/office/powerpoint/2010/main" val="3310911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A994042-C52B-4249-BB23-2E7F18E0689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C268FF4-D18F-47D3-B396-B3FA55CFB336}"/>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Student needs and target user</a:t>
            </a:r>
          </a:p>
        </p:txBody>
      </p:sp>
      <p:sp>
        <p:nvSpPr>
          <p:cNvPr id="3" name="">
            <a:extLst xmlns:a="http://schemas.openxmlformats.org/drawingml/2006/main">
              <a:ext uri="{FF2B5EF4-FFF2-40B4-BE49-F238E27FC236}">
                <a16:creationId xmlns:a16="http://schemas.microsoft.com/office/drawing/2014/main" id="{6ED6F39C-CECC-4194-AB4D-208121D79678}"/>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2 / 6</a:t>
            </a:r>
          </a:p>
        </p:txBody>
      </p:sp>
      <p:sp>
        <p:nvSpPr>
          <p:cNvPr id="4" name="">
            <a:extLst xmlns:a="http://schemas.openxmlformats.org/drawingml/2006/main">
              <a:ext uri="{FF2B5EF4-FFF2-40B4-BE49-F238E27FC236}">
                <a16:creationId xmlns:a16="http://schemas.microsoft.com/office/drawing/2014/main" id="{228DE9BD-72EB-4CCE-8FB0-937F790D2BC7}"/>
              </a:ext>
            </a:extLst>
          </p:cNvPr>
          <p:cNvSpPr>
            <a:spLocks xmlns:a="http://schemas.openxmlformats.org/drawingml/2006/main" noGrp="1"/>
          </p:cNvSpPr>
          <p:nvPr/>
        </p:nvSpPr>
        <p:spPr>
          <a:xfrm xmlns:a="http://schemas.openxmlformats.org/drawingml/2006/main">
            <a:off x="609600" y="17811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Needs are occasional</a:t>
            </a:r>
          </a:p>
        </p:txBody>
      </p:sp>
      <p:sp>
        <p:nvSpPr>
          <p:cNvPr id="5" name="">
            <a:extLst xmlns:a="http://schemas.openxmlformats.org/drawingml/2006/main">
              <a:ext uri="{FF2B5EF4-FFF2-40B4-BE49-F238E27FC236}">
                <a16:creationId xmlns:a16="http://schemas.microsoft.com/office/drawing/2014/main" id="{28B4BF32-6278-422C-88B3-FB202B61DA94}"/>
              </a:ext>
            </a:extLst>
          </p:cNvPr>
          <p:cNvSpPr>
            <a:spLocks xmlns:a="http://schemas.openxmlformats.org/drawingml/2006/main" noGrp="1"/>
          </p:cNvSpPr>
          <p:nvPr/>
        </p:nvSpPr>
        <p:spPr>
          <a:xfrm xmlns:a="http://schemas.openxmlformats.org/drawingml/2006/main">
            <a:off x="609600" y="219075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Friends and existing services are the starting point. U Use must make a specific task easier.</a:t>
            </a:r>
          </a:p>
        </p:txBody>
      </p:sp>
      <p:sp>
        <p:nvSpPr>
          <p:cNvPr id="6" name="">
            <a:extLst xmlns:a="http://schemas.openxmlformats.org/drawingml/2006/main">
              <a:ext uri="{FF2B5EF4-FFF2-40B4-BE49-F238E27FC236}">
                <a16:creationId xmlns:a16="http://schemas.microsoft.com/office/drawing/2014/main" id="{E85FFB1A-5C4B-441D-B9F2-71C0D15D1A9E}"/>
              </a:ext>
            </a:extLst>
          </p:cNvPr>
          <p:cNvSpPr>
            <a:spLocks xmlns:a="http://schemas.openxmlformats.org/drawingml/2006/main" noGrp="1"/>
          </p:cNvSpPr>
          <p:nvPr/>
        </p:nvSpPr>
        <p:spPr>
          <a:xfrm xmlns:a="http://schemas.openxmlformats.org/drawingml/2006/main">
            <a:off x="609600" y="279082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V002, V005, V008, V015</a:t>
            </a:r>
          </a:p>
        </p:txBody>
      </p:sp>
      <p:sp>
        <p:nvSpPr>
          <p:cNvPr id="7" name="">
            <a:extLst xmlns:a="http://schemas.openxmlformats.org/drawingml/2006/main">
              <a:ext uri="{FF2B5EF4-FFF2-40B4-BE49-F238E27FC236}">
                <a16:creationId xmlns:a16="http://schemas.microsoft.com/office/drawing/2014/main" id="{7C1B9AEA-9C9B-4808-80CD-1EB7C19E5C76}"/>
              </a:ext>
            </a:extLst>
          </p:cNvPr>
          <p:cNvSpPr>
            <a:spLocks xmlns:a="http://schemas.openxmlformats.org/drawingml/2006/main" noGrp="1"/>
          </p:cNvSpPr>
          <p:nvPr/>
        </p:nvSpPr>
        <p:spPr>
          <a:xfrm xmlns:a="http://schemas.openxmlformats.org/drawingml/2006/main">
            <a:off x="609600" y="3086100"/>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Dates need an owner's confirmation</a:t>
            </a:r>
          </a:p>
        </p:txBody>
      </p:sp>
      <p:sp>
        <p:nvSpPr>
          <p:cNvPr id="8" name="">
            <a:extLst xmlns:a="http://schemas.openxmlformats.org/drawingml/2006/main">
              <a:ext uri="{FF2B5EF4-FFF2-40B4-BE49-F238E27FC236}">
                <a16:creationId xmlns:a16="http://schemas.microsoft.com/office/drawing/2014/main" id="{3A6E8873-EF0E-4724-A523-29E0C3EDBBBE}"/>
              </a:ext>
            </a:extLst>
          </p:cNvPr>
          <p:cNvSpPr>
            <a:spLocks xmlns:a="http://schemas.openxmlformats.org/drawingml/2006/main" noGrp="1"/>
          </p:cNvSpPr>
          <p:nvPr/>
        </p:nvSpPr>
        <p:spPr>
          <a:xfrm xmlns:a="http://schemas.openxmlformats.org/drawingml/2006/main">
            <a:off x="609600" y="3495675"/>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An item listing is useful only if the owner can offer it on the requested dates.</a:t>
            </a:r>
          </a:p>
        </p:txBody>
      </p:sp>
      <p:sp>
        <p:nvSpPr>
          <p:cNvPr id="9" name="">
            <a:extLst xmlns:a="http://schemas.openxmlformats.org/drawingml/2006/main">
              <a:ext uri="{FF2B5EF4-FFF2-40B4-BE49-F238E27FC236}">
                <a16:creationId xmlns:a16="http://schemas.microsoft.com/office/drawing/2014/main" id="{017A2F97-EEC5-454D-B7D4-DA66441D2C50}"/>
              </a:ext>
            </a:extLst>
          </p:cNvPr>
          <p:cNvSpPr>
            <a:spLocks xmlns:a="http://schemas.openxmlformats.org/drawingml/2006/main" noGrp="1"/>
          </p:cNvSpPr>
          <p:nvPr/>
        </p:nvSpPr>
        <p:spPr>
          <a:xfrm xmlns:a="http://schemas.openxmlformats.org/drawingml/2006/main">
            <a:off x="609600" y="4095750"/>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V001, V003, V009, V012, V014</a:t>
            </a:r>
          </a:p>
        </p:txBody>
      </p:sp>
      <p:sp>
        <p:nvSpPr>
          <p:cNvPr id="10" name="">
            <a:extLst xmlns:a="http://schemas.openxmlformats.org/drawingml/2006/main">
              <a:ext uri="{FF2B5EF4-FFF2-40B4-BE49-F238E27FC236}">
                <a16:creationId xmlns:a16="http://schemas.microsoft.com/office/drawing/2014/main" id="{1530874D-53BC-47F0-AA57-86A8502CAEBE}"/>
              </a:ext>
            </a:extLst>
          </p:cNvPr>
          <p:cNvSpPr>
            <a:spLocks xmlns:a="http://schemas.openxmlformats.org/drawingml/2006/main" noGrp="1"/>
          </p:cNvSpPr>
          <p:nvPr/>
        </p:nvSpPr>
        <p:spPr>
          <a:xfrm xmlns:a="http://schemas.openxmlformats.org/drawingml/2006/main">
            <a:off x="609600" y="439102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Privacy remains a choice</a:t>
            </a:r>
          </a:p>
        </p:txBody>
      </p:sp>
      <p:sp>
        <p:nvSpPr>
          <p:cNvPr id="11" name="">
            <a:extLst xmlns:a="http://schemas.openxmlformats.org/drawingml/2006/main">
              <a:ext uri="{FF2B5EF4-FFF2-40B4-BE49-F238E27FC236}">
                <a16:creationId xmlns:a16="http://schemas.microsoft.com/office/drawing/2014/main" id="{283BAA2C-CCEE-4B18-94D9-204AEDDD3EBA}"/>
              </a:ext>
            </a:extLst>
          </p:cNvPr>
          <p:cNvSpPr>
            <a:spLocks xmlns:a="http://schemas.openxmlformats.org/drawingml/2006/main" noGrp="1"/>
          </p:cNvSpPr>
          <p:nvPr/>
        </p:nvSpPr>
        <p:spPr>
          <a:xfrm xmlns:a="http://schemas.openxmlformats.org/drawingml/2006/main">
            <a:off x="609600" y="480060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Students should be able to agree a public handoff without sharing live location or a full timetable.</a:t>
            </a:r>
          </a:p>
        </p:txBody>
      </p:sp>
      <p:sp>
        <p:nvSpPr>
          <p:cNvPr id="12" name="">
            <a:extLst xmlns:a="http://schemas.openxmlformats.org/drawingml/2006/main">
              <a:ext uri="{FF2B5EF4-FFF2-40B4-BE49-F238E27FC236}">
                <a16:creationId xmlns:a16="http://schemas.microsoft.com/office/drawing/2014/main" id="{CD4F7F87-C770-49DB-A8A9-D9059C1C2B38}"/>
              </a:ext>
            </a:extLst>
          </p:cNvPr>
          <p:cNvSpPr>
            <a:spLocks xmlns:a="http://schemas.openxmlformats.org/drawingml/2006/main" noGrp="1"/>
          </p:cNvSpPr>
          <p:nvPr/>
        </p:nvSpPr>
        <p:spPr>
          <a:xfrm xmlns:a="http://schemas.openxmlformats.org/drawingml/2006/main">
            <a:off x="609600" y="540067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V004, V008, V009, V013</a:t>
            </a:r>
          </a:p>
        </p:txBody>
      </p:sp>
      <p:sp>
        <p:nvSpPr>
          <p:cNvPr id="13" name="">
            <a:extLst xmlns:a="http://schemas.openxmlformats.org/drawingml/2006/main">
              <a:ext uri="{FF2B5EF4-FFF2-40B4-BE49-F238E27FC236}">
                <a16:creationId xmlns:a16="http://schemas.microsoft.com/office/drawing/2014/main" id="{DD69BFAA-C4AE-499C-8B68-BC507E4C724F}"/>
              </a:ext>
            </a:extLst>
          </p:cNvPr>
          <p:cNvSpPr>
            <a:spLocks xmlns:a="http://schemas.openxmlformats.org/drawingml/2006/main" noGrp="1"/>
          </p:cNvSpPr>
          <p:nvPr/>
        </p:nvSpPr>
        <p:spPr>
          <a:xfrm xmlns:a="http://schemas.openxmlformats.org/drawingml/2006/main">
            <a:off x="8191500" y="1809750"/>
            <a:ext cx="3371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First target users</a:t>
            </a:r>
          </a:p>
        </p:txBody>
      </p:sp>
      <p:sp>
        <p:nvSpPr>
          <p:cNvPr id="14" name="">
            <a:extLst xmlns:a="http://schemas.openxmlformats.org/drawingml/2006/main">
              <a:ext uri="{FF2B5EF4-FFF2-40B4-BE49-F238E27FC236}">
                <a16:creationId xmlns:a16="http://schemas.microsoft.com/office/drawing/2014/main" id="{FE56E1D3-B779-42EA-AFE4-E373D8BB85EF}"/>
              </a:ext>
            </a:extLst>
          </p:cNvPr>
          <p:cNvSpPr>
            <a:spLocks xmlns:a="http://schemas.openxmlformats.org/drawingml/2006/main" noGrp="1"/>
          </p:cNvSpPr>
          <p:nvPr/>
        </p:nvSpPr>
        <p:spPr>
          <a:xfrm xmlns:a="http://schemas.openxmlformats.org/drawingml/2006/main">
            <a:off x="8191500" y="2571750"/>
            <a:ext cx="3371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20322B"/>
                </a:solidFill>
                <a:latin typeface="Arial"/>
                <a:ea typeface="Arial"/>
                <a:cs typeface="Arial"/>
              </a:defRPr>
            </a:defPPr>
            <a:lvl1pPr>
              <a:buNone/>
              <a:defRPr sz="2025" b="0">
                <a:solidFill>
                  <a:srgbClr val="20322B"/>
                </a:solidFill>
                <a:latin typeface="Arial"/>
                <a:ea typeface="Arial"/>
                <a:cs typeface="Arial"/>
              </a:defRPr>
            </a:lvl1pPr>
            <a:lvl2pPr>
              <a:buNone/>
              <a:defRPr sz="2025" b="0">
                <a:solidFill>
                  <a:srgbClr val="20322B"/>
                </a:solidFill>
                <a:latin typeface="Arial"/>
                <a:ea typeface="Arial"/>
                <a:cs typeface="Arial"/>
              </a:defRPr>
            </a:lvl2pPr>
            <a:lvl3pPr>
              <a:buNone/>
              <a:defRPr sz="2025" b="0">
                <a:solidFill>
                  <a:srgbClr val="20322B"/>
                </a:solidFill>
                <a:latin typeface="Arial"/>
                <a:ea typeface="Arial"/>
                <a:cs typeface="Arial"/>
              </a:defRPr>
            </a:lvl3pPr>
            <a:lvl4pPr>
              <a:buNone/>
              <a:defRPr sz="2025" b="0">
                <a:solidFill>
                  <a:srgbClr val="20322B"/>
                </a:solidFill>
                <a:latin typeface="Arial"/>
                <a:ea typeface="Arial"/>
                <a:cs typeface="Arial"/>
              </a:defRPr>
            </a:lvl4pPr>
            <a:lvl5pPr>
              <a:buNone/>
              <a:defRPr sz="2025" b="0">
                <a:solidFill>
                  <a:srgbClr val="20322B"/>
                </a:solidFill>
                <a:latin typeface="Arial"/>
                <a:ea typeface="Arial"/>
                <a:cs typeface="Arial"/>
              </a:defRPr>
            </a:lvl5pPr>
            <a:lvl6pPr>
              <a:buNone/>
              <a:defRPr sz="2025" b="0">
                <a:solidFill>
                  <a:srgbClr val="20322B"/>
                </a:solidFill>
                <a:latin typeface="Arial"/>
                <a:ea typeface="Arial"/>
                <a:cs typeface="Arial"/>
              </a:defRPr>
            </a:lvl6pPr>
            <a:lvl7pPr>
              <a:buNone/>
              <a:defRPr sz="2025" b="0">
                <a:solidFill>
                  <a:srgbClr val="20322B"/>
                </a:solidFill>
                <a:latin typeface="Arial"/>
                <a:ea typeface="Arial"/>
                <a:cs typeface="Arial"/>
              </a:defRPr>
            </a:lvl7pPr>
            <a:lvl8pPr>
              <a:buNone/>
              <a:defRPr sz="2025" b="0">
                <a:solidFill>
                  <a:srgbClr val="20322B"/>
                </a:solidFill>
                <a:latin typeface="Arial"/>
                <a:ea typeface="Arial"/>
                <a:cs typeface="Arial"/>
              </a:defRPr>
            </a:lvl8pPr>
            <a:lvl9pPr>
              <a:buNone/>
              <a:defRPr sz="2025" b="0">
                <a:solidFill>
                  <a:srgbClr val="20322B"/>
                </a:solidFill>
                <a:latin typeface="Arial"/>
                <a:ea typeface="Arial"/>
                <a:cs typeface="Arial"/>
              </a:defRPr>
            </a:lvl9pPr>
          </a:lstStyle>
          <a:p xmlns:a="http://schemas.openxmlformats.org/drawingml/2006/main">
            <a:pPr>
              <a:buNone/>
              <a:defRPr sz="2025" b="0">
                <a:solidFill>
                  <a:srgbClr val="20322B"/>
                </a:solidFill>
                <a:latin typeface="Arial"/>
                <a:ea typeface="Arial"/>
                <a:cs typeface="Arial"/>
              </a:defRPr>
            </a:pPr>
            <a:r>
              <a:rPr sz="2025" b="0">
                <a:solidFill>
                  <a:srgbClr val="20322B"/>
                </a:solidFill>
                <a:latin typeface="Arial"/>
                <a:ea typeface="Arial"/>
                <a:cs typeface="Arial"/>
              </a:rPr>
              <a:t>A DTS student with a specific, planned short-term need and no suitable item available from a known peer.</a:t>
            </a:r>
          </a:p>
        </p:txBody>
      </p:sp>
      <p:sp>
        <p:nvSpPr>
          <p:cNvPr id="15" name="">
            <a:extLst xmlns:a="http://schemas.openxmlformats.org/drawingml/2006/main">
              <a:ext uri="{FF2B5EF4-FFF2-40B4-BE49-F238E27FC236}">
                <a16:creationId xmlns:a16="http://schemas.microsoft.com/office/drawing/2014/main" id="{1CA3697D-DD11-4568-8E3A-AC307ADCE5A0}"/>
              </a:ext>
            </a:extLst>
          </p:cNvPr>
          <p:cNvSpPr>
            <a:spLocks xmlns:a="http://schemas.openxmlformats.org/drawingml/2006/main" noGrp="1"/>
          </p:cNvSpPr>
          <p:nvPr/>
        </p:nvSpPr>
        <p:spPr>
          <a:xfrm xmlns:a="http://schemas.openxmlformats.org/drawingml/2006/main">
            <a:off x="8191500" y="4419600"/>
            <a:ext cx="3371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634E"/>
                </a:solidFill>
                <a:latin typeface="Arial"/>
                <a:ea typeface="Arial"/>
                <a:cs typeface="Arial"/>
              </a:defRPr>
            </a:defPPr>
            <a:lvl1pPr>
              <a:buNone/>
              <a:defRPr sz="2025" b="1">
                <a:solidFill>
                  <a:srgbClr val="28634E"/>
                </a:solidFill>
                <a:latin typeface="Arial"/>
                <a:ea typeface="Arial"/>
                <a:cs typeface="Arial"/>
              </a:defRPr>
            </a:lvl1pPr>
            <a:lvl2pPr>
              <a:buNone/>
              <a:defRPr sz="2025" b="1">
                <a:solidFill>
                  <a:srgbClr val="28634E"/>
                </a:solidFill>
                <a:latin typeface="Arial"/>
                <a:ea typeface="Arial"/>
                <a:cs typeface="Arial"/>
              </a:defRPr>
            </a:lvl2pPr>
            <a:lvl3pPr>
              <a:buNone/>
              <a:defRPr sz="2025" b="1">
                <a:solidFill>
                  <a:srgbClr val="28634E"/>
                </a:solidFill>
                <a:latin typeface="Arial"/>
                <a:ea typeface="Arial"/>
                <a:cs typeface="Arial"/>
              </a:defRPr>
            </a:lvl3pPr>
            <a:lvl4pPr>
              <a:buNone/>
              <a:defRPr sz="2025" b="1">
                <a:solidFill>
                  <a:srgbClr val="28634E"/>
                </a:solidFill>
                <a:latin typeface="Arial"/>
                <a:ea typeface="Arial"/>
                <a:cs typeface="Arial"/>
              </a:defRPr>
            </a:lvl4pPr>
            <a:lvl5pPr>
              <a:buNone/>
              <a:defRPr sz="2025" b="1">
                <a:solidFill>
                  <a:srgbClr val="28634E"/>
                </a:solidFill>
                <a:latin typeface="Arial"/>
                <a:ea typeface="Arial"/>
                <a:cs typeface="Arial"/>
              </a:defRPr>
            </a:lvl5pPr>
            <a:lvl6pPr>
              <a:buNone/>
              <a:defRPr sz="2025" b="1">
                <a:solidFill>
                  <a:srgbClr val="28634E"/>
                </a:solidFill>
                <a:latin typeface="Arial"/>
                <a:ea typeface="Arial"/>
                <a:cs typeface="Arial"/>
              </a:defRPr>
            </a:lvl6pPr>
            <a:lvl7pPr>
              <a:buNone/>
              <a:defRPr sz="2025" b="1">
                <a:solidFill>
                  <a:srgbClr val="28634E"/>
                </a:solidFill>
                <a:latin typeface="Arial"/>
                <a:ea typeface="Arial"/>
                <a:cs typeface="Arial"/>
              </a:defRPr>
            </a:lvl7pPr>
            <a:lvl8pPr>
              <a:buNone/>
              <a:defRPr sz="2025" b="1">
                <a:solidFill>
                  <a:srgbClr val="28634E"/>
                </a:solidFill>
                <a:latin typeface="Arial"/>
                <a:ea typeface="Arial"/>
                <a:cs typeface="Arial"/>
              </a:defRPr>
            </a:lvl8pPr>
            <a:lvl9pPr>
              <a:buNone/>
              <a:defRPr sz="2025" b="1">
                <a:solidFill>
                  <a:srgbClr val="28634E"/>
                </a:solidFill>
                <a:latin typeface="Arial"/>
                <a:ea typeface="Arial"/>
                <a:cs typeface="Arial"/>
              </a:defRPr>
            </a:lvl9pPr>
          </a:lstStyle>
          <a:p xmlns:a="http://schemas.openxmlformats.org/drawingml/2006/main">
            <a:pPr>
              <a:buNone/>
              <a:defRPr sz="2025" b="1">
                <a:solidFill>
                  <a:srgbClr val="28634E"/>
                </a:solidFill>
                <a:latin typeface="Arial"/>
                <a:ea typeface="Arial"/>
                <a:cs typeface="Arial"/>
              </a:defRPr>
            </a:pPr>
            <a:r>
              <a:rPr sz="2025" b="1">
                <a:solidFill>
                  <a:srgbClr val="28634E"/>
                </a:solidFill>
                <a:latin typeface="Arial"/>
                <a:ea typeface="Arial"/>
                <a:cs typeface="Arial"/>
              </a:rPr>
              <a:t>The intended journey</a:t>
            </a:r>
          </a:p>
        </p:txBody>
      </p:sp>
      <p:sp>
        <p:nvSpPr>
          <p:cNvPr id="16" name="">
            <a:extLst xmlns:a="http://schemas.openxmlformats.org/drawingml/2006/main">
              <a:ext uri="{FF2B5EF4-FFF2-40B4-BE49-F238E27FC236}">
                <a16:creationId xmlns:a16="http://schemas.microsoft.com/office/drawing/2014/main" id="{26C45734-C960-4103-8759-C61427ED7751}"/>
              </a:ext>
            </a:extLst>
          </p:cNvPr>
          <p:cNvSpPr>
            <a:spLocks xmlns:a="http://schemas.openxmlformats.org/drawingml/2006/main" noGrp="1"/>
          </p:cNvSpPr>
          <p:nvPr/>
        </p:nvSpPr>
        <p:spPr>
          <a:xfrm xmlns:a="http://schemas.openxmlformats.org/drawingml/2006/main">
            <a:off x="8191500" y="4895850"/>
            <a:ext cx="33718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Need and dates</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Relevant offer</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Agreed handoff</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Confirmed return</a:t>
            </a:r>
          </a:p>
        </p:txBody>
      </p:sp>
      <p:sp>
        <p:nvSpPr>
          <p:cNvPr id="17" name="">
            <a:extLst xmlns:a="http://schemas.openxmlformats.org/drawingml/2006/main">
              <a:ext uri="{FF2B5EF4-FFF2-40B4-BE49-F238E27FC236}">
                <a16:creationId xmlns:a16="http://schemas.microsoft.com/office/drawing/2014/main" id="{AF35076D-18E1-4FA2-92A1-42CD75D6648B}"/>
              </a:ext>
            </a:extLst>
          </p:cNvPr>
          <p:cNvSpPr>
            <a:spLocks xmlns:a="http://schemas.openxmlformats.org/drawingml/2006/main" noGrp="1"/>
          </p:cNvSpPr>
          <p:nvPr/>
        </p:nvSpPr>
        <p:spPr>
          <a:xfrm xmlns:a="http://schemas.openxmlformats.org/drawingml/2006/main">
            <a:off x="609600" y="6048375"/>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Team-reported interview summaries, n = 15. Qualitative insights, not a representative survey.</a:t>
            </a:r>
          </a:p>
        </p:txBody>
      </p:sp>
    </p:spTree>
    <p:extLst>
      <p:ext uri="{BB962C8B-B14F-4D97-AF65-F5344CB8AC3E}">
        <p14:creationId xmlns:p14="http://schemas.microsoft.com/office/powerpoint/2010/main" val="8124871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E37C11D-C8F5-4ABC-9F5D-B7E6AB2A3F97}"/>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3D4C80A-6112-4496-8E8F-806D7A3C1F83}"/>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Pilot market and alternatives</a:t>
            </a:r>
          </a:p>
        </p:txBody>
      </p:sp>
      <p:sp>
        <p:nvSpPr>
          <p:cNvPr id="3" name="">
            <a:extLst xmlns:a="http://schemas.openxmlformats.org/drawingml/2006/main">
              <a:ext uri="{FF2B5EF4-FFF2-40B4-BE49-F238E27FC236}">
                <a16:creationId xmlns:a16="http://schemas.microsoft.com/office/drawing/2014/main" id="{432EBAE9-6D68-41D4-95B7-DDEEB6714FFA}"/>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3 / 6</a:t>
            </a:r>
          </a:p>
        </p:txBody>
      </p:sp>
      <p:sp>
        <p:nvSpPr>
          <p:cNvPr id="4" name="">
            <a:extLst xmlns:a="http://schemas.openxmlformats.org/drawingml/2006/main">
              <a:ext uri="{FF2B5EF4-FFF2-40B4-BE49-F238E27FC236}">
                <a16:creationId xmlns:a16="http://schemas.microsoft.com/office/drawing/2014/main" id="{3087DA60-FABB-4A7A-925C-988EDC99E0EF}"/>
              </a:ext>
            </a:extLst>
          </p:cNvPr>
          <p:cNvSpPr>
            <a:spLocks xmlns:a="http://schemas.openxmlformats.org/drawingml/2006/main" noGrp="1"/>
          </p:cNvSpPr>
          <p:nvPr/>
        </p:nvSpPr>
        <p:spPr>
          <a:xfrm xmlns:a="http://schemas.openxmlformats.org/drawingml/2006/main">
            <a:off x="609600" y="1771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TAM context</a:t>
            </a:r>
          </a:p>
        </p:txBody>
      </p:sp>
      <p:sp>
        <p:nvSpPr>
          <p:cNvPr id="5" name="">
            <a:extLst xmlns:a="http://schemas.openxmlformats.org/drawingml/2006/main">
              <a:ext uri="{FF2B5EF4-FFF2-40B4-BE49-F238E27FC236}">
                <a16:creationId xmlns:a16="http://schemas.microsoft.com/office/drawing/2014/main" id="{9FC43030-2B2F-4D8C-84B9-AB50F244C8A4}"/>
              </a:ext>
            </a:extLst>
          </p:cNvPr>
          <p:cNvSpPr>
            <a:spLocks xmlns:a="http://schemas.openxmlformats.org/drawingml/2006/main" noGrp="1"/>
          </p:cNvSpPr>
          <p:nvPr/>
        </p:nvSpPr>
        <p:spPr>
          <a:xfrm xmlns:a="http://schemas.openxmlformats.org/drawingml/2006/main">
            <a:off x="609600" y="2190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0322B"/>
                </a:solidFill>
                <a:latin typeface="Arial"/>
                <a:ea typeface="Arial"/>
                <a:cs typeface="Arial"/>
              </a:defRPr>
            </a:defPPr>
            <a:lvl1pPr>
              <a:buNone/>
              <a:defRPr sz="3225" b="1">
                <a:solidFill>
                  <a:srgbClr val="20322B"/>
                </a:solidFill>
                <a:latin typeface="Arial"/>
                <a:ea typeface="Arial"/>
                <a:cs typeface="Arial"/>
              </a:defRPr>
            </a:lvl1pPr>
            <a:lvl2pPr>
              <a:buNone/>
              <a:defRPr sz="3225" b="1">
                <a:solidFill>
                  <a:srgbClr val="20322B"/>
                </a:solidFill>
                <a:latin typeface="Arial"/>
                <a:ea typeface="Arial"/>
                <a:cs typeface="Arial"/>
              </a:defRPr>
            </a:lvl2pPr>
            <a:lvl3pPr>
              <a:buNone/>
              <a:defRPr sz="3225" b="1">
                <a:solidFill>
                  <a:srgbClr val="20322B"/>
                </a:solidFill>
                <a:latin typeface="Arial"/>
                <a:ea typeface="Arial"/>
                <a:cs typeface="Arial"/>
              </a:defRPr>
            </a:lvl3pPr>
            <a:lvl4pPr>
              <a:buNone/>
              <a:defRPr sz="3225" b="1">
                <a:solidFill>
                  <a:srgbClr val="20322B"/>
                </a:solidFill>
                <a:latin typeface="Arial"/>
                <a:ea typeface="Arial"/>
                <a:cs typeface="Arial"/>
              </a:defRPr>
            </a:lvl4pPr>
            <a:lvl5pPr>
              <a:buNone/>
              <a:defRPr sz="3225" b="1">
                <a:solidFill>
                  <a:srgbClr val="20322B"/>
                </a:solidFill>
                <a:latin typeface="Arial"/>
                <a:ea typeface="Arial"/>
                <a:cs typeface="Arial"/>
              </a:defRPr>
            </a:lvl5pPr>
            <a:lvl6pPr>
              <a:buNone/>
              <a:defRPr sz="3225" b="1">
                <a:solidFill>
                  <a:srgbClr val="20322B"/>
                </a:solidFill>
                <a:latin typeface="Arial"/>
                <a:ea typeface="Arial"/>
                <a:cs typeface="Arial"/>
              </a:defRPr>
            </a:lvl6pPr>
            <a:lvl7pPr>
              <a:buNone/>
              <a:defRPr sz="3225" b="1">
                <a:solidFill>
                  <a:srgbClr val="20322B"/>
                </a:solidFill>
                <a:latin typeface="Arial"/>
                <a:ea typeface="Arial"/>
                <a:cs typeface="Arial"/>
              </a:defRPr>
            </a:lvl7pPr>
            <a:lvl8pPr>
              <a:buNone/>
              <a:defRPr sz="3225" b="1">
                <a:solidFill>
                  <a:srgbClr val="20322B"/>
                </a:solidFill>
                <a:latin typeface="Arial"/>
                <a:ea typeface="Arial"/>
                <a:cs typeface="Arial"/>
              </a:defRPr>
            </a:lvl8pPr>
            <a:lvl9pPr>
              <a:buNone/>
              <a:defRPr sz="3225" b="1">
                <a:solidFill>
                  <a:srgbClr val="20322B"/>
                </a:solidFill>
                <a:latin typeface="Arial"/>
                <a:ea typeface="Arial"/>
                <a:cs typeface="Arial"/>
              </a:defRPr>
            </a:lvl9pPr>
          </a:lstStyle>
          <a:p xmlns:a="http://schemas.openxmlformats.org/drawingml/2006/main">
            <a:pPr>
              <a:buNone/>
              <a:defRPr sz="3225" b="1">
                <a:solidFill>
                  <a:srgbClr val="20322B"/>
                </a:solidFill>
                <a:latin typeface="Arial"/>
                <a:ea typeface="Arial"/>
                <a:cs typeface="Arial"/>
              </a:defRPr>
            </a:pPr>
            <a:r>
              <a:rPr sz="3225" b="1">
                <a:solidFill>
                  <a:srgbClr val="20322B"/>
                </a:solidFill>
                <a:latin typeface="Arial"/>
                <a:ea typeface="Arial"/>
                <a:cs typeface="Arial"/>
              </a:rPr>
              <a:t>26,000+ students</a:t>
            </a:r>
          </a:p>
        </p:txBody>
      </p:sp>
      <p:sp>
        <p:nvSpPr>
          <p:cNvPr id="6" name="">
            <a:extLst xmlns:a="http://schemas.openxmlformats.org/drawingml/2006/main">
              <a:ext uri="{FF2B5EF4-FFF2-40B4-BE49-F238E27FC236}">
                <a16:creationId xmlns:a16="http://schemas.microsoft.com/office/drawing/2014/main" id="{6349AE1F-25BF-49A7-9F0E-3E5C0EA511F6}"/>
              </a:ext>
            </a:extLst>
          </p:cNvPr>
          <p:cNvSpPr>
            <a:spLocks xmlns:a="http://schemas.openxmlformats.org/drawingml/2006/main" noGrp="1"/>
          </p:cNvSpPr>
          <p:nvPr/>
        </p:nvSpPr>
        <p:spPr>
          <a:xfrm xmlns:a="http://schemas.openxmlformats.org/drawingml/2006/main">
            <a:off x="609600" y="2752725"/>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Institution-wide universe. Local demand is unmeasured.</a:t>
            </a:r>
          </a:p>
        </p:txBody>
      </p:sp>
      <p:sp>
        <p:nvSpPr>
          <p:cNvPr id="7" name="">
            <a:extLst xmlns:a="http://schemas.openxmlformats.org/drawingml/2006/main">
              <a:ext uri="{FF2B5EF4-FFF2-40B4-BE49-F238E27FC236}">
                <a16:creationId xmlns:a16="http://schemas.microsoft.com/office/drawing/2014/main" id="{115D8F35-9BE6-4CE3-8A72-EB3D811586F4}"/>
              </a:ext>
            </a:extLst>
          </p:cNvPr>
          <p:cNvSpPr>
            <a:spLocks xmlns:a="http://schemas.openxmlformats.org/drawingml/2006/main" noGrp="1"/>
          </p:cNvSpPr>
          <p:nvPr/>
        </p:nvSpPr>
        <p:spPr>
          <a:xfrm xmlns:a="http://schemas.openxmlformats.org/drawingml/2006/main">
            <a:off x="609600" y="35718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Pilot SAM</a:t>
            </a:r>
          </a:p>
        </p:txBody>
      </p:sp>
      <p:sp>
        <p:nvSpPr>
          <p:cNvPr id="8" name="">
            <a:extLst xmlns:a="http://schemas.openxmlformats.org/drawingml/2006/main">
              <a:ext uri="{FF2B5EF4-FFF2-40B4-BE49-F238E27FC236}">
                <a16:creationId xmlns:a16="http://schemas.microsoft.com/office/drawing/2014/main" id="{C4B38459-BAA1-414D-AF13-32C9A2E2CAF1}"/>
              </a:ext>
            </a:extLst>
          </p:cNvPr>
          <p:cNvSpPr>
            <a:spLocks xmlns:a="http://schemas.openxmlformats.org/drawingml/2006/main" noGrp="1"/>
          </p:cNvSpPr>
          <p:nvPr/>
        </p:nvSpPr>
        <p:spPr>
          <a:xfrm xmlns:a="http://schemas.openxmlformats.org/drawingml/2006/main">
            <a:off x="609600" y="39814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20322B"/>
                </a:solidFill>
                <a:latin typeface="Arial"/>
                <a:ea typeface="Arial"/>
                <a:cs typeface="Arial"/>
              </a:defRPr>
            </a:defPPr>
            <a:lvl1pPr>
              <a:buNone/>
              <a:defRPr sz="2700" b="1">
                <a:solidFill>
                  <a:srgbClr val="20322B"/>
                </a:solidFill>
                <a:latin typeface="Arial"/>
                <a:ea typeface="Arial"/>
                <a:cs typeface="Arial"/>
              </a:defRPr>
            </a:lvl1pPr>
            <a:lvl2pPr>
              <a:buNone/>
              <a:defRPr sz="2700" b="1">
                <a:solidFill>
                  <a:srgbClr val="20322B"/>
                </a:solidFill>
                <a:latin typeface="Arial"/>
                <a:ea typeface="Arial"/>
                <a:cs typeface="Arial"/>
              </a:defRPr>
            </a:lvl2pPr>
            <a:lvl3pPr>
              <a:buNone/>
              <a:defRPr sz="2700" b="1">
                <a:solidFill>
                  <a:srgbClr val="20322B"/>
                </a:solidFill>
                <a:latin typeface="Arial"/>
                <a:ea typeface="Arial"/>
                <a:cs typeface="Arial"/>
              </a:defRPr>
            </a:lvl3pPr>
            <a:lvl4pPr>
              <a:buNone/>
              <a:defRPr sz="2700" b="1">
                <a:solidFill>
                  <a:srgbClr val="20322B"/>
                </a:solidFill>
                <a:latin typeface="Arial"/>
                <a:ea typeface="Arial"/>
                <a:cs typeface="Arial"/>
              </a:defRPr>
            </a:lvl4pPr>
            <a:lvl5pPr>
              <a:buNone/>
              <a:defRPr sz="2700" b="1">
                <a:solidFill>
                  <a:srgbClr val="20322B"/>
                </a:solidFill>
                <a:latin typeface="Arial"/>
                <a:ea typeface="Arial"/>
                <a:cs typeface="Arial"/>
              </a:defRPr>
            </a:lvl5pPr>
            <a:lvl6pPr>
              <a:buNone/>
              <a:defRPr sz="2700" b="1">
                <a:solidFill>
                  <a:srgbClr val="20322B"/>
                </a:solidFill>
                <a:latin typeface="Arial"/>
                <a:ea typeface="Arial"/>
                <a:cs typeface="Arial"/>
              </a:defRPr>
            </a:lvl6pPr>
            <a:lvl7pPr>
              <a:buNone/>
              <a:defRPr sz="2700" b="1">
                <a:solidFill>
                  <a:srgbClr val="20322B"/>
                </a:solidFill>
                <a:latin typeface="Arial"/>
                <a:ea typeface="Arial"/>
                <a:cs typeface="Arial"/>
              </a:defRPr>
            </a:lvl7pPr>
            <a:lvl8pPr>
              <a:buNone/>
              <a:defRPr sz="2700" b="1">
                <a:solidFill>
                  <a:srgbClr val="20322B"/>
                </a:solidFill>
                <a:latin typeface="Arial"/>
                <a:ea typeface="Arial"/>
                <a:cs typeface="Arial"/>
              </a:defRPr>
            </a:lvl8pPr>
            <a:lvl9pPr>
              <a:buNone/>
              <a:defRPr sz="2700" b="1">
                <a:solidFill>
                  <a:srgbClr val="20322B"/>
                </a:solidFill>
                <a:latin typeface="Arial"/>
                <a:ea typeface="Arial"/>
                <a:cs typeface="Arial"/>
              </a:defRPr>
            </a:lvl9pPr>
          </a:lstStyle>
          <a:p xmlns:a="http://schemas.openxmlformats.org/drawingml/2006/main">
            <a:pPr>
              <a:buNone/>
              <a:defRPr sz="2700" b="1">
                <a:solidFill>
                  <a:srgbClr val="20322B"/>
                </a:solidFill>
                <a:latin typeface="Arial"/>
                <a:ea typeface="Arial"/>
                <a:cs typeface="Arial"/>
              </a:defRPr>
            </a:pPr>
            <a:r>
              <a:rPr sz="2700" b="1">
                <a:solidFill>
                  <a:srgbClr val="20322B"/>
                </a:solidFill>
                <a:latin typeface="Arial"/>
                <a:ea typeface="Arial"/>
                <a:cs typeface="Arial"/>
              </a:rPr>
              <a:t>Eight DTS classes</a:t>
            </a:r>
          </a:p>
        </p:txBody>
      </p:sp>
      <p:sp>
        <p:nvSpPr>
          <p:cNvPr id="9" name="">
            <a:extLst xmlns:a="http://schemas.openxmlformats.org/drawingml/2006/main">
              <a:ext uri="{FF2B5EF4-FFF2-40B4-BE49-F238E27FC236}">
                <a16:creationId xmlns:a16="http://schemas.microsoft.com/office/drawing/2014/main" id="{73875C40-C307-41A7-AE60-99DC558A4B56}"/>
              </a:ext>
            </a:extLst>
          </p:cNvPr>
          <p:cNvSpPr>
            <a:spLocks xmlns:a="http://schemas.openxmlformats.org/drawingml/2006/main" noGrp="1"/>
          </p:cNvSpPr>
          <p:nvPr/>
        </p:nvSpPr>
        <p:spPr>
          <a:xfrm xmlns:a="http://schemas.openxmlformats.org/drawingml/2006/main">
            <a:off x="609600" y="45339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Recruitment boundary. Eligible headcount and channel access to confirm.</a:t>
            </a:r>
          </a:p>
        </p:txBody>
      </p:sp>
      <p:sp>
        <p:nvSpPr>
          <p:cNvPr id="10" name="">
            <a:extLst xmlns:a="http://schemas.openxmlformats.org/drawingml/2006/main">
              <a:ext uri="{FF2B5EF4-FFF2-40B4-BE49-F238E27FC236}">
                <a16:creationId xmlns:a16="http://schemas.microsoft.com/office/drawing/2014/main" id="{A62F520F-FAAD-4281-866B-28D998F3D799}"/>
              </a:ext>
            </a:extLst>
          </p:cNvPr>
          <p:cNvSpPr>
            <a:spLocks xmlns:a="http://schemas.openxmlformats.org/drawingml/2006/main" noGrp="1"/>
          </p:cNvSpPr>
          <p:nvPr/>
        </p:nvSpPr>
        <p:spPr>
          <a:xfrm xmlns:a="http://schemas.openxmlformats.org/drawingml/2006/main">
            <a:off x="609600" y="54673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SOM planning case</a:t>
            </a:r>
          </a:p>
        </p:txBody>
      </p:sp>
      <p:sp>
        <p:nvSpPr>
          <p:cNvPr id="11" name="">
            <a:extLst xmlns:a="http://schemas.openxmlformats.org/drawingml/2006/main">
              <a:ext uri="{FF2B5EF4-FFF2-40B4-BE49-F238E27FC236}">
                <a16:creationId xmlns:a16="http://schemas.microsoft.com/office/drawing/2014/main" id="{7BC41FC3-E74E-4887-8E56-F9C9D5FC8185}"/>
              </a:ext>
            </a:extLst>
          </p:cNvPr>
          <p:cNvSpPr>
            <a:spLocks xmlns:a="http://schemas.openxmlformats.org/drawingml/2006/main" noGrp="1"/>
          </p:cNvSpPr>
          <p:nvPr/>
        </p:nvSpPr>
        <p:spPr>
          <a:xfrm xmlns:a="http://schemas.openxmlformats.org/drawingml/2006/main">
            <a:off x="609600" y="5838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2 requesters served in 4 weeks</a:t>
            </a:r>
          </a:p>
        </p:txBody>
      </p:sp>
      <p:sp>
        <p:nvSpPr>
          <p:cNvPr id="12" name="">
            <a:extLst xmlns:a="http://schemas.openxmlformats.org/drawingml/2006/main">
              <a:ext uri="{FF2B5EF4-FFF2-40B4-BE49-F238E27FC236}">
                <a16:creationId xmlns:a16="http://schemas.microsoft.com/office/drawing/2014/main" id="{86650D13-6C91-4AA7-B626-3A6CC86B2F03}"/>
              </a:ext>
            </a:extLst>
          </p:cNvPr>
          <p:cNvSpPr>
            <a:spLocks xmlns:a="http://schemas.openxmlformats.org/drawingml/2006/main" noGrp="1"/>
          </p:cNvSpPr>
          <p:nvPr/>
        </p:nvSpPr>
        <p:spPr>
          <a:xfrm xmlns:a="http://schemas.openxmlformats.org/drawingml/2006/main">
            <a:off x="6105525" y="1771650"/>
            <a:ext cx="5476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Three substitutes to compare</a:t>
            </a:r>
          </a:p>
        </p:txBody>
      </p:sp>
      <p:graphicFrame>
        <p:nvGraphicFramePr>
          <p:cNvPr id="13" name="">
            <a:extLst xmlns:a="http://schemas.openxmlformats.org/drawingml/2006/main">
              <a:ext uri="{FF2B5EF4-FFF2-40B4-BE49-F238E27FC236}">
                <a16:creationId xmlns:a16="http://schemas.microsoft.com/office/drawing/2014/main" id="{A58C775B-6F43-462F-92BD-550A1F3C86A5}"/>
              </a:ext>
            </a:extLst>
          </p:cNvPr>
          <p:cNvGraphicFramePr/>
          <p:nvPr/>
        </p:nvGraphicFramePr>
        <p:xfrm>
          <a:off xmlns:a="http://schemas.openxmlformats.org/drawingml/2006/main" x="6105525" y="2295525"/>
          <a:ext xmlns:a="http://schemas.openxmlformats.org/drawingml/2006/main" cx="5476875" cy="2581275"/>
        </p:xfrm>
        <a:graphic xmlns:a="http://schemas.openxmlformats.org/drawingml/2006/main">
          <a:graphicData uri="http://schemas.openxmlformats.org/drawingml/2006/table">
            <a:tbl>
              <a:tblPr/>
              <a:tblGrid>
                <a:gridCol w="1762125"/>
                <a:gridCol w="3714750"/>
              </a:tblGrid>
              <a:tr h="645319">
                <a:tc>
                  <a:txBody>
                    <a:bodyPr>
                      <a:noAutofit/>
                    </a:bodyPr>
                    <a:lstStyle/>
                    <a:p>
                      <a:r>
                        <a:rPr sz="1725" b="1">
                          <a:solidFill>
                            <a:srgbClr val="FFFFFF"/>
                          </a:solidFill>
                          <a:latin typeface="Arial"/>
                          <a:ea typeface="Arial"/>
                          <a:cs typeface="Arial"/>
                        </a:rPr>
                        <a:t>Alternative</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725" b="1">
                          <a:solidFill>
                            <a:srgbClr val="FFFFFF"/>
                          </a:solidFill>
                          <a:latin typeface="Arial"/>
                          <a:ea typeface="Arial"/>
                          <a:cs typeface="Arial"/>
                        </a:rPr>
                        <a:t>Visible service scope</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645319">
                <a:tc>
                  <a:txBody>
                    <a:bodyPr>
                      <a:noAutofit/>
                    </a:bodyPr>
                    <a:lstStyle/>
                    <a:p>
                      <a:r>
                        <a:rPr sz="1725" b="0">
                          <a:solidFill>
                            <a:srgbClr val="20322B"/>
                          </a:solidFill>
                          <a:latin typeface="Arial"/>
                          <a:ea typeface="Arial"/>
                          <a:cs typeface="Arial"/>
                        </a:rPr>
                        <a:t>Xianyu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Broad item listings and resale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Renrenzu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Equipment rental marketplace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ATRenew</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AHS trade-in and Paipai resale</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4B633B95-9182-4073-9F64-B0E125B6AD70}"/>
              </a:ext>
            </a:extLst>
          </p:cNvPr>
          <p:cNvSpPr>
            <a:spLocks xmlns:a="http://schemas.openxmlformats.org/drawingml/2006/main" noGrp="1"/>
          </p:cNvSpPr>
          <p:nvPr/>
        </p:nvSpPr>
        <p:spPr>
          <a:xfrm xmlns:a="http://schemas.openxmlformats.org/drawingml/2006/main">
            <a:off x="6105525" y="5124450"/>
            <a:ext cx="5476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0322B"/>
                </a:solidFill>
                <a:latin typeface="Arial"/>
                <a:ea typeface="Arial"/>
                <a:cs typeface="Arial"/>
              </a:defRPr>
            </a:defPPr>
            <a:lvl1pPr>
              <a:buNone/>
              <a:defRPr sz="2025" b="1">
                <a:solidFill>
                  <a:srgbClr val="20322B"/>
                </a:solidFill>
                <a:latin typeface="Arial"/>
                <a:ea typeface="Arial"/>
                <a:cs typeface="Arial"/>
              </a:defRPr>
            </a:lvl1pPr>
            <a:lvl2pPr>
              <a:buNone/>
              <a:defRPr sz="2025" b="1">
                <a:solidFill>
                  <a:srgbClr val="20322B"/>
                </a:solidFill>
                <a:latin typeface="Arial"/>
                <a:ea typeface="Arial"/>
                <a:cs typeface="Arial"/>
              </a:defRPr>
            </a:lvl2pPr>
            <a:lvl3pPr>
              <a:buNone/>
              <a:defRPr sz="2025" b="1">
                <a:solidFill>
                  <a:srgbClr val="20322B"/>
                </a:solidFill>
                <a:latin typeface="Arial"/>
                <a:ea typeface="Arial"/>
                <a:cs typeface="Arial"/>
              </a:defRPr>
            </a:lvl3pPr>
            <a:lvl4pPr>
              <a:buNone/>
              <a:defRPr sz="2025" b="1">
                <a:solidFill>
                  <a:srgbClr val="20322B"/>
                </a:solidFill>
                <a:latin typeface="Arial"/>
                <a:ea typeface="Arial"/>
                <a:cs typeface="Arial"/>
              </a:defRPr>
            </a:lvl4pPr>
            <a:lvl5pPr>
              <a:buNone/>
              <a:defRPr sz="2025" b="1">
                <a:solidFill>
                  <a:srgbClr val="20322B"/>
                </a:solidFill>
                <a:latin typeface="Arial"/>
                <a:ea typeface="Arial"/>
                <a:cs typeface="Arial"/>
              </a:defRPr>
            </a:lvl5pPr>
            <a:lvl6pPr>
              <a:buNone/>
              <a:defRPr sz="2025" b="1">
                <a:solidFill>
                  <a:srgbClr val="20322B"/>
                </a:solidFill>
                <a:latin typeface="Arial"/>
                <a:ea typeface="Arial"/>
                <a:cs typeface="Arial"/>
              </a:defRPr>
            </a:lvl6pPr>
            <a:lvl7pPr>
              <a:buNone/>
              <a:defRPr sz="2025" b="1">
                <a:solidFill>
                  <a:srgbClr val="20322B"/>
                </a:solidFill>
                <a:latin typeface="Arial"/>
                <a:ea typeface="Arial"/>
                <a:cs typeface="Arial"/>
              </a:defRPr>
            </a:lvl7pPr>
            <a:lvl8pPr>
              <a:buNone/>
              <a:defRPr sz="2025" b="1">
                <a:solidFill>
                  <a:srgbClr val="20322B"/>
                </a:solidFill>
                <a:latin typeface="Arial"/>
                <a:ea typeface="Arial"/>
                <a:cs typeface="Arial"/>
              </a:defRPr>
            </a:lvl8pPr>
            <a:lvl9pPr>
              <a:buNone/>
              <a:defRPr sz="2025" b="1">
                <a:solidFill>
                  <a:srgbClr val="20322B"/>
                </a:solidFill>
                <a:latin typeface="Arial"/>
                <a:ea typeface="Arial"/>
                <a:cs typeface="Arial"/>
              </a:defRPr>
            </a:lvl9pPr>
          </a:lstStyle>
          <a:p xmlns:a="http://schemas.openxmlformats.org/drawingml/2006/main">
            <a:pPr>
              <a:buNone/>
              <a:defRPr sz="2025" b="1">
                <a:solidFill>
                  <a:srgbClr val="20322B"/>
                </a:solidFill>
                <a:latin typeface="Arial"/>
                <a:ea typeface="Arial"/>
                <a:cs typeface="Arial"/>
              </a:defRPr>
            </a:pPr>
            <a:r>
              <a:rPr sz="2025" b="1">
                <a:solidFill>
                  <a:srgbClr val="20322B"/>
                </a:solidFill>
                <a:latin typeface="Arial"/>
                <a:ea typeface="Arial"/>
                <a:cs typeface="Arial"/>
              </a:rPr>
              <a:t>Proposed advantage</a:t>
            </a:r>
          </a:p>
        </p:txBody>
      </p:sp>
      <p:sp>
        <p:nvSpPr>
          <p:cNvPr id="15" name="">
            <a:extLst xmlns:a="http://schemas.openxmlformats.org/drawingml/2006/main">
              <a:ext uri="{FF2B5EF4-FFF2-40B4-BE49-F238E27FC236}">
                <a16:creationId xmlns:a16="http://schemas.microsoft.com/office/drawing/2014/main" id="{8344C208-CD51-47E6-BB78-1CDB9CD57D26}"/>
              </a:ext>
            </a:extLst>
          </p:cNvPr>
          <p:cNvSpPr>
            <a:spLocks xmlns:a="http://schemas.openxmlformats.org/drawingml/2006/main" noGrp="1"/>
          </p:cNvSpPr>
          <p:nvPr/>
        </p:nvSpPr>
        <p:spPr>
          <a:xfrm xmlns:a="http://schemas.openxmlformats.org/drawingml/2006/main">
            <a:off x="6105525" y="5562600"/>
            <a:ext cx="5476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20322B"/>
                </a:solidFill>
                <a:latin typeface="Arial"/>
                <a:ea typeface="Arial"/>
                <a:cs typeface="Arial"/>
              </a:defRPr>
            </a:defPPr>
            <a:lvl1pPr>
              <a:buNone/>
              <a:defRPr sz="1950" b="0">
                <a:solidFill>
                  <a:srgbClr val="20322B"/>
                </a:solidFill>
                <a:latin typeface="Arial"/>
                <a:ea typeface="Arial"/>
                <a:cs typeface="Arial"/>
              </a:defRPr>
            </a:lvl1pPr>
            <a:lvl2pPr>
              <a:buNone/>
              <a:defRPr sz="1950" b="0">
                <a:solidFill>
                  <a:srgbClr val="20322B"/>
                </a:solidFill>
                <a:latin typeface="Arial"/>
                <a:ea typeface="Arial"/>
                <a:cs typeface="Arial"/>
              </a:defRPr>
            </a:lvl2pPr>
            <a:lvl3pPr>
              <a:buNone/>
              <a:defRPr sz="1950" b="0">
                <a:solidFill>
                  <a:srgbClr val="20322B"/>
                </a:solidFill>
                <a:latin typeface="Arial"/>
                <a:ea typeface="Arial"/>
                <a:cs typeface="Arial"/>
              </a:defRPr>
            </a:lvl3pPr>
            <a:lvl4pPr>
              <a:buNone/>
              <a:defRPr sz="1950" b="0">
                <a:solidFill>
                  <a:srgbClr val="20322B"/>
                </a:solidFill>
                <a:latin typeface="Arial"/>
                <a:ea typeface="Arial"/>
                <a:cs typeface="Arial"/>
              </a:defRPr>
            </a:lvl4pPr>
            <a:lvl5pPr>
              <a:buNone/>
              <a:defRPr sz="1950" b="0">
                <a:solidFill>
                  <a:srgbClr val="20322B"/>
                </a:solidFill>
                <a:latin typeface="Arial"/>
                <a:ea typeface="Arial"/>
                <a:cs typeface="Arial"/>
              </a:defRPr>
            </a:lvl5pPr>
            <a:lvl6pPr>
              <a:buNone/>
              <a:defRPr sz="1950" b="0">
                <a:solidFill>
                  <a:srgbClr val="20322B"/>
                </a:solidFill>
                <a:latin typeface="Arial"/>
                <a:ea typeface="Arial"/>
                <a:cs typeface="Arial"/>
              </a:defRPr>
            </a:lvl6pPr>
            <a:lvl7pPr>
              <a:buNone/>
              <a:defRPr sz="1950" b="0">
                <a:solidFill>
                  <a:srgbClr val="20322B"/>
                </a:solidFill>
                <a:latin typeface="Arial"/>
                <a:ea typeface="Arial"/>
                <a:cs typeface="Arial"/>
              </a:defRPr>
            </a:lvl7pPr>
            <a:lvl8pPr>
              <a:buNone/>
              <a:defRPr sz="1950" b="0">
                <a:solidFill>
                  <a:srgbClr val="20322B"/>
                </a:solidFill>
                <a:latin typeface="Arial"/>
                <a:ea typeface="Arial"/>
                <a:cs typeface="Arial"/>
              </a:defRPr>
            </a:lvl8pPr>
            <a:lvl9pPr>
              <a:buNone/>
              <a:defRPr sz="1950" b="0">
                <a:solidFill>
                  <a:srgbClr val="20322B"/>
                </a:solidFill>
                <a:latin typeface="Arial"/>
                <a:ea typeface="Arial"/>
                <a:cs typeface="Arial"/>
              </a:defRPr>
            </a:lvl9pPr>
          </a:lstStyle>
          <a:p xmlns:a="http://schemas.openxmlformats.org/drawingml/2006/main">
            <a:pPr>
              <a:buNone/>
              <a:defRPr sz="1950" b="0">
                <a:solidFill>
                  <a:srgbClr val="20322B"/>
                </a:solidFill>
                <a:latin typeface="Arial"/>
                <a:ea typeface="Arial"/>
                <a:cs typeface="Arial"/>
              </a:defRPr>
            </a:pPr>
            <a:r>
              <a:rPr sz="1950" b="0">
                <a:solidFill>
                  <a:srgbClr val="20322B"/>
                </a:solidFill>
                <a:latin typeface="Arial"/>
                <a:ea typeface="Arial"/>
                <a:cs typeface="Arial"/>
              </a:rPr>
              <a:t>Dates, explicit acceptance and local handoff, without compulsory location sharing.</a:t>
            </a:r>
          </a:p>
        </p:txBody>
      </p:sp>
      <p:sp>
        <p:nvSpPr>
          <p:cNvPr id="16" name="">
            <a:extLst xmlns:a="http://schemas.openxmlformats.org/drawingml/2006/main">
              <a:ext uri="{FF2B5EF4-FFF2-40B4-BE49-F238E27FC236}">
                <a16:creationId xmlns:a16="http://schemas.microsoft.com/office/drawing/2014/main" id="{5580677B-B76F-4688-864A-5A75B539C051}"/>
              </a:ext>
            </a:extLst>
          </p:cNvPr>
          <p:cNvSpPr>
            <a:spLocks xmlns:a="http://schemas.openxmlformats.org/drawingml/2006/main" noGrp="1"/>
          </p:cNvSpPr>
          <p:nvPr/>
        </p:nvSpPr>
        <p:spPr>
          <a:xfrm xmlns:a="http://schemas.openxmlformats.org/drawingml/2006/main">
            <a:off x="609600" y="6467475"/>
            <a:ext cx="9763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S1-S4. Planning case: 80 invites × 10% posting × 25% fulfilment, subject to supply.</a:t>
            </a:r>
          </a:p>
        </p:txBody>
      </p:sp>
    </p:spTree>
    <p:extLst>
      <p:ext uri="{BB962C8B-B14F-4D97-AF65-F5344CB8AC3E}">
        <p14:creationId xmlns:p14="http://schemas.microsoft.com/office/powerpoint/2010/main" val="2124740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960874-35CE-4B0B-8C6B-3C889541632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01B8A7C7-5365-49FD-A677-A05D7DF0B2D0}"/>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Product and concept choice</a:t>
            </a:r>
          </a:p>
        </p:txBody>
      </p:sp>
      <p:sp>
        <p:nvSpPr>
          <p:cNvPr id="3" name="">
            <a:extLst xmlns:a="http://schemas.openxmlformats.org/drawingml/2006/main">
              <a:ext uri="{FF2B5EF4-FFF2-40B4-BE49-F238E27FC236}">
                <a16:creationId xmlns:a16="http://schemas.microsoft.com/office/drawing/2014/main" id="{8A8DA58D-13A1-45D5-8E47-D41D78EEB2D5}"/>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4 / 6</a:t>
            </a:r>
          </a:p>
        </p:txBody>
      </p:sp>
      <p:pic>
        <p:nvPicPr>
          <p:cNvPr id="4" name="">
            <a:extLst xmlns:a="http://schemas.openxmlformats.org/drawingml/2006/main">
              <a:ext uri="{FF2B5EF4-FFF2-40B4-BE49-F238E27FC236}">
                <a16:creationId xmlns:a16="http://schemas.microsoft.com/office/drawing/2014/main" id="{170F7586-B66B-4FC6-8598-02E6CD101B9E}"/>
              </a:ext>
            </a:extLst>
          </p:cNvPr>
          <p:cNvPicPr>
            <a:picLocks xmlns:a="http://schemas.openxmlformats.org/drawingml/2006/main" noChangeAspect="1"/>
          </p:cNvPicPr>
          <p:nvPr/>
        </p:nvPicPr>
        <p:blipFill>
          <a:blip xmlns:r="http://schemas.openxmlformats.org/officeDocument/2006/relationships" xmlns:a="http://schemas.openxmlformats.org/drawingml/2006/main" r:embed="R6a7b84d509484f9b"/>
          <a:stretch xmlns:a="http://schemas.openxmlformats.org/drawingml/2006/main"/>
        </p:blipFill>
        <p:spPr>
          <a:xfrm xmlns:a="http://schemas.openxmlformats.org/drawingml/2006/main">
            <a:off x="609600" y="1763981"/>
            <a:ext cx="2066925" cy="447303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CAA6B7-3542-4B96-8F85-820D483D733C}"/>
              </a:ext>
            </a:extLst>
          </p:cNvPr>
          <p:cNvSpPr>
            <a:spLocks xmlns:a="http://schemas.openxmlformats.org/drawingml/2006/main" noGrp="1"/>
          </p:cNvSpPr>
          <p:nvPr/>
        </p:nvSpPr>
        <p:spPr>
          <a:xfrm xmlns:a="http://schemas.openxmlformats.org/drawingml/2006/main">
            <a:off x="2924175" y="1809750"/>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Individual timetables</a:t>
            </a:r>
          </a:p>
        </p:txBody>
      </p:sp>
      <p:sp>
        <p:nvSpPr>
          <p:cNvPr id="6" name="">
            <a:extLst xmlns:a="http://schemas.openxmlformats.org/drawingml/2006/main">
              <a:ext uri="{FF2B5EF4-FFF2-40B4-BE49-F238E27FC236}">
                <a16:creationId xmlns:a16="http://schemas.microsoft.com/office/drawing/2014/main" id="{88D39B9E-ED1C-4C2A-AAB0-7470CE7EC55C}"/>
              </a:ext>
            </a:extLst>
          </p:cNvPr>
          <p:cNvSpPr>
            <a:spLocks xmlns:a="http://schemas.openxmlformats.org/drawingml/2006/main" noGrp="1"/>
          </p:cNvSpPr>
          <p:nvPr/>
        </p:nvSpPr>
        <p:spPr>
          <a:xfrm xmlns:a="http://schemas.openxmlformats.org/drawingml/2006/main">
            <a:off x="2924175" y="2228850"/>
            <a:ext cx="3095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Import an image or PDF. Review each class, then suggest mutual free slots.</a:t>
            </a:r>
          </a:p>
        </p:txBody>
      </p:sp>
      <p:sp>
        <p:nvSpPr>
          <p:cNvPr id="7" name="">
            <a:extLst xmlns:a="http://schemas.openxmlformats.org/drawingml/2006/main">
              <a:ext uri="{FF2B5EF4-FFF2-40B4-BE49-F238E27FC236}">
                <a16:creationId xmlns:a16="http://schemas.microsoft.com/office/drawing/2014/main" id="{B730C899-DA63-47FF-9B9E-D7617FF33DAE}"/>
              </a:ext>
            </a:extLst>
          </p:cNvPr>
          <p:cNvSpPr>
            <a:spLocks xmlns:a="http://schemas.openxmlformats.org/drawingml/2006/main" noGrp="1"/>
          </p:cNvSpPr>
          <p:nvPr/>
        </p:nvSpPr>
        <p:spPr>
          <a:xfrm xmlns:a="http://schemas.openxmlformats.org/drawingml/2006/main">
            <a:off x="6515100" y="1781175"/>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Different operating models</a:t>
            </a:r>
          </a:p>
        </p:txBody>
      </p:sp>
      <p:graphicFrame>
        <p:nvGraphicFramePr>
          <p:cNvPr id="8" name="">
            <a:extLst xmlns:a="http://schemas.openxmlformats.org/drawingml/2006/main">
              <a:ext uri="{FF2B5EF4-FFF2-40B4-BE49-F238E27FC236}">
                <a16:creationId xmlns:a16="http://schemas.microsoft.com/office/drawing/2014/main" id="{69FC507B-939F-44CA-9B00-503BEBD9B018}"/>
              </a:ext>
            </a:extLst>
          </p:cNvPr>
          <p:cNvGraphicFramePr/>
          <p:nvPr/>
        </p:nvGraphicFramePr>
        <p:xfrm>
          <a:off xmlns:a="http://schemas.openxmlformats.org/drawingml/2006/main" x="6515100" y="2324100"/>
          <a:ext xmlns:a="http://schemas.openxmlformats.org/drawingml/2006/main" cx="5067300" cy="2305050"/>
        </p:xfrm>
        <a:graphic xmlns:a="http://schemas.openxmlformats.org/drawingml/2006/main">
          <a:graphicData uri="http://schemas.openxmlformats.org/drawingml/2006/table">
            <a:tbl>
              <a:tblPr/>
              <a:tblGrid>
                <a:gridCol w="3476625"/>
                <a:gridCol w="1590675"/>
              </a:tblGrid>
              <a:tr h="576263">
                <a:tc>
                  <a:txBody>
                    <a:bodyPr>
                      <a:noAutofit/>
                    </a:bodyPr>
                    <a:lstStyle/>
                    <a:p>
                      <a:r>
                        <a:rPr sz="1800" b="1">
                          <a:solidFill>
                            <a:srgbClr val="FFFFFF"/>
                          </a:solidFill>
                          <a:latin typeface="Arial"/>
                          <a:ea typeface="Arial"/>
                          <a:cs typeface="Arial"/>
                        </a:rPr>
                        <a:t>Concept</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800" b="1">
                          <a:solidFill>
                            <a:srgbClr val="FFFFFF"/>
                          </a:solidFill>
                          <a:latin typeface="Arial"/>
                          <a:ea typeface="Arial"/>
                          <a:cs typeface="Arial"/>
                        </a:rPr>
                        <a:t>Score / 5</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576263">
                <a:tc>
                  <a:txBody>
                    <a:bodyPr>
                      <a:noAutofit/>
                    </a:bodyPr>
                    <a:lstStyle/>
                    <a:p>
                      <a:r>
                        <a:rPr sz="1800" b="0">
                          <a:solidFill>
                            <a:srgbClr val="20322B"/>
                          </a:solidFill>
                          <a:latin typeface="Arial"/>
                          <a:ea typeface="Arial"/>
                          <a:cs typeface="Arial"/>
                        </a:rPr>
                        <a:t>Manual bulletin</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3.60</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Managed item pool</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2.55</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U Use peer access</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3.80</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7C74A2A-9941-4889-9B4D-1869AD7C817A}"/>
              </a:ext>
            </a:extLst>
          </p:cNvPr>
          <p:cNvSpPr>
            <a:spLocks xmlns:a="http://schemas.openxmlformats.org/drawingml/2006/main" noGrp="1"/>
          </p:cNvSpPr>
          <p:nvPr/>
        </p:nvSpPr>
        <p:spPr>
          <a:xfrm xmlns:a="http://schemas.openxmlformats.org/drawingml/2006/main">
            <a:off x="6515100" y="4772025"/>
            <a:ext cx="50673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Weights: scheduling 30%, operations 25%, feasibility 25%, privacy 10%, supply 10%.</a:t>
            </a:r>
          </a:p>
        </p:txBody>
      </p:sp>
      <p:sp>
        <p:nvSpPr>
          <p:cNvPr id="10" name="">
            <a:extLst xmlns:a="http://schemas.openxmlformats.org/drawingml/2006/main">
              <a:ext uri="{FF2B5EF4-FFF2-40B4-BE49-F238E27FC236}">
                <a16:creationId xmlns:a16="http://schemas.microsoft.com/office/drawing/2014/main" id="{9547CD5F-2F73-4E21-9A1E-986D96D31997}"/>
              </a:ext>
            </a:extLst>
          </p:cNvPr>
          <p:cNvSpPr>
            <a:spLocks xmlns:a="http://schemas.openxmlformats.org/drawingml/2006/main" noGrp="1"/>
          </p:cNvSpPr>
          <p:nvPr/>
        </p:nvSpPr>
        <p:spPr>
          <a:xfrm xmlns:a="http://schemas.openxmlformats.org/drawingml/2006/main">
            <a:off x="6515100" y="5410200"/>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Operating fallback</a:t>
            </a:r>
          </a:p>
        </p:txBody>
      </p:sp>
      <p:sp>
        <p:nvSpPr>
          <p:cNvPr id="11" name="">
            <a:extLst xmlns:a="http://schemas.openxmlformats.org/drawingml/2006/main">
              <a:ext uri="{FF2B5EF4-FFF2-40B4-BE49-F238E27FC236}">
                <a16:creationId xmlns:a16="http://schemas.microsoft.com/office/drawing/2014/main" id="{E7985CFF-C5B7-4599-A5E2-B770B6D860F3}"/>
              </a:ext>
            </a:extLst>
          </p:cNvPr>
          <p:cNvSpPr>
            <a:spLocks xmlns:a="http://schemas.openxmlformats.org/drawingml/2006/main" noGrp="1"/>
          </p:cNvSpPr>
          <p:nvPr/>
        </p:nvSpPr>
        <p:spPr>
          <a:xfrm xmlns:a="http://schemas.openxmlformats.org/drawingml/2006/main">
            <a:off x="6515100" y="5838825"/>
            <a:ext cx="5067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Low usage or supply may justify a switch to the manual bulletin.</a:t>
            </a:r>
          </a:p>
        </p:txBody>
      </p:sp>
      <p:sp>
        <p:nvSpPr>
          <p:cNvPr id="12" name="">
            <a:extLst xmlns:a="http://schemas.openxmlformats.org/drawingml/2006/main">
              <a:ext uri="{FF2B5EF4-FFF2-40B4-BE49-F238E27FC236}">
                <a16:creationId xmlns:a16="http://schemas.microsoft.com/office/drawing/2014/main" id="{E930DE41-E828-4962-A657-B711B008604F}"/>
              </a:ext>
            </a:extLst>
          </p:cNvPr>
          <p:cNvSpPr>
            <a:spLocks xmlns:a="http://schemas.openxmlformats.org/drawingml/2006/main" noGrp="1"/>
          </p:cNvSpPr>
          <p:nvPr/>
        </p:nvSpPr>
        <p:spPr>
          <a:xfrm xmlns:a="http://schemas.openxmlformats.org/drawingml/2006/main">
            <a:off x="609600" y="6553200"/>
            <a:ext cx="9858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Demo account and request. Scores are planning judgments. Full matrix and sensitivity in the workbook.</a:t>
            </a:r>
          </a:p>
        </p:txBody>
      </p:sp>
      <p:sp>
        <p:nvSpPr>
          <p:cNvPr id="14" name="">
            <a:extLst xmlns:a="http://schemas.openxmlformats.org/drawingml/2006/main">
              <a:ext uri="{FF2B5EF4-FFF2-40B4-BE49-F238E27FC236}">
                <a16:creationId xmlns:a16="http://schemas.microsoft.com/office/drawing/2014/main" id="{9974AF59-E25F-4C2F-A749-66767E558DE4}"/>
              </a:ext>
            </a:extLst>
          </p:cNvPr>
          <p:cNvSpPr>
            <a:spLocks xmlns:a="http://schemas.openxmlformats.org/drawingml/2006/main" noGrp="1"/>
          </p:cNvSpPr>
          <p:nvPr/>
        </p:nvSpPr>
        <p:spPr>
          <a:xfrm xmlns:a="http://schemas.openxmlformats.org/drawingml/2006/main">
            <a:off x="2924175" y="347662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defRPr sz="1875" b="1">
                <a:solidFill>
                  <a:srgbClr val="20322B"/>
                </a:solidFill>
                <a:latin typeface="Arial"/>
                <a:ea typeface="Arial"/>
                <a:cs typeface="Arial"/>
              </a:defRPr>
            </a:lvl1pPr>
            <a:lvl2pPr>
              <a:defRPr sz="1875" b="1">
                <a:solidFill>
                  <a:srgbClr val="20322B"/>
                </a:solidFill>
                <a:latin typeface="Arial"/>
                <a:ea typeface="Arial"/>
                <a:cs typeface="Arial"/>
              </a:defRPr>
            </a:lvl2pPr>
            <a:lvl3pPr>
              <a:defRPr sz="1875" b="1">
                <a:solidFill>
                  <a:srgbClr val="20322B"/>
                </a:solidFill>
                <a:latin typeface="Arial"/>
                <a:ea typeface="Arial"/>
                <a:cs typeface="Arial"/>
              </a:defRPr>
            </a:lvl3pPr>
            <a:lvl4pPr>
              <a:defRPr sz="1875" b="1">
                <a:solidFill>
                  <a:srgbClr val="20322B"/>
                </a:solidFill>
                <a:latin typeface="Arial"/>
                <a:ea typeface="Arial"/>
                <a:cs typeface="Arial"/>
              </a:defRPr>
            </a:lvl4pPr>
            <a:lvl5pPr>
              <a:defRPr sz="1875" b="1">
                <a:solidFill>
                  <a:srgbClr val="20322B"/>
                </a:solidFill>
                <a:latin typeface="Arial"/>
                <a:ea typeface="Arial"/>
                <a:cs typeface="Arial"/>
              </a:defRPr>
            </a:lvl5pPr>
            <a:lvl6pPr>
              <a:defRPr sz="1875" b="1">
                <a:solidFill>
                  <a:srgbClr val="20322B"/>
                </a:solidFill>
                <a:latin typeface="Arial"/>
                <a:ea typeface="Arial"/>
                <a:cs typeface="Arial"/>
              </a:defRPr>
            </a:lvl6pPr>
            <a:lvl7pPr>
              <a:defRPr sz="1875" b="1">
                <a:solidFill>
                  <a:srgbClr val="20322B"/>
                </a:solidFill>
                <a:latin typeface="Arial"/>
                <a:ea typeface="Arial"/>
                <a:cs typeface="Arial"/>
              </a:defRPr>
            </a:lvl7pPr>
            <a:lvl8pPr>
              <a:defRPr sz="1875" b="1">
                <a:solidFill>
                  <a:srgbClr val="20322B"/>
                </a:solidFill>
                <a:latin typeface="Arial"/>
                <a:ea typeface="Arial"/>
                <a:cs typeface="Arial"/>
              </a:defRPr>
            </a:lvl8pPr>
            <a:lvl9pPr>
              <a:defRPr sz="1875" b="1">
                <a:solidFill>
                  <a:srgbClr val="20322B"/>
                </a:solidFill>
                <a:latin typeface="Arial"/>
                <a:ea typeface="Arial"/>
                <a:cs typeface="Arial"/>
              </a:defRPr>
            </a:lvl9pPr>
          </a:lstStyle>
          <a:p xmlns:a="http://schemas.openxmlformats.org/drawingml/2006/main">
            <a:pPr>
              <a:defRPr sz="1875" b="1">
                <a:solidFill>
                  <a:srgbClr val="20322B"/>
                </a:solidFill>
                <a:latin typeface="Arial"/>
                <a:ea typeface="Arial"/>
                <a:cs typeface="Arial"/>
              </a:defRPr>
            </a:pPr>
            <a:r>
              <a:rPr sz="1875" b="1">
                <a:solidFill>
                  <a:srgbClr val="20322B"/>
                </a:solidFill>
                <a:latin typeface="Arial"/>
                <a:ea typeface="Arial"/>
                <a:cs typeface="Arial"/>
              </a:rPr>
              <a:t>Requests and offers</a:t>
            </a:r>
          </a:p>
        </p:txBody>
      </p:sp>
      <p:sp>
        <p:nvSpPr>
          <p:cNvPr id="15" name="">
            <a:extLst xmlns:a="http://schemas.openxmlformats.org/drawingml/2006/main">
              <a:ext uri="{FF2B5EF4-FFF2-40B4-BE49-F238E27FC236}">
                <a16:creationId xmlns:a16="http://schemas.microsoft.com/office/drawing/2014/main" id="{49EA6F52-A0B0-4A83-A17B-151D7E4EF348}"/>
              </a:ext>
            </a:extLst>
          </p:cNvPr>
          <p:cNvSpPr>
            <a:spLocks xmlns:a="http://schemas.openxmlformats.org/drawingml/2006/main" noGrp="1"/>
          </p:cNvSpPr>
          <p:nvPr/>
        </p:nvSpPr>
        <p:spPr>
          <a:xfrm xmlns:a="http://schemas.openxmlformats.org/drawingml/2006/main">
            <a:off x="2924175" y="3905250"/>
            <a:ext cx="3095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Post dates and budget. Owners recommend an item before any booking.</a:t>
            </a:r>
          </a:p>
        </p:txBody>
      </p:sp>
      <p:sp>
        <p:nvSpPr>
          <p:cNvPr id="16" name="">
            <a:extLst xmlns:a="http://schemas.openxmlformats.org/drawingml/2006/main">
              <a:ext uri="{FF2B5EF4-FFF2-40B4-BE49-F238E27FC236}">
                <a16:creationId xmlns:a16="http://schemas.microsoft.com/office/drawing/2014/main" id="{864BF1A1-175E-4E52-BD4F-209379458F3E}"/>
              </a:ext>
            </a:extLst>
          </p:cNvPr>
          <p:cNvSpPr>
            <a:spLocks xmlns:a="http://schemas.openxmlformats.org/drawingml/2006/main" noGrp="1"/>
          </p:cNvSpPr>
          <p:nvPr/>
        </p:nvSpPr>
        <p:spPr>
          <a:xfrm xmlns:a="http://schemas.openxmlformats.org/drawingml/2006/main">
            <a:off x="2924175" y="505777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defRPr sz="1875" b="1">
                <a:solidFill>
                  <a:srgbClr val="20322B"/>
                </a:solidFill>
                <a:latin typeface="Arial"/>
                <a:ea typeface="Arial"/>
                <a:cs typeface="Arial"/>
              </a:defRPr>
            </a:lvl1pPr>
            <a:lvl2pPr>
              <a:defRPr sz="1875" b="1">
                <a:solidFill>
                  <a:srgbClr val="20322B"/>
                </a:solidFill>
                <a:latin typeface="Arial"/>
                <a:ea typeface="Arial"/>
                <a:cs typeface="Arial"/>
              </a:defRPr>
            </a:lvl2pPr>
            <a:lvl3pPr>
              <a:defRPr sz="1875" b="1">
                <a:solidFill>
                  <a:srgbClr val="20322B"/>
                </a:solidFill>
                <a:latin typeface="Arial"/>
                <a:ea typeface="Arial"/>
                <a:cs typeface="Arial"/>
              </a:defRPr>
            </a:lvl3pPr>
            <a:lvl4pPr>
              <a:defRPr sz="1875" b="1">
                <a:solidFill>
                  <a:srgbClr val="20322B"/>
                </a:solidFill>
                <a:latin typeface="Arial"/>
                <a:ea typeface="Arial"/>
                <a:cs typeface="Arial"/>
              </a:defRPr>
            </a:lvl4pPr>
            <a:lvl5pPr>
              <a:defRPr sz="1875" b="1">
                <a:solidFill>
                  <a:srgbClr val="20322B"/>
                </a:solidFill>
                <a:latin typeface="Arial"/>
                <a:ea typeface="Arial"/>
                <a:cs typeface="Arial"/>
              </a:defRPr>
            </a:lvl5pPr>
            <a:lvl6pPr>
              <a:defRPr sz="1875" b="1">
                <a:solidFill>
                  <a:srgbClr val="20322B"/>
                </a:solidFill>
                <a:latin typeface="Arial"/>
                <a:ea typeface="Arial"/>
                <a:cs typeface="Arial"/>
              </a:defRPr>
            </a:lvl6pPr>
            <a:lvl7pPr>
              <a:defRPr sz="1875" b="1">
                <a:solidFill>
                  <a:srgbClr val="20322B"/>
                </a:solidFill>
                <a:latin typeface="Arial"/>
                <a:ea typeface="Arial"/>
                <a:cs typeface="Arial"/>
              </a:defRPr>
            </a:lvl7pPr>
            <a:lvl8pPr>
              <a:defRPr sz="1875" b="1">
                <a:solidFill>
                  <a:srgbClr val="20322B"/>
                </a:solidFill>
                <a:latin typeface="Arial"/>
                <a:ea typeface="Arial"/>
                <a:cs typeface="Arial"/>
              </a:defRPr>
            </a:lvl8pPr>
            <a:lvl9pPr>
              <a:defRPr sz="1875" b="1">
                <a:solidFill>
                  <a:srgbClr val="20322B"/>
                </a:solidFill>
                <a:latin typeface="Arial"/>
                <a:ea typeface="Arial"/>
                <a:cs typeface="Arial"/>
              </a:defRPr>
            </a:lvl9pPr>
          </a:lstStyle>
          <a:p xmlns:a="http://schemas.openxmlformats.org/drawingml/2006/main">
            <a:pPr>
              <a:defRPr sz="1875" b="1">
                <a:solidFill>
                  <a:srgbClr val="20322B"/>
                </a:solidFill>
                <a:latin typeface="Arial"/>
                <a:ea typeface="Arial"/>
                <a:cs typeface="Arial"/>
              </a:defRPr>
            </a:pPr>
            <a:r>
              <a:rPr sz="1875" b="1">
                <a:solidFill>
                  <a:srgbClr val="20322B"/>
                </a:solidFill>
                <a:latin typeface="Arial"/>
                <a:ea typeface="Arial"/>
                <a:cs typeface="Arial"/>
              </a:rPr>
              <a:t>Optional location</a:t>
            </a:r>
          </a:p>
        </p:txBody>
      </p:sp>
      <p:sp>
        <p:nvSpPr>
          <p:cNvPr id="17" name="">
            <a:extLst xmlns:a="http://schemas.openxmlformats.org/drawingml/2006/main">
              <a:ext uri="{FF2B5EF4-FFF2-40B4-BE49-F238E27FC236}">
                <a16:creationId xmlns:a16="http://schemas.microsoft.com/office/drawing/2014/main" id="{381286A4-64F2-4517-A30C-2639594038C4}"/>
              </a:ext>
            </a:extLst>
          </p:cNvPr>
          <p:cNvSpPr>
            <a:spLocks xmlns:a="http://schemas.openxmlformats.org/drawingml/2006/main" noGrp="1"/>
          </p:cNvSpPr>
          <p:nvPr/>
        </p:nvSpPr>
        <p:spPr>
          <a:xfrm xmlns:a="http://schemas.openxmlformats.org/drawingml/2006/main">
            <a:off x="2924175" y="5486400"/>
            <a:ext cx="30956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Agree a public handoff. Maps stay collapsed.</a:t>
            </a:r>
          </a:p>
        </p:txBody>
      </p:sp>
    </p:spTree>
    <p:extLst>
      <p:ext uri="{BB962C8B-B14F-4D97-AF65-F5344CB8AC3E}">
        <p14:creationId xmlns:p14="http://schemas.microsoft.com/office/powerpoint/2010/main" val="413223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0AE816-AD34-4B15-9D48-F7FAB7A29F1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2EFBB7C-0F72-4570-B5F1-1B5F077BDB65}"/>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Business model and pilot economics</a:t>
            </a:r>
          </a:p>
        </p:txBody>
      </p:sp>
      <p:sp>
        <p:nvSpPr>
          <p:cNvPr id="3" name="">
            <a:extLst xmlns:a="http://schemas.openxmlformats.org/drawingml/2006/main">
              <a:ext uri="{FF2B5EF4-FFF2-40B4-BE49-F238E27FC236}">
                <a16:creationId xmlns:a16="http://schemas.microsoft.com/office/drawing/2014/main" id="{A36AE37C-87C6-4A19-8889-10F65A019A1D}"/>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8698DA35-3A59-4919-AE95-905DD52FEFFD}"/>
              </a:ext>
            </a:extLst>
          </p:cNvPr>
          <p:cNvGraphicFramePr/>
          <p:nvPr/>
        </p:nvGraphicFramePr>
        <p:xfrm>
          <a:off xmlns:a="http://schemas.openxmlformats.org/drawingml/2006/main" x="609600" y="1762125"/>
          <a:ext xmlns:a="http://schemas.openxmlformats.org/drawingml/2006/main" cx="10972800" cy="3943350"/>
        </p:xfrm>
        <a:graphic xmlns:a="http://schemas.openxmlformats.org/drawingml/2006/main">
          <a:graphicData uri="http://schemas.openxmlformats.org/drawingml/2006/table">
            <a:tbl>
              <a:tblPr/>
              <a:tblGrid>
                <a:gridCol w="2095500"/>
                <a:gridCol w="2095500"/>
                <a:gridCol w="2590800"/>
                <a:gridCol w="2095500"/>
                <a:gridCol w="2095500"/>
              </a:tblGrid>
              <a:tr h="1447800">
                <a:tc rowSpan="2">
                  <a:txBody>
                    <a:bodyPr>
                      <a:noAutofit/>
                    </a:bodyPr>
                    <a:lstStyle/>
                    <a:p>
                      <a:r>
                        <a:rPr sz="1725">
                          <a:solidFill>
                            <a:srgbClr val="20322B"/>
                          </a:solidFill>
                          <a:latin typeface="Arial"/>
                          <a:ea typeface="Arial"/>
                          <a:cs typeface="Arial"/>
                        </a:rPr>
                        <a:t>Partners</a:t>
                      </a:r>
                    </a:p>
                    <a:p>
                      <a:r>
                        <a:rPr sz="1725">
                          <a:solidFill>
                            <a:srgbClr val="20322B"/>
                          </a:solidFill>
                          <a:latin typeface="Arial"/>
                          <a:ea typeface="Arial"/>
                          <a:cs typeface="Arial"/>
                        </a:rPr>
                        <a:t>Class contacts</a:t>
                      </a:r>
                    </a:p>
                    <a:p>
                      <a:r>
                        <a:rPr sz="1725">
                          <a:solidFill>
                            <a:srgbClr val="20322B"/>
                          </a:solidFill>
                          <a:latin typeface="Arial"/>
                          <a:ea typeface="Arial"/>
                          <a:cs typeface="Arial"/>
                        </a:rPr>
                        <a:t>Student societies</a:t>
                      </a:r>
                    </a:p>
                    <a:p>
                      <a:r>
                        <a:rPr sz="1725">
                          <a:solidFill>
                            <a:srgbClr val="20322B"/>
                          </a:solidFill>
                          <a:latin typeface="Arial"/>
                          <a:ea typeface="Arial"/>
                          <a:cs typeface="Arial"/>
                        </a:rPr>
                        <a:t>Hosting and email</a:t>
                      </a:r>
                    </a:p>
                    <a:p>
                      <a:r>
                        <a:rPr sz="1725">
                          <a:solidFill>
                            <a:srgbClr val="20322B"/>
                          </a:solidFill>
                          <a:latin typeface="Arial"/>
                          <a:ea typeface="Arial"/>
                          <a:cs typeface="Arial"/>
                        </a:rPr>
                        <a:t>(proposed)</a:t>
                      </a:r>
                    </a:p>
                  </a:txBody>
                  <a:tcPr marL="91440" marR="91440" marT="45720" marB="45720">
                    <a:lnL w="9525">
                      <a:solidFill>
                        <a:srgbClr val="C7D7CE"/>
                      </a:solidFill>
                      <a:prstDash val="solid"/>
                    </a:lnL>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a:txBody>
                    <a:bodyPr>
                      <a:noAutofit/>
                    </a:bodyPr>
                    <a:lstStyle/>
                    <a:p>
                      <a:r>
                        <a:rPr sz="1725">
                          <a:solidFill>
                            <a:srgbClr val="20322B"/>
                          </a:solidFill>
                          <a:latin typeface="Arial"/>
                          <a:ea typeface="Arial"/>
                          <a:cs typeface="Arial"/>
                        </a:rPr>
                        <a:t>Activities</a:t>
                      </a:r>
                    </a:p>
                    <a:p>
                      <a:r>
                        <a:rPr sz="1725">
                          <a:solidFill>
                            <a:srgbClr val="20322B"/>
                          </a:solidFill>
                          <a:latin typeface="Arial"/>
                          <a:ea typeface="Arial"/>
                          <a:cs typeface="Arial"/>
                        </a:rPr>
                        <a:t>Moderation</a:t>
                      </a:r>
                    </a:p>
                    <a:p>
                      <a:r>
                        <a:rPr sz="1725">
                          <a:solidFill>
                            <a:srgbClr val="20322B"/>
                          </a:solidFill>
                          <a:latin typeface="Arial"/>
                          <a:ea typeface="Arial"/>
                          <a:cs typeface="Arial"/>
                        </a:rPr>
                        <a:t>Maintenance</a:t>
                      </a:r>
                    </a:p>
                    <a:p>
                      <a:r>
                        <a:rPr sz="1725">
                          <a:solidFill>
                            <a:srgbClr val="20322B"/>
                          </a:solidFill>
                          <a:latin typeface="Arial"/>
                          <a:ea typeface="Arial"/>
                          <a:cs typeface="Arial"/>
                        </a:rPr>
                        <a:t>Pilot support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Value proposition</a:t>
                      </a:r>
                    </a:p>
                    <a:p>
                      <a:r>
                        <a:rPr sz="1725">
                          <a:solidFill>
                            <a:srgbClr val="20322B"/>
                          </a:solidFill>
                          <a:latin typeface="Arial"/>
                          <a:ea typeface="Arial"/>
                          <a:cs typeface="Arial"/>
                        </a:rPr>
                        <a:t>An item for your dates</a:t>
                      </a:r>
                    </a:p>
                    <a:p>
                      <a:r>
                        <a:rPr sz="1725">
                          <a:solidFill>
                            <a:srgbClr val="20322B"/>
                          </a:solidFill>
                          <a:latin typeface="Arial"/>
                          <a:ea typeface="Arial"/>
                          <a:cs typeface="Arial"/>
                        </a:rPr>
                        <a:t>Clear fees and return</a:t>
                      </a:r>
                    </a:p>
                    <a:p>
                      <a:r>
                        <a:rPr sz="1725">
                          <a:solidFill>
                            <a:srgbClr val="20322B"/>
                          </a:solidFill>
                          <a:latin typeface="Arial"/>
                          <a:ea typeface="Arial"/>
                          <a:cs typeface="Arial"/>
                        </a:rPr>
                        <a:t>Public handoff</a:t>
                      </a:r>
                    </a:p>
                    <a:p>
                      <a:r>
                        <a:rPr sz="1725">
                          <a:solidFill>
                            <a:srgbClr val="20322B"/>
                          </a:solidFill>
                          <a:latin typeface="Arial"/>
                          <a:ea typeface="Arial"/>
                          <a:cs typeface="Arial"/>
                        </a:rPr>
                        <a:t>Optional location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EFF5F1"/>
                    </a:solidFill>
                  </a:tcPr>
                </a:tc>
                <a:tc>
                  <a:txBody>
                    <a:bodyPr>
                      <a:noAutofit/>
                    </a:bodyPr>
                    <a:lstStyle/>
                    <a:p>
                      <a:r>
                        <a:rPr sz="1725">
                          <a:solidFill>
                            <a:srgbClr val="20322B"/>
                          </a:solidFill>
                          <a:latin typeface="Arial"/>
                          <a:ea typeface="Arial"/>
                          <a:cs typeface="Arial"/>
                        </a:rPr>
                        <a:t>Relationships</a:t>
                      </a:r>
                    </a:p>
                    <a:p>
                      <a:r>
                        <a:rPr sz="1725">
                          <a:solidFill>
                            <a:srgbClr val="20322B"/>
                          </a:solidFill>
                          <a:latin typeface="Arial"/>
                          <a:ea typeface="Arial"/>
                          <a:cs typeface="Arial"/>
                        </a:rPr>
                        <a:t>Manual support</a:t>
                      </a:r>
                    </a:p>
                    <a:p>
                      <a:r>
                        <a:rPr sz="1725">
                          <a:solidFill>
                            <a:srgbClr val="20322B"/>
                          </a:solidFill>
                          <a:latin typeface="Arial"/>
                          <a:ea typeface="Arial"/>
                          <a:cs typeface="Arial"/>
                        </a:rPr>
                        <a:t>Explicit confirmation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Segments</a:t>
                      </a:r>
                    </a:p>
                    <a:p>
                      <a:r>
                        <a:rPr sz="1725">
                          <a:solidFill>
                            <a:srgbClr val="20322B"/>
                          </a:solidFill>
                          <a:latin typeface="Arial"/>
                          <a:ea typeface="Arial"/>
                          <a:cs typeface="Arial"/>
                        </a:rPr>
                        <a:t>Occasional requesters</a:t>
                      </a:r>
                    </a:p>
                    <a:p>
                      <a:r>
                        <a:rPr sz="1725">
                          <a:solidFill>
                            <a:srgbClr val="20322B"/>
                          </a:solidFill>
                          <a:latin typeface="Arial"/>
                          <a:ea typeface="Arial"/>
                          <a:cs typeface="Arial"/>
                        </a:rPr>
                        <a:t>Willing item owners</a:t>
                      </a:r>
                    </a:p>
                    <a:p>
                      <a:r>
                        <a:rPr sz="1725">
                          <a:solidFill>
                            <a:srgbClr val="20322B"/>
                          </a:solidFill>
                          <a:latin typeface="Arial"/>
                          <a:ea typeface="Arial"/>
                          <a:cs typeface="Arial"/>
                        </a:rPr>
                        <a:t>DTS pilot first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r>
              <a:tr h="1257300">
                <a:tc vMerge="1">
                  <a:txBody>
                    <a:bodyPr/>
                    <a:lstStyle/>
                    <a:p>
                      <a:r>
                        <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Resources</a:t>
                      </a:r>
                    </a:p>
                    <a:p>
                      <a:r>
                        <a:rPr sz="1725">
                          <a:solidFill>
                            <a:srgbClr val="20322B"/>
                          </a:solidFill>
                          <a:latin typeface="Arial"/>
                          <a:ea typeface="Arial"/>
                          <a:cs typeface="Arial"/>
                        </a:rPr>
                        <a:t>Relevant supply</a:t>
                      </a:r>
                    </a:p>
                    <a:p>
                      <a:r>
                        <a:rPr sz="1725">
                          <a:solidFill>
                            <a:srgbClr val="20322B"/>
                          </a:solidFill>
                          <a:latin typeface="Arial"/>
                          <a:ea typeface="Arial"/>
                          <a:cs typeface="Arial"/>
                        </a:rPr>
                        <a:t>Code and operators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Channels</a:t>
                      </a:r>
                    </a:p>
                    <a:p>
                      <a:r>
                        <a:rPr sz="1725">
                          <a:solidFill>
                            <a:srgbClr val="20322B"/>
                          </a:solidFill>
                          <a:latin typeface="Arial"/>
                          <a:ea typeface="Arial"/>
                          <a:cs typeface="Arial"/>
                        </a:rPr>
                        <a:t>Eight DTS classes</a:t>
                      </a:r>
                    </a:p>
                    <a:p>
                      <a:r>
                        <a:rPr sz="1725">
                          <a:solidFill>
                            <a:srgbClr val="20322B"/>
                          </a:solidFill>
                          <a:latin typeface="Arial"/>
                          <a:ea typeface="Arial"/>
                          <a:cs typeface="Arial"/>
                        </a:rPr>
                        <a:t>Permitted referrals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r>
              <a:tr h="1238250">
                <a:tc gridSpan="3">
                  <a:txBody>
                    <a:bodyPr>
                      <a:noAutofit/>
                    </a:bodyPr>
                    <a:lstStyle/>
                    <a:p>
                      <a:r>
                        <a:rPr sz="1725">
                          <a:solidFill>
                            <a:srgbClr val="20322B"/>
                          </a:solidFill>
                          <a:latin typeface="Arial"/>
                          <a:ea typeface="Arial"/>
                          <a:cs typeface="Arial"/>
                        </a:rPr>
                        <a:t>Costs</a:t>
                      </a:r>
                    </a:p>
                    <a:p>
                      <a:r>
                        <a:rPr sz="1725">
                          <a:solidFill>
                            <a:srgbClr val="20322B"/>
                          </a:solidFill>
                          <a:latin typeface="Arial"/>
                          <a:ea typeface="Arial"/>
                          <a:cs typeface="Arial"/>
                        </a:rPr>
                        <a:t>CNY180 planned cash for four weeks. Team time is separate.</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gridSpan="2">
                  <a:txBody>
                    <a:bodyPr>
                      <a:noAutofit/>
                    </a:bodyPr>
                    <a:lstStyle/>
                    <a:p>
                      <a:r>
                        <a:rPr sz="1725">
                          <a:solidFill>
                            <a:srgbClr val="20322B"/>
                          </a:solidFill>
                          <a:latin typeface="Arial"/>
                          <a:ea typeface="Arial"/>
                          <a:cs typeface="Arial"/>
                        </a:rPr>
                        <a:t>Revenue</a:t>
                      </a:r>
                    </a:p>
                    <a:p>
                      <a:r>
                        <a:rPr sz="1725">
                          <a:solidFill>
                            <a:srgbClr val="20322B"/>
                          </a:solidFill>
                          <a:latin typeface="Arial"/>
                          <a:ea typeface="Arial"/>
                          <a:cs typeface="Arial"/>
                        </a:rPr>
                        <a:t>Pilot platform fee CNY0. Later fees need validation.</a:t>
                      </a:r>
                    </a:p>
                  </a:txBody>
                  <a:tcPr marL="91440" marR="91440" marT="45720" marB="45720">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E46756CD-D838-42E0-8F82-23DF5C1D42C5}"/>
              </a:ext>
            </a:extLst>
          </p:cNvPr>
          <p:cNvSpPr>
            <a:spLocks xmlns:a="http://schemas.openxmlformats.org/drawingml/2006/main" noGrp="1"/>
          </p:cNvSpPr>
          <p:nvPr/>
        </p:nvSpPr>
        <p:spPr>
          <a:xfrm xmlns:a="http://schemas.openxmlformats.org/drawingml/2006/main">
            <a:off x="609600" y="59150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Base case: CNY20 paid GMV. A hypothetical 5% fee yields CNY1 before costs.</a:t>
            </a:r>
          </a:p>
        </p:txBody>
      </p:sp>
      <p:sp>
        <p:nvSpPr>
          <p:cNvPr id="6" name="">
            <a:extLst xmlns:a="http://schemas.openxmlformats.org/drawingml/2006/main">
              <a:ext uri="{FF2B5EF4-FFF2-40B4-BE49-F238E27FC236}">
                <a16:creationId xmlns:a16="http://schemas.microsoft.com/office/drawing/2014/main" id="{400B58F6-A3FE-40D1-8C35-E72385047A5B}"/>
              </a:ext>
            </a:extLst>
          </p:cNvPr>
          <p:cNvSpPr>
            <a:spLocks xmlns:a="http://schemas.openxmlformats.org/drawingml/2006/main" noGrp="1"/>
          </p:cNvSpPr>
          <p:nvPr/>
        </p:nvSpPr>
        <p:spPr>
          <a:xfrm xmlns:a="http://schemas.openxmlformats.org/drawingml/2006/main">
            <a:off x="609600" y="6343650"/>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Planning assumptions. Deposits, free borrowing and swaps do not count as platform revenue.</a:t>
            </a:r>
          </a:p>
        </p:txBody>
      </p:sp>
    </p:spTree>
    <p:extLst>
      <p:ext uri="{BB962C8B-B14F-4D97-AF65-F5344CB8AC3E}">
        <p14:creationId xmlns:p14="http://schemas.microsoft.com/office/powerpoint/2010/main" val="8583046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9F9B96E-7D16-4077-ACEE-1C8DF275325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A243BB7-71E4-49A3-A2EF-4F75C8B9A5EB}"/>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Team and next milestones</a:t>
            </a:r>
          </a:p>
        </p:txBody>
      </p:sp>
      <p:sp>
        <p:nvSpPr>
          <p:cNvPr id="3" name="">
            <a:extLst xmlns:a="http://schemas.openxmlformats.org/drawingml/2006/main">
              <a:ext uri="{FF2B5EF4-FFF2-40B4-BE49-F238E27FC236}">
                <a16:creationId xmlns:a16="http://schemas.microsoft.com/office/drawing/2014/main" id="{04A9B65A-1785-474F-8012-44E7E37C7376}"/>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6 / 6</a:t>
            </a:r>
          </a:p>
        </p:txBody>
      </p:sp>
      <p:sp>
        <p:nvSpPr>
          <p:cNvPr id="4" name="">
            <a:extLst xmlns:a="http://schemas.openxmlformats.org/drawingml/2006/main">
              <a:ext uri="{FF2B5EF4-FFF2-40B4-BE49-F238E27FC236}">
                <a16:creationId xmlns:a16="http://schemas.microsoft.com/office/drawing/2014/main" id="{7C13DD3C-916B-4088-B3CD-D2C29E2BD624}"/>
              </a:ext>
            </a:extLst>
          </p:cNvPr>
          <p:cNvSpPr>
            <a:spLocks xmlns:a="http://schemas.openxmlformats.org/drawingml/2006/main" noGrp="1"/>
          </p:cNvSpPr>
          <p:nvPr/>
        </p:nvSpPr>
        <p:spPr>
          <a:xfrm xmlns:a="http://schemas.openxmlformats.org/drawingml/2006/main">
            <a:off x="609600" y="176212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Agreed responsibilities</a:t>
            </a:r>
          </a:p>
        </p:txBody>
      </p:sp>
      <p:sp>
        <p:nvSpPr>
          <p:cNvPr id="5" name="">
            <a:extLst xmlns:a="http://schemas.openxmlformats.org/drawingml/2006/main">
              <a:ext uri="{FF2B5EF4-FFF2-40B4-BE49-F238E27FC236}">
                <a16:creationId xmlns:a16="http://schemas.microsoft.com/office/drawing/2014/main" id="{973664C6-6B0E-4A6F-8740-5B62C87C98DD}"/>
              </a:ext>
            </a:extLst>
          </p:cNvPr>
          <p:cNvSpPr>
            <a:spLocks xmlns:a="http://schemas.openxmlformats.org/drawingml/2006/main" noGrp="1"/>
          </p:cNvSpPr>
          <p:nvPr/>
        </p:nvSpPr>
        <p:spPr>
          <a:xfrm xmlns:a="http://schemas.openxmlformats.org/drawingml/2006/main">
            <a:off x="609600" y="23336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郭宇璇 (Rita)</a:t>
            </a:r>
          </a:p>
        </p:txBody>
      </p:sp>
      <p:sp>
        <p:nvSpPr>
          <p:cNvPr id="6" name="">
            <a:extLst xmlns:a="http://schemas.openxmlformats.org/drawingml/2006/main">
              <a:ext uri="{FF2B5EF4-FFF2-40B4-BE49-F238E27FC236}">
                <a16:creationId xmlns:a16="http://schemas.microsoft.com/office/drawing/2014/main" id="{8C508E4B-11D5-4D2B-8834-DAFCBAF629ED}"/>
              </a:ext>
            </a:extLst>
          </p:cNvPr>
          <p:cNvSpPr>
            <a:spLocks xmlns:a="http://schemas.openxmlformats.org/drawingml/2006/main" noGrp="1"/>
          </p:cNvSpPr>
          <p:nvPr/>
        </p:nvSpPr>
        <p:spPr>
          <a:xfrm xmlns:a="http://schemas.openxmlformats.org/drawingml/2006/main">
            <a:off x="2695575" y="23336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Code and coordination</a:t>
            </a:r>
          </a:p>
        </p:txBody>
      </p:sp>
      <p:sp>
        <p:nvSpPr>
          <p:cNvPr id="7" name="">
            <a:extLst xmlns:a="http://schemas.openxmlformats.org/drawingml/2006/main">
              <a:ext uri="{FF2B5EF4-FFF2-40B4-BE49-F238E27FC236}">
                <a16:creationId xmlns:a16="http://schemas.microsoft.com/office/drawing/2014/main" id="{64114A98-9674-468E-8001-819496E5EC95}"/>
              </a:ext>
            </a:extLst>
          </p:cNvPr>
          <p:cNvSpPr>
            <a:spLocks xmlns:a="http://schemas.openxmlformats.org/drawingml/2006/main" noGrp="1"/>
          </p:cNvSpPr>
          <p:nvPr/>
        </p:nvSpPr>
        <p:spPr>
          <a:xfrm xmlns:a="http://schemas.openxmlformats.org/drawingml/2006/main">
            <a:off x="609600" y="28003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汪睿</a:t>
            </a:r>
          </a:p>
        </p:txBody>
      </p:sp>
      <p:sp>
        <p:nvSpPr>
          <p:cNvPr id="8" name="">
            <a:extLst xmlns:a="http://schemas.openxmlformats.org/drawingml/2006/main">
              <a:ext uri="{FF2B5EF4-FFF2-40B4-BE49-F238E27FC236}">
                <a16:creationId xmlns:a16="http://schemas.microsoft.com/office/drawing/2014/main" id="{BDA66AAD-31E9-42F2-83EF-5A3DEAAFE625}"/>
              </a:ext>
            </a:extLst>
          </p:cNvPr>
          <p:cNvSpPr>
            <a:spLocks xmlns:a="http://schemas.openxmlformats.org/drawingml/2006/main" noGrp="1"/>
          </p:cNvSpPr>
          <p:nvPr/>
        </p:nvSpPr>
        <p:spPr>
          <a:xfrm xmlns:a="http://schemas.openxmlformats.org/drawingml/2006/main">
            <a:off x="2695575" y="28003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Analysis and presentation</a:t>
            </a:r>
          </a:p>
        </p:txBody>
      </p:sp>
      <p:sp>
        <p:nvSpPr>
          <p:cNvPr id="9" name="">
            <a:extLst xmlns:a="http://schemas.openxmlformats.org/drawingml/2006/main">
              <a:ext uri="{FF2B5EF4-FFF2-40B4-BE49-F238E27FC236}">
                <a16:creationId xmlns:a16="http://schemas.microsoft.com/office/drawing/2014/main" id="{3B330624-F1CC-48C3-A6A5-F0F4BEE8D717}"/>
              </a:ext>
            </a:extLst>
          </p:cNvPr>
          <p:cNvSpPr>
            <a:spLocks xmlns:a="http://schemas.openxmlformats.org/drawingml/2006/main" noGrp="1"/>
          </p:cNvSpPr>
          <p:nvPr/>
        </p:nvSpPr>
        <p:spPr>
          <a:xfrm xmlns:a="http://schemas.openxmlformats.org/drawingml/2006/main">
            <a:off x="609600" y="32670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毛相宜</a:t>
            </a:r>
          </a:p>
        </p:txBody>
      </p:sp>
      <p:sp>
        <p:nvSpPr>
          <p:cNvPr id="10" name="">
            <a:extLst xmlns:a="http://schemas.openxmlformats.org/drawingml/2006/main">
              <a:ext uri="{FF2B5EF4-FFF2-40B4-BE49-F238E27FC236}">
                <a16:creationId xmlns:a16="http://schemas.microsoft.com/office/drawing/2014/main" id="{21C7698B-232A-410F-A32B-95BE325F9C37}"/>
              </a:ext>
            </a:extLst>
          </p:cNvPr>
          <p:cNvSpPr>
            <a:spLocks xmlns:a="http://schemas.openxmlformats.org/drawingml/2006/main" noGrp="1"/>
          </p:cNvSpPr>
          <p:nvPr/>
        </p:nvSpPr>
        <p:spPr>
          <a:xfrm xmlns:a="http://schemas.openxmlformats.org/drawingml/2006/main">
            <a:off x="2695575" y="32670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Interviews and requirements</a:t>
            </a:r>
          </a:p>
        </p:txBody>
      </p:sp>
      <p:sp>
        <p:nvSpPr>
          <p:cNvPr id="11" name="">
            <a:extLst xmlns:a="http://schemas.openxmlformats.org/drawingml/2006/main">
              <a:ext uri="{FF2B5EF4-FFF2-40B4-BE49-F238E27FC236}">
                <a16:creationId xmlns:a16="http://schemas.microsoft.com/office/drawing/2014/main" id="{58E76083-535C-4AA6-933E-239307140ED4}"/>
              </a:ext>
            </a:extLst>
          </p:cNvPr>
          <p:cNvSpPr>
            <a:spLocks xmlns:a="http://schemas.openxmlformats.org/drawingml/2006/main" noGrp="1"/>
          </p:cNvSpPr>
          <p:nvPr/>
        </p:nvSpPr>
        <p:spPr>
          <a:xfrm xmlns:a="http://schemas.openxmlformats.org/drawingml/2006/main">
            <a:off x="609600" y="373380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黄俊杰</a:t>
            </a:r>
          </a:p>
        </p:txBody>
      </p:sp>
      <p:sp>
        <p:nvSpPr>
          <p:cNvPr id="12" name="">
            <a:extLst xmlns:a="http://schemas.openxmlformats.org/drawingml/2006/main">
              <a:ext uri="{FF2B5EF4-FFF2-40B4-BE49-F238E27FC236}">
                <a16:creationId xmlns:a16="http://schemas.microsoft.com/office/drawing/2014/main" id="{0DF9FF6B-5D1F-4789-B73B-663F396A258F}"/>
              </a:ext>
            </a:extLst>
          </p:cNvPr>
          <p:cNvSpPr>
            <a:spLocks xmlns:a="http://schemas.openxmlformats.org/drawingml/2006/main" noGrp="1"/>
          </p:cNvSpPr>
          <p:nvPr/>
        </p:nvSpPr>
        <p:spPr>
          <a:xfrm xmlns:a="http://schemas.openxmlformats.org/drawingml/2006/main">
            <a:off x="2695575" y="37338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Recruitment and personas</a:t>
            </a:r>
          </a:p>
        </p:txBody>
      </p:sp>
      <p:sp>
        <p:nvSpPr>
          <p:cNvPr id="13" name="">
            <a:extLst xmlns:a="http://schemas.openxmlformats.org/drawingml/2006/main">
              <a:ext uri="{FF2B5EF4-FFF2-40B4-BE49-F238E27FC236}">
                <a16:creationId xmlns:a16="http://schemas.microsoft.com/office/drawing/2014/main" id="{AF794DAC-6BBA-47DA-A800-763D28733BA5}"/>
              </a:ext>
            </a:extLst>
          </p:cNvPr>
          <p:cNvSpPr>
            <a:spLocks xmlns:a="http://schemas.openxmlformats.org/drawingml/2006/main" noGrp="1"/>
          </p:cNvSpPr>
          <p:nvPr/>
        </p:nvSpPr>
        <p:spPr>
          <a:xfrm xmlns:a="http://schemas.openxmlformats.org/drawingml/2006/main">
            <a:off x="609600" y="42005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李元龙</a:t>
            </a:r>
          </a:p>
        </p:txBody>
      </p:sp>
      <p:sp>
        <p:nvSpPr>
          <p:cNvPr id="14" name="">
            <a:extLst xmlns:a="http://schemas.openxmlformats.org/drawingml/2006/main">
              <a:ext uri="{FF2B5EF4-FFF2-40B4-BE49-F238E27FC236}">
                <a16:creationId xmlns:a16="http://schemas.microsoft.com/office/drawing/2014/main" id="{72A1C35E-B413-44AB-9B51-0076F3D07AB8}"/>
              </a:ext>
            </a:extLst>
          </p:cNvPr>
          <p:cNvSpPr>
            <a:spLocks xmlns:a="http://schemas.openxmlformats.org/drawingml/2006/main" noGrp="1"/>
          </p:cNvSpPr>
          <p:nvPr/>
        </p:nvSpPr>
        <p:spPr>
          <a:xfrm xmlns:a="http://schemas.openxmlformats.org/drawingml/2006/main">
            <a:off x="2695575" y="42005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User tests and statistics</a:t>
            </a:r>
          </a:p>
        </p:txBody>
      </p:sp>
      <p:sp>
        <p:nvSpPr>
          <p:cNvPr id="15" name="">
            <a:extLst xmlns:a="http://schemas.openxmlformats.org/drawingml/2006/main">
              <a:ext uri="{FF2B5EF4-FFF2-40B4-BE49-F238E27FC236}">
                <a16:creationId xmlns:a16="http://schemas.microsoft.com/office/drawing/2014/main" id="{F7483557-79A1-41CE-A044-44246879BCE9}"/>
              </a:ext>
            </a:extLst>
          </p:cNvPr>
          <p:cNvSpPr>
            <a:spLocks xmlns:a="http://schemas.openxmlformats.org/drawingml/2006/main" noGrp="1"/>
          </p:cNvSpPr>
          <p:nvPr/>
        </p:nvSpPr>
        <p:spPr>
          <a:xfrm xmlns:a="http://schemas.openxmlformats.org/drawingml/2006/main">
            <a:off x="609600" y="46672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黄禹轩</a:t>
            </a:r>
          </a:p>
        </p:txBody>
      </p:sp>
      <p:sp>
        <p:nvSpPr>
          <p:cNvPr id="16" name="">
            <a:extLst xmlns:a="http://schemas.openxmlformats.org/drawingml/2006/main">
              <a:ext uri="{FF2B5EF4-FFF2-40B4-BE49-F238E27FC236}">
                <a16:creationId xmlns:a16="http://schemas.microsoft.com/office/drawing/2014/main" id="{BAFB690F-C693-4EB3-9963-6157BE0C4CF6}"/>
              </a:ext>
            </a:extLst>
          </p:cNvPr>
          <p:cNvSpPr>
            <a:spLocks xmlns:a="http://schemas.openxmlformats.org/drawingml/2006/main" noGrp="1"/>
          </p:cNvSpPr>
          <p:nvPr/>
        </p:nvSpPr>
        <p:spPr>
          <a:xfrm xmlns:a="http://schemas.openxmlformats.org/drawingml/2006/main">
            <a:off x="2695575" y="46672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Data and weekly submission</a:t>
            </a:r>
          </a:p>
        </p:txBody>
      </p:sp>
      <p:sp>
        <p:nvSpPr>
          <p:cNvPr id="17" name="">
            <a:extLst xmlns:a="http://schemas.openxmlformats.org/drawingml/2006/main">
              <a:ext uri="{FF2B5EF4-FFF2-40B4-BE49-F238E27FC236}">
                <a16:creationId xmlns:a16="http://schemas.microsoft.com/office/drawing/2014/main" id="{A0EE18B1-522F-4C19-BE40-582C8D2BD290}"/>
              </a:ext>
            </a:extLst>
          </p:cNvPr>
          <p:cNvSpPr>
            <a:spLocks xmlns:a="http://schemas.openxmlformats.org/drawingml/2006/main" noGrp="1"/>
          </p:cNvSpPr>
          <p:nvPr/>
        </p:nvSpPr>
        <p:spPr>
          <a:xfrm xmlns:a="http://schemas.openxmlformats.org/drawingml/2006/main">
            <a:off x="609600" y="51339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汤鋆秋</a:t>
            </a:r>
          </a:p>
        </p:txBody>
      </p:sp>
      <p:sp>
        <p:nvSpPr>
          <p:cNvPr id="18" name="">
            <a:extLst xmlns:a="http://schemas.openxmlformats.org/drawingml/2006/main">
              <a:ext uri="{FF2B5EF4-FFF2-40B4-BE49-F238E27FC236}">
                <a16:creationId xmlns:a16="http://schemas.microsoft.com/office/drawing/2014/main" id="{28A30EB1-8499-40F7-88D5-827449E32B35}"/>
              </a:ext>
            </a:extLst>
          </p:cNvPr>
          <p:cNvSpPr>
            <a:spLocks xmlns:a="http://schemas.openxmlformats.org/drawingml/2006/main" noGrp="1"/>
          </p:cNvSpPr>
          <p:nvPr/>
        </p:nvSpPr>
        <p:spPr>
          <a:xfrm xmlns:a="http://schemas.openxmlformats.org/drawingml/2006/main">
            <a:off x="2695575" y="51339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Iteration and retesting</a:t>
            </a:r>
          </a:p>
        </p:txBody>
      </p:sp>
      <p:sp>
        <p:nvSpPr>
          <p:cNvPr id="19" name="">
            <a:extLst xmlns:a="http://schemas.openxmlformats.org/drawingml/2006/main">
              <a:ext uri="{FF2B5EF4-FFF2-40B4-BE49-F238E27FC236}">
                <a16:creationId xmlns:a16="http://schemas.microsoft.com/office/drawing/2014/main" id="{AAEF14CB-A17D-40B7-AAC8-A9E782E7E0E2}"/>
              </a:ext>
            </a:extLst>
          </p:cNvPr>
          <p:cNvSpPr>
            <a:spLocks xmlns:a="http://schemas.openxmlformats.org/drawingml/2006/main" noGrp="1"/>
          </p:cNvSpPr>
          <p:nvPr/>
        </p:nvSpPr>
        <p:spPr>
          <a:xfrm xmlns:a="http://schemas.openxmlformats.org/drawingml/2006/main">
            <a:off x="6667500" y="1762125"/>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User validation and A1</a:t>
            </a:r>
          </a:p>
        </p:txBody>
      </p:sp>
      <p:sp>
        <p:nvSpPr>
          <p:cNvPr id="20" name="">
            <a:extLst xmlns:a="http://schemas.openxmlformats.org/drawingml/2006/main">
              <a:ext uri="{FF2B5EF4-FFF2-40B4-BE49-F238E27FC236}">
                <a16:creationId xmlns:a16="http://schemas.microsoft.com/office/drawing/2014/main" id="{5285F0B9-6B50-43B3-9808-5FCFE9AFABAC}"/>
              </a:ext>
            </a:extLst>
          </p:cNvPr>
          <p:cNvSpPr>
            <a:spLocks xmlns:a="http://schemas.openxmlformats.org/drawingml/2006/main" noGrp="1"/>
          </p:cNvSpPr>
          <p:nvPr/>
        </p:nvSpPr>
        <p:spPr>
          <a:xfrm xmlns:a="http://schemas.openxmlformats.org/drawingml/2006/main">
            <a:off x="6667500" y="23431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6: 19-25 Oct</a:t>
            </a:r>
          </a:p>
        </p:txBody>
      </p:sp>
      <p:sp>
        <p:nvSpPr>
          <p:cNvPr id="21" name="">
            <a:extLst xmlns:a="http://schemas.openxmlformats.org/drawingml/2006/main">
              <a:ext uri="{FF2B5EF4-FFF2-40B4-BE49-F238E27FC236}">
                <a16:creationId xmlns:a16="http://schemas.microsoft.com/office/drawing/2014/main" id="{0196D6C9-C05F-4E15-BB98-22EF0F457F97}"/>
              </a:ext>
            </a:extLst>
          </p:cNvPr>
          <p:cNvSpPr>
            <a:spLocks xmlns:a="http://schemas.openxmlformats.org/drawingml/2006/main" noGrp="1"/>
          </p:cNvSpPr>
          <p:nvPr/>
        </p:nvSpPr>
        <p:spPr>
          <a:xfrm xmlns:a="http://schemas.openxmlformats.org/drawingml/2006/main">
            <a:off x="6667500" y="27432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Feature freeze. Link three insights to the persona, journey and design.</a:t>
            </a:r>
          </a:p>
        </p:txBody>
      </p:sp>
      <p:sp>
        <p:nvSpPr>
          <p:cNvPr id="22" name="">
            <a:extLst xmlns:a="http://schemas.openxmlformats.org/drawingml/2006/main">
              <a:ext uri="{FF2B5EF4-FFF2-40B4-BE49-F238E27FC236}">
                <a16:creationId xmlns:a16="http://schemas.microsoft.com/office/drawing/2014/main" id="{050160E8-DA4B-48B8-AE65-73CC69CE139C}"/>
              </a:ext>
            </a:extLst>
          </p:cNvPr>
          <p:cNvSpPr>
            <a:spLocks xmlns:a="http://schemas.openxmlformats.org/drawingml/2006/main" noGrp="1"/>
          </p:cNvSpPr>
          <p:nvPr/>
        </p:nvSpPr>
        <p:spPr>
          <a:xfrm xmlns:a="http://schemas.openxmlformats.org/drawingml/2006/main">
            <a:off x="6667500" y="361950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7: 26 Oct-1 Nov</a:t>
            </a:r>
          </a:p>
        </p:txBody>
      </p:sp>
      <p:sp>
        <p:nvSpPr>
          <p:cNvPr id="23" name="">
            <a:extLst xmlns:a="http://schemas.openxmlformats.org/drawingml/2006/main">
              <a:ext uri="{FF2B5EF4-FFF2-40B4-BE49-F238E27FC236}">
                <a16:creationId xmlns:a16="http://schemas.microsoft.com/office/drawing/2014/main" id="{8DF15027-0556-4391-93C6-5903FE28FB19}"/>
              </a:ext>
            </a:extLst>
          </p:cNvPr>
          <p:cNvSpPr>
            <a:spLocks xmlns:a="http://schemas.openxmlformats.org/drawingml/2006/main" noGrp="1"/>
          </p:cNvSpPr>
          <p:nvPr/>
        </p:nvSpPr>
        <p:spPr>
          <a:xfrm xmlns:a="http://schemas.openxmlformats.org/drawingml/2006/main">
            <a:off x="6667500" y="401955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Review three concepts. Test each user's own timetable, fees and privacy choices.</a:t>
            </a:r>
          </a:p>
        </p:txBody>
      </p:sp>
      <p:sp>
        <p:nvSpPr>
          <p:cNvPr id="24" name="">
            <a:extLst xmlns:a="http://schemas.openxmlformats.org/drawingml/2006/main">
              <a:ext uri="{FF2B5EF4-FFF2-40B4-BE49-F238E27FC236}">
                <a16:creationId xmlns:a16="http://schemas.microsoft.com/office/drawing/2014/main" id="{0FCA533F-4782-4CCD-9935-6950D3C22D2F}"/>
              </a:ext>
            </a:extLst>
          </p:cNvPr>
          <p:cNvSpPr>
            <a:spLocks xmlns:a="http://schemas.openxmlformats.org/drawingml/2006/main" noGrp="1"/>
          </p:cNvSpPr>
          <p:nvPr/>
        </p:nvSpPr>
        <p:spPr>
          <a:xfrm xmlns:a="http://schemas.openxmlformats.org/drawingml/2006/main">
            <a:off x="6667500" y="48577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8: 2-6 Nov</a:t>
            </a:r>
          </a:p>
        </p:txBody>
      </p:sp>
      <p:sp>
        <p:nvSpPr>
          <p:cNvPr id="25" name="">
            <a:extLst xmlns:a="http://schemas.openxmlformats.org/drawingml/2006/main">
              <a:ext uri="{FF2B5EF4-FFF2-40B4-BE49-F238E27FC236}">
                <a16:creationId xmlns:a16="http://schemas.microsoft.com/office/drawing/2014/main" id="{565620A4-280D-478C-B8ED-F3CBF7C3848F}"/>
              </a:ext>
            </a:extLst>
          </p:cNvPr>
          <p:cNvSpPr>
            <a:spLocks xmlns:a="http://schemas.openxmlformats.org/drawingml/2006/main" noGrp="1"/>
          </p:cNvSpPr>
          <p:nvPr/>
        </p:nvSpPr>
        <p:spPr>
          <a:xfrm xmlns:a="http://schemas.openxmlformats.org/drawingml/2006/main">
            <a:off x="6667500" y="52578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Finalise the BMC, evidence and six slides. Submit by 6 Nov, 23:59 via LMO.</a:t>
            </a:r>
          </a:p>
        </p:txBody>
      </p:sp>
      <p:sp>
        <p:nvSpPr>
          <p:cNvPr id="26" name="">
            <a:extLst xmlns:a="http://schemas.openxmlformats.org/drawingml/2006/main">
              <a:ext uri="{FF2B5EF4-FFF2-40B4-BE49-F238E27FC236}">
                <a16:creationId xmlns:a16="http://schemas.microsoft.com/office/drawing/2014/main" id="{5C8A422C-9D77-4829-9FBB-6B620CBCADA9}"/>
              </a:ext>
            </a:extLst>
          </p:cNvPr>
          <p:cNvSpPr>
            <a:spLocks xmlns:a="http://schemas.openxmlformats.org/drawingml/2006/main" noGrp="1"/>
          </p:cNvSpPr>
          <p:nvPr/>
        </p:nvSpPr>
        <p:spPr>
          <a:xfrm xmlns:a="http://schemas.openxmlformats.org/drawingml/2006/main">
            <a:off x="609600" y="6048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Demo scope ready for user tests. Live email, physical devices and production setup remain open.</a:t>
            </a:r>
          </a:p>
        </p:txBody>
      </p:sp>
    </p:spTree>
    <p:extLst>
      <p:ext uri="{BB962C8B-B14F-4D97-AF65-F5344CB8AC3E}">
        <p14:creationId xmlns:p14="http://schemas.microsoft.com/office/powerpoint/2010/main" val="2363011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2026-10-19T13:47:52.6800000Z</dcterms:created>
  <dcterms:modified xsi:type="dcterms:W3CDTF">2026-10-19T13:47:52.6800000Z</dcterms:modified>
</coreProperties>
</file>