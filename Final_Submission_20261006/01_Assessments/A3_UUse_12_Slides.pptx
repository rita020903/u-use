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950ee1dc2c49d5" /><Relationship Type="http://schemas.openxmlformats.org/officeDocument/2006/relationships/extended-properties" Target="/docProps/app.xml" Id="R2d1bc5129a454e99" /><Relationship Type="http://schemas.openxmlformats.org/officeDocument/2006/relationships/officeDocument" Target="/ppt/presentation.xml" Id="R2faba8adfb3f4590" /></Relationships>
</file>

<file path=ppt/presentation.xml><?xml version="1.0" encoding="utf-8"?>
<p:presentation xmlns:p="http://schemas.openxmlformats.org/presentationml/2006/main">
  <p:sldMasterIdLst>
    <p:sldMasterId xmlns:r="http://schemas.openxmlformats.org/officeDocument/2006/relationships" id="2147483648" r:id="R9db063d86f1e43e8"/>
  </p:sldMasterIdLst>
  <p:notesMasterIdLst>
    <p:notesMasterId xmlns:r="http://schemas.openxmlformats.org/officeDocument/2006/relationships" r:id="R9b80df29353a4e1d"/>
  </p:notesMasterIdLst>
  <p:sldIdLst>
    <p:sldId xmlns:r="http://schemas.openxmlformats.org/officeDocument/2006/relationships" id="256" r:id="Rf20a23f96bd54cc4"/>
    <p:sldId xmlns:r="http://schemas.openxmlformats.org/officeDocument/2006/relationships" id="257" r:id="R8367a39aa66349cf"/>
    <p:sldId xmlns:r="http://schemas.openxmlformats.org/officeDocument/2006/relationships" id="258" r:id="Rd061e6ac41974b52"/>
    <p:sldId xmlns:r="http://schemas.openxmlformats.org/officeDocument/2006/relationships" id="259" r:id="R31704b23048c42b9"/>
    <p:sldId xmlns:r="http://schemas.openxmlformats.org/officeDocument/2006/relationships" id="260" r:id="R58866bcd410c4346"/>
    <p:sldId xmlns:r="http://schemas.openxmlformats.org/officeDocument/2006/relationships" id="261" r:id="R437f79255f8942aa"/>
    <p:sldId xmlns:r="http://schemas.openxmlformats.org/officeDocument/2006/relationships" id="262" r:id="Ree46dca6cb6f4048"/>
    <p:sldId xmlns:r="http://schemas.openxmlformats.org/officeDocument/2006/relationships" id="263" r:id="R553f64ca1a1c466f"/>
    <p:sldId xmlns:r="http://schemas.openxmlformats.org/officeDocument/2006/relationships" id="264" r:id="R558527d7b0a94444"/>
    <p:sldId xmlns:r="http://schemas.openxmlformats.org/officeDocument/2006/relationships" id="265" r:id="R30c19b8be7c9489b"/>
    <p:sldId xmlns:r="http://schemas.openxmlformats.org/officeDocument/2006/relationships" id="266" r:id="Rcd9d9e0c4da645bc"/>
    <p:sldId xmlns:r="http://schemas.openxmlformats.org/officeDocument/2006/relationships" id="267" r:id="R172aa4b10fe640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70f95fcc0f4743" /><Relationship Type="http://schemas.openxmlformats.org/officeDocument/2006/relationships/slideMaster" Target="/ppt/slideMasters/slideMaster1.xml" Id="R9db063d86f1e43e8" /><Relationship Type="http://schemas.openxmlformats.org/officeDocument/2006/relationships/notesMaster" Target="/ppt/notesMasters/notesMaster1.xml" Id="R9b80df29353a4e1d" /><Relationship Type="http://schemas.openxmlformats.org/officeDocument/2006/relationships/presProps" Target="/ppt/presProps.xml" Id="Ra18404593db74be2" /><Relationship Type="http://schemas.openxmlformats.org/officeDocument/2006/relationships/tableStyles" Target="/ppt/tableStyles.xml" Id="R5e31f1b4a50f4323" /><Relationship Type="http://schemas.openxmlformats.org/officeDocument/2006/relationships/slide" Target="/ppt/slides/slide1.xml" Id="Rf20a23f96bd54cc4" /><Relationship Type="http://schemas.openxmlformats.org/officeDocument/2006/relationships/slide" Target="/ppt/slides/slide2.xml" Id="R8367a39aa66349cf" /><Relationship Type="http://schemas.openxmlformats.org/officeDocument/2006/relationships/slide" Target="/ppt/slides/slide3.xml" Id="Rd061e6ac41974b52" /><Relationship Type="http://schemas.openxmlformats.org/officeDocument/2006/relationships/slide" Target="/ppt/slides/slide4.xml" Id="R31704b23048c42b9" /><Relationship Type="http://schemas.openxmlformats.org/officeDocument/2006/relationships/slide" Target="/ppt/slides/slide5.xml" Id="R58866bcd410c4346" /><Relationship Type="http://schemas.openxmlformats.org/officeDocument/2006/relationships/slide" Target="/ppt/slides/slide6.xml" Id="R437f79255f8942aa" /><Relationship Type="http://schemas.openxmlformats.org/officeDocument/2006/relationships/slide" Target="/ppt/slides/slide7.xml" Id="Ree46dca6cb6f4048" /><Relationship Type="http://schemas.openxmlformats.org/officeDocument/2006/relationships/slide" Target="/ppt/slides/slide8.xml" Id="R553f64ca1a1c466f" /><Relationship Type="http://schemas.openxmlformats.org/officeDocument/2006/relationships/slide" Target="/ppt/slides/slide9.xml" Id="R558527d7b0a94444" /><Relationship Type="http://schemas.openxmlformats.org/officeDocument/2006/relationships/slide" Target="/ppt/slides/slide10.xml" Id="R30c19b8be7c9489b" /><Relationship Type="http://schemas.openxmlformats.org/officeDocument/2006/relationships/slide" Target="/ppt/slides/slide11.xml" Id="Rcd9d9e0c4da645bc" /><Relationship Type="http://schemas.openxmlformats.org/officeDocument/2006/relationships/slide" Target="/ppt/slides/slide12.xml" Id="R172aa4b10fe640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d58b347f094c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4ec83b8e254bc2" /><Relationship Type="http://schemas.openxmlformats.org/officeDocument/2006/relationships/notesMaster" Target="/ppt/notesMasters/notesMaster1.xml" Id="Re4c8a2b0c7b1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e9a7d4252f4243" /><Relationship Type="http://schemas.openxmlformats.org/officeDocument/2006/relationships/notesMaster" Target="/ppt/notesMasters/notesMaster1.xml" Id="R39fce3fcdfe446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2dda1322104448" /><Relationship Type="http://schemas.openxmlformats.org/officeDocument/2006/relationships/notesMaster" Target="/ppt/notesMasters/notesMaster1.xml" Id="Ra5f070beb82f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bcf1d2e382401d" /><Relationship Type="http://schemas.openxmlformats.org/officeDocument/2006/relationships/notesMaster" Target="/ppt/notesMasters/notesMaster1.xml" Id="R6872ff607dcb44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458cc9fd0b4378" /><Relationship Type="http://schemas.openxmlformats.org/officeDocument/2006/relationships/notesMaster" Target="/ppt/notesMasters/notesMaster1.xml" Id="R2c1a4246129a4a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5ea5d933d84d61" /><Relationship Type="http://schemas.openxmlformats.org/officeDocument/2006/relationships/notesMaster" Target="/ppt/notesMasters/notesMaster1.xml" Id="R6e465ed096b54d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69c8d19d464468" /><Relationship Type="http://schemas.openxmlformats.org/officeDocument/2006/relationships/notesMaster" Target="/ppt/notesMasters/notesMaster1.xml" Id="Rb1cb0e67b1584f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adf37db4d340b3" /><Relationship Type="http://schemas.openxmlformats.org/officeDocument/2006/relationships/notesMaster" Target="/ppt/notesMasters/notesMaster1.xml" Id="R096410bfb26547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47fb45fa464517" /><Relationship Type="http://schemas.openxmlformats.org/officeDocument/2006/relationships/notesMaster" Target="/ppt/notesMasters/notesMaster1.xml" Id="Re5ef4889fa1c4a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4ff8d58ae14609" /><Relationship Type="http://schemas.openxmlformats.org/officeDocument/2006/relationships/notesMaster" Target="/ppt/notesMasters/notesMaster1.xml" Id="Rd4a28e807f4e49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e3359a68b2447c" /><Relationship Type="http://schemas.openxmlformats.org/officeDocument/2006/relationships/notesMaster" Target="/ppt/notesMasters/notesMaster1.xml" Id="R944ab7049ea343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d080795d1847b6" /><Relationship Type="http://schemas.openxmlformats.org/officeDocument/2006/relationships/notesMaster" Target="/ppt/notesMasters/notesMaster1.xml" Id="R74ad2b407d86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has no confirmed separate team name or supplied member backgrounds. U Use Team is a working name, approved as a temporary label rather than an invented registered entity. Roles follow Rita's allocation. Cover credit: built-in image generator, 19 Oct 2026. Image is illustrative props, not supply or research evidence. Engineering baseline cbb28a683bc9d73f128fbb980a8e0a05abbb90fb. Acceptance window 18-19 October 2026. Isolated business tests, TypeScript, production build/API checks, OCR regression and CI passed within recorded scope. See https://github.com/Rita020903/U-Use/blob/cbb28a683bc9d73f128fbb980a8e0a05abbb90fb/xjtlu-market-app/RELEASE_ACCEPTANCE.md . These use synthetic QA accounts and are not customer trials, real trades or public-launch certification. Live email, physical devices, Safari/GPS/network and production operation/recovery remain open. Payments and deposits are offline records, with no platform escrow or insurance.</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Team-provided interview summaries V001-V015, confirmed by Rita as reflecting team interviews. These are edited qualitative paraphrases, not verbatim quotations or a representative survey. Dates, consent and anonymised raw-record links remain to be completed privately. Negative and conditional responses remain in Research_Summaries.md. Synthetic 100-person practice data is separate and never a real sample.</a:t>
            </a:r>
          </a:p>
          <a:p xmlns:a="http://schemas.openxmlformats.org/drawingml/2006/main">
            <a:r>
              <a:t>XEC population context: more than 4,000 students in a May 2026 Xinhua Daily report republished by XJTLU, https://www.xjtlu.edu.cn/zh/news/2026/05/xinhuaribao20zhounianxinwen . This is dated media context, not an October register or demand. Approximately 430 across eight DTS classes: Rita, 19 October 2026, not verified recruitment or active users. Four-week assumptions: 80 invites, 10% posting, 25% completion, four responsive owners with two fulfilments each. MIN(80*.1*.25,4*2)=2 completed requests. All outputs are planning, including supply. Source: unchanged A1 workbook Pilot model B5:B14 and input rows. No individual class count is invented.</a:t>
            </a:r>
          </a:p>
          <a:p xmlns:a="http://schemas.openxmlformats.org/drawingml/2006/main">
            <a:r>
              <a:t>Visible service scope reviewed 19 October 2026: Xianyu https://www.goofish.com/ , Renrenzu https://www.rrzu.com/home/index and https://m.rrzu.com/about/us (official indexed introduction, direct fetch unavailable), ATRenew https://ir.atrenew.com/company/company-profile . Service scope does not prove globally absent features. Task comparisons and prospective differentiation remain hypotheses.</a:t>
            </a:r>
          </a:p>
          <a:p xmlns:a="http://schemas.openxmlformats.org/drawingml/2006/main">
            <a:r>
              <a:t>Slide chart is an editable snapshot of unchanged A1 workbook outputs B7, B8 and B10. Original formulas remain in that external workbook.</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USP is coordination for a planned campus item need, not proven exclusivity or a protected moat. Compare relevant task outcomes with the named alternatives and known peers. No listing or recommendation guarantees supply. Buy and permanent swap transfer ownership; only temporary borrowing/rental requires return. Visible service scope reviewed 19 October 2026: Xianyu https://www.goofish.com/ , Renrenzu https://www.rrzu.com/home/index and https://m.rrzu.com/about/us (official indexed introduction, direct fetch unavailable), ATRenew https://ir.atrenew.com/company/company-profile . Service scope does not prove globally absent features. Task comparisons and prospective differentiation remain hypotheses.</a:t>
            </a:r>
          </a:p>
          <a:p xmlns:a="http://schemas.openxmlformats.org/drawingml/2006/main">
            <a:r>
              <a:t>Engineering baseline cbb28a683bc9d73f128fbb980a8e0a05abbb90fb. Acceptance window 18-19 October 2026. Isolated business tests, TypeScript, production build/API checks, OCR regression and CI passed within recorded scope. See https://github.com/Rita020903/U-Use/blob/cbb28a683bc9d73f128fbb980a8e0a05abbb90fb/xjtlu-market-app/RELEASE_ACCEPTANCE.md . These use synthetic QA accounts and are not customer trials, real trades or public-launch certification. Live email, physical devices, Safari/GPS/network and production operation/recovery remain open. Payments and deposits are offline records, with no platform escrow or insurance.</a:t>
            </a:r>
          </a:p>
          <a:p xmlns:a="http://schemas.openxmlformats.org/drawingml/2006/main">
            <a:r>
              <a:t>Both screenshots come from the actual local QA run with synthetic accounts. The second is a detail crop. These images do not establish real trades or participant success.</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source inspected 20 Oct 2026: xjtlu-market-app/lib/timetable-import.ts (PDF.js and browser-local OCR), timetable.ts (individual term, teaching-week and exception validation), matching.ts (14-day horizon, 15-minute steps, explicit availability, both schedules, product and person booking conflicts, public handoff constraints, travel/lead buffers and ranking; up to four suggestions, spaced by at least an hour). Ranking favours earlier dates and a reviewed class-location relationship, with a proximity-to-midday heuristic. It is not trained AI or guaranteed route travel. Raw OCR is not a public schedule. Engineering baseline cbb28a683bc9d73f128fbb980a8e0a05abbb90fb. Acceptance window 18-19 October 2026. Isolated business tests, TypeScript, production build/API checks, OCR regression and CI passed within recorded scope. See https://github.com/Rita020903/U-Use/blob/cbb28a683bc9d73f128fbb980a8e0a05abbb90fb/xjtlu-market-app/RELEASE_ACCEPTANCE.md . These use synthetic QA accounts and are not customer trials, real trades or public-launch certification. Live email, physical devices, Safari/GPS/network and production operation/recovery remain open. Payments and deposits are offline records, with no platform escrow or insurance.</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four-week assumptions: pilot platform fees CNY0, cash budget CNY180 (hosting 60, email 20, materials 50, contingency 50), two expected completions with 50% fee-bearing share and CNY20 paid consideration produce CNY20 GMV. A hypothetical later 5% fee produces CNY1 before costs. Refundable deposits, free borrowing and swaps are excluded. Team time: 56 hours at assumed CNY20/hour, CNY1,120 opportunity cost, not wages paid. Pilot cash result -180. New A2 six-month forecasts are separate and retain the first-month 180 cash envelope.</a:t>
            </a:r>
          </a:p>
          <a:p xmlns:a="http://schemas.openxmlformats.org/drawingml/2006/main">
            <a:r>
              <a:t>Partners are proposed, not signed or university-endorsed. The development path is to test useful supply and repeat tasks, then price/cost viability. The 430-person cohort is not assumed to generate enough transactions for break-even. New A2 model exposes the weak six-month base case.</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and role allocations come from Rita. The user has not supplied separate team name or relevant member backgrounds. Capability areas are the work domains of the agreed roles, not claims of qualifications, employment, expert proficiency or completed contribution. Each member must confirm genuine skills and link actual work before submission. Assigned outputs are responsibilities, not completed milestones. 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baseline cbb28a683bc9d73f128fbb980a8e0a05abbb90fb. Acceptance window 18-19 October 2026. Isolated business tests, TypeScript, production build/API checks, OCR regression and CI passed within recorded scope. See https://github.com/Rita020903/U-Use/blob/cbb28a683bc9d73f128fbb980a8e0a05abbb90fb/xjtlu-market-app/RELEASE_ACCEPTANCE.md . These use synthetic QA accounts and are not customer trials, real trades or public-launch certification. Live email, physical devices, Safari/GPS/network and production operation/recovery remain open. Payments and deposits are offline records, with no platform escrow or insurance.</a:t>
            </a:r>
          </a:p>
          <a:p xmlns:a="http://schemas.openxmlformats.org/drawingml/2006/main">
            <a:r>
              <a:t>All future milestones are planned, contingent on real evidence, access and approval. No registered users, conversion rates or completed real trades have been established by the engineering fixtures.</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Visible service scope reviewed 19 October 2026: Xianyu https://www.goofish.com/ , Renrenzu https://www.rrzu.com/home/index and https://m.rrzu.com/about/us (official indexed introduction, direct fetch unavailable), ATRenew https://ir.atrenew.com/company/company-profile . Service scope does not prove globally absent features. Task comparisons and prospective differentiation remain hypotheses.</a:t>
            </a:r>
          </a:p>
          <a:p xmlns:a="http://schemas.openxmlformats.org/drawingml/2006/main">
            <a:r>
              <a:t>Five differentiation dimensions are hypotheses to benchmark, not five established unique or sustainable advantages. No owned strategic dataset, patent, exclusivity, endorsement or network effect is supplied.</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controls are proposed management responsibilities, not evidence that incidents occurred or that production controls are fully validated. The team must maintain a dated risk register with likelihood/impact, trigger, owner, control, contingency and test evidence before the final pitch. Engineering baseline cbb28a683bc9d73f128fbb980a8e0a05abbb90fb. Acceptance window 18-19 October 2026. Isolated business tests, TypeScript, production build/API checks, OCR regression and CI passed within recorded scope. See https://github.com/Rita020903/U-Use/blob/cbb28a683bc9d73f128fbb980a8e0a05abbb90fb/xjtlu-market-app/RELEASE_ACCEPTANCE.md . These use synthetic QA accounts and are not customer trials, real trades or public-launch certification. Live email, physical devices, Safari/GPS/network and production operation/recovery remain open. Payments and deposits are offline records, with no platform escrow or insurance.</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metrics, not achieved impacts. No avoided-purchase, spend-saving, job-creation or carbon figure is invented. Counterfactual buying is not directly proven by using the service. Report denominator, period, method, uncertainty and failures.</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A2_Current/UUse_A2_Financial_Model.xlsx, Forecast I7=38,I13=13,I15=7.2,I16=680,I18=-674.2,I27=225.8,H29=.3,H30=334, funding rows34:37. This is a proposed, unapproved capped non-dilutive validation request, not received investment. No equity, grant eligibility, IRR or repayment is supplied. Original model formulas remain external, the chart is a new editable literal snapshot. These financials are an October planning case and must be refreshed before March 2027.</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brief p.18 heading contains a 2026 typo, but its p.5 table and p.18 body identify March 2027. Confirm the formal session notice. This is a working draft, not a completed final submission or evidence of future attendance. A Q&amp;A bank, risk register, demonstration files, contribution history and receipt remain required.</a:t>
            </a:r>
          </a:p>
          <a:p xmlns:a="http://schemas.openxmlformats.org/drawingml/2006/main">
            <a:r>
              <a:t>Source: ENT303TC - 2026-27 CW - FINAL.pdf, supplied by Rita on 20 October 2026. A1 requirements pp.7-12, A2 pp.13-17, A3 pp.18-22, A4 pp.23-29, general conditions pp.30-31. The handbook provides the A1 6 November 23:59 clock time. Later portal notices take precedence. No portal submission or approved declaration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ad0992e35645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3b973cf2bf48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daa00be02e45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762812611846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02ca2ba43b46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e13f0b148c4d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C72CAE-4B5D-4B02-9C17-1AC3ADC34E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19C009-D857-4FBE-A1E1-616DCE7C75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53F4C2-C6BA-4929-A301-AC157114A0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49F556-E670-486D-83D6-CB1D59979E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45A79B-3D53-46FE-BDCB-A0532E6CAE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D24C5C-B91A-4689-B476-ECF5BFD12B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000DFE-F92F-481F-A032-C9E6716437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B66A18-D560-4BF2-A43A-C3F897A478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D7ED7-339C-439D-BD81-F4758029D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BBB86-0D16-4421-A3EB-CCDB984499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7f144824ea4c7a" /><Relationship Type="http://schemas.openxmlformats.org/officeDocument/2006/relationships/slideLayout" Target="/ppt/slideLayouts/slideLayout1.xml" Id="R397fcde86a0d4841" /><Relationship Type="http://schemas.openxmlformats.org/officeDocument/2006/relationships/slideLayout" Target="/ppt/slideLayouts/slideLayout2.xml" Id="R8332e6d9d6c94f20" /><Relationship Type="http://schemas.openxmlformats.org/officeDocument/2006/relationships/slideLayout" Target="/ppt/slideLayouts/slideLayout3.xml" Id="Rbbafd2a85f464a03" /><Relationship Type="http://schemas.openxmlformats.org/officeDocument/2006/relationships/slideLayout" Target="/ppt/slideLayouts/slideLayout4.xml" Id="Reede0285e0354968" /><Relationship Type="http://schemas.openxmlformats.org/officeDocument/2006/relationships/slideLayout" Target="/ppt/slideLayouts/slideLayout5.xml" Id="R9c7b028f21464832" /><Relationship Type="http://schemas.openxmlformats.org/officeDocument/2006/relationships/slideLayout" Target="/ppt/slideLayouts/slideLayout6.xml" Id="R7ce02079416e41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7fcde86a0d4841"/>
    <p:sldLayoutId xmlns:r="http://schemas.openxmlformats.org/officeDocument/2006/relationships" id="2147483650" r:id="R8332e6d9d6c94f20"/>
    <p:sldLayoutId xmlns:r="http://schemas.openxmlformats.org/officeDocument/2006/relationships" id="2147483651" r:id="Rbbafd2a85f464a03"/>
    <p:sldLayoutId xmlns:r="http://schemas.openxmlformats.org/officeDocument/2006/relationships" id="2147483652" r:id="Reede0285e0354968"/>
    <p:sldLayoutId xmlns:r="http://schemas.openxmlformats.org/officeDocument/2006/relationships" id="2147483653" r:id="R9c7b028f21464832"/>
    <p:sldLayoutId xmlns:r="http://schemas.openxmlformats.org/officeDocument/2006/relationships" id="2147483654" r:id="R7ce02079416e41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7fb56799ee4545" /><Relationship Type="http://schemas.openxmlformats.org/officeDocument/2006/relationships/image" Target="/ppt/media/image.png" Id="Ra7d241cbfdb141e5" /><Relationship Type="http://schemas.openxmlformats.org/officeDocument/2006/relationships/notesSlide" Target="/ppt/notesSlides/notesSlide1.xml" Id="R6e145e86884b40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04e63402c4c7e" /><Relationship Type="http://schemas.openxmlformats.org/officeDocument/2006/relationships/chart" Target="/ppt/slides/charts/chart1.xml" Id="Rf4b9d97d88884a2f" /><Relationship Type="http://schemas.openxmlformats.org/officeDocument/2006/relationships/notesSlide" Target="/ppt/notesSlides/notesSlide2.xml" Id="Rc501b43ad85242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4a3d74ea52409d" /><Relationship Type="http://schemas.openxmlformats.org/officeDocument/2006/relationships/image" Target="/ppt/media/image.jpeg" Id="R6fc6c7df5198417a" /><Relationship Type="http://schemas.openxmlformats.org/officeDocument/2006/relationships/image" Target="/ppt/media/image2.jpeg" Id="Rfefa36efe67b4843" /><Relationship Type="http://schemas.openxmlformats.org/officeDocument/2006/relationships/notesSlide" Target="/ppt/notesSlides/notesSlide3.xml" Id="Rcd24064429664c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e480b9c0fe4e56" /><Relationship Type="http://schemas.openxmlformats.org/officeDocument/2006/relationships/notesSlide" Target="/ppt/notesSlides/notesSlide4.xml" Id="R079c45b797834b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3c93208b8b4290" /><Relationship Type="http://schemas.openxmlformats.org/officeDocument/2006/relationships/chart" Target="/ppt/slides/charts/chart2.xml" Id="R7cdf496fc79548a2" /><Relationship Type="http://schemas.openxmlformats.org/officeDocument/2006/relationships/notesSlide" Target="/ppt/notesSlides/notesSlide5.xml" Id="Read36d7352d94b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a0b8abae5a46ac" /><Relationship Type="http://schemas.openxmlformats.org/officeDocument/2006/relationships/notesSlide" Target="/ppt/notesSlides/notesSlide6.xml" Id="R9b73dcf86aa942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45576dee5246bc" /><Relationship Type="http://schemas.openxmlformats.org/officeDocument/2006/relationships/notesSlide" Target="/ppt/notesSlides/notesSlide7.xml" Id="Racf7c7f25ae14c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fb603e824647a7" /><Relationship Type="http://schemas.openxmlformats.org/officeDocument/2006/relationships/notesSlide" Target="/ppt/notesSlides/notesSlide8.xml" Id="Ra82d7abca36d4d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10f4d7376e4495" /><Relationship Type="http://schemas.openxmlformats.org/officeDocument/2006/relationships/notesSlide" Target="/ppt/notesSlides/notesSlide9.xml" Id="R7227cc2c4c9f48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cfbf835ac44466" /><Relationship Type="http://schemas.openxmlformats.org/officeDocument/2006/relationships/notesSlide" Target="/ppt/notesSlides/notesSlide10.xml" Id="Rfce62fe531fe4c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0542493b7e4f97" /><Relationship Type="http://schemas.openxmlformats.org/officeDocument/2006/relationships/chart" Target="/ppt/slides/charts/chart3.xml" Id="Rbb901200b64f4964" /><Relationship Type="http://schemas.openxmlformats.org/officeDocument/2006/relationships/notesSlide" Target="/ppt/notesSlides/notesSlide11.xml" Id="R3a0eea5eeb5b47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54256f036a423e" /><Relationship Type="http://schemas.openxmlformats.org/officeDocument/2006/relationships/notesSlide" Target="/ppt/notesSlides/notesSlide12.xml" Id="Rc2a19fa1e7e047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2B24"/>
                </a:solidFill>
                <a:latin typeface="Arial"/>
                <a:ea typeface="Arial"/>
                <a:cs typeface="Arial"/>
              </a:rPr>
              <a:t>Four-week SOM planning case</a:t>
            </a:r>
          </a:p>
        </c:rich>
      </c:tx>
      <c:overlay val="0"/>
      <c:txPr>
        <a:bodyPr xmlns:a="http://schemas.openxmlformats.org/drawingml/2006/main" anchorCtr="1"/>
        <a:lstStyle xmlns:a="http://schemas.openxmlformats.org/drawingml/2006/main"/>
        <a:p xmlns:a="http://schemas.openxmlformats.org/drawingml/2006/main">
          <a:pPr>
            <a:defRPr sz="1650" b="1">
              <a:solidFill>
                <a:srgbClr val="172B24"/>
              </a:solidFill>
              <a:latin typeface="Arial"/>
              <a:ea typeface="Arial"/>
              <a:cs typeface="Arial"/>
            </a:defRPr>
          </a:pPr>
        </a:p>
      </c:txPr>
    </c:title>
    <c:plotArea>
      <c:barChart>
        <c:barDir val="bar"/>
        <c:grouping val="clustered"/>
        <c:varyColors val="0"/>
        <c:ser>
          <c:idx val="0"/>
          <c:order val="0"/>
          <c:tx>
            <c:v>Four-week SOM planning case</c:v>
          </c:tx>
          <c:spPr>
            <a:solidFill xmlns:a="http://schemas.openxmlformats.org/drawingml/2006/main">
              <a:srgbClr val="C26D55"/>
            </a:solidFill>
          </c:spPr>
          <c:invertIfNegative val="0"/>
          <c:dPt>
            <c:idx val="0"/>
            <c:invertIfNegative val="0"/>
            <c:spPr>
              <a:solidFill xmlns:a="http://schemas.openxmlformats.org/drawingml/2006/main">
                <a:srgbClr val="C26D55"/>
              </a:solidFill>
            </c:spPr>
          </c:dPt>
          <c:dPt>
            <c:idx val="1"/>
            <c:invertIfNegative val="0"/>
            <c:spPr>
              <a:solidFill xmlns:a="http://schemas.openxmlformats.org/drawingml/2006/main">
                <a:srgbClr val="24634D"/>
              </a:solidFill>
            </c:spPr>
          </c:dPt>
          <c:dPt>
            <c:idx val="2"/>
            <c:invertIfNegative val="0"/>
            <c:spPr>
              <a:solidFill xmlns:a="http://schemas.openxmlformats.org/drawingml/2006/main">
                <a:srgbClr val="426D91"/>
              </a:solidFill>
            </c:spPr>
          </c:dPt>
          <c:cat>
            <c:strRef>
              <c:f>'Chart Data'!$A$2:$A$4</c:f>
              <c:strCache>
                <c:ptCount val="3"/>
                <c:pt idx="0">
                  <c:v>Completed</c:v>
                </c:pt>
                <c:pt idx="1">
                  <c:v>Requests</c:v>
                </c:pt>
                <c:pt idx="2">
                  <c:v>Invited</c:v>
                </c:pt>
              </c:strCache>
            </c:strRef>
          </c:cat>
          <c:val>
            <c:numRef>
              <c:f>'Chart Data'!$B$2:$B$4</c:f>
              <c:numCache>
                <c:formatCode>0</c:formatCode>
                <c:ptCount val="3"/>
                <c:pt idx="0">
                  <c:v>2</c:v>
                </c:pt>
                <c:pt idx="1">
                  <c:v>8</c:v>
                </c:pt>
                <c:pt idx="2">
                  <c:v>80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72B24"/>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C6A63"/>
                </a:solidFill>
                <a:latin typeface="Arial"/>
                <a:ea typeface="Arial"/>
                <a:cs typeface="Arial"/>
              </a:defRPr>
            </a:pPr>
          </a:p>
        </c:txPr>
        <c:crossAx val="48672768"/>
      </c:catAx>
      <c:valAx>
        <c:axId val="48672768"/>
        <c:scaling>
          <c:orientation val="minMax"/>
          <c:max val="9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72B24"/>
                </a:solidFill>
                <a:latin typeface="Arial"/>
                <a:ea typeface="Arial"/>
                <a:cs typeface="Arial"/>
              </a:rPr>
              <a:t>CNY180 four-week cash budget</a:t>
            </a:r>
          </a:p>
        </c:rich>
      </c:tx>
      <c:overlay val="0"/>
      <c:txPr>
        <a:bodyPr xmlns:a="http://schemas.openxmlformats.org/drawingml/2006/main" anchorCtr="1"/>
        <a:lstStyle xmlns:a="http://schemas.openxmlformats.org/drawingml/2006/main"/>
        <a:p xmlns:a="http://schemas.openxmlformats.org/drawingml/2006/main">
          <a:pPr>
            <a:defRPr sz="1575" b="1">
              <a:solidFill>
                <a:srgbClr val="172B24"/>
              </a:solidFill>
              <a:latin typeface="Arial"/>
              <a:ea typeface="Arial"/>
              <a:cs typeface="Arial"/>
            </a:defRPr>
          </a:pPr>
        </a:p>
      </c:txPr>
    </c:title>
    <c:plotArea>
      <c:barChart>
        <c:barDir val="bar"/>
        <c:grouping val="clustered"/>
        <c:varyColors val="0"/>
        <c:ser>
          <c:idx val="0"/>
          <c:order val="0"/>
          <c:tx>
            <c:v>CNY180 four-week cash budget</c:v>
          </c:tx>
          <c:spPr>
            <a:solidFill xmlns:a="http://schemas.openxmlformats.org/drawingml/2006/main">
              <a:srgbClr val="8C9C50"/>
            </a:solidFill>
          </c:spPr>
          <c:invertIfNegative val="0"/>
          <c:dPt>
            <c:idx val="0"/>
            <c:invertIfNegative val="0"/>
            <c:spPr>
              <a:solidFill xmlns:a="http://schemas.openxmlformats.org/drawingml/2006/main">
                <a:srgbClr val="8C9C50"/>
              </a:solidFill>
            </c:spPr>
          </c:dPt>
          <c:dPt>
            <c:idx val="1"/>
            <c:invertIfNegative val="0"/>
            <c:spPr>
              <a:solidFill xmlns:a="http://schemas.openxmlformats.org/drawingml/2006/main">
                <a:srgbClr val="C26D55"/>
              </a:solidFill>
            </c:spPr>
          </c:dPt>
          <c:dPt>
            <c:idx val="2"/>
            <c:invertIfNegative val="0"/>
            <c:spPr>
              <a:solidFill xmlns:a="http://schemas.openxmlformats.org/drawingml/2006/main">
                <a:srgbClr val="426D91"/>
              </a:solidFill>
            </c:spPr>
          </c:dPt>
          <c:dPt>
            <c:idx val="3"/>
            <c:invertIfNegative val="0"/>
            <c:spPr>
              <a:solidFill xmlns:a="http://schemas.openxmlformats.org/drawingml/2006/main">
                <a:srgbClr val="24634D"/>
              </a:solidFill>
            </c:spPr>
          </c:dPt>
          <c:cat>
            <c:strRef>
              <c:f>'Chart Data'!$A$2:$A$5</c:f>
              <c:strCache>
                <c:ptCount val="4"/>
                <c:pt idx="0">
                  <c:v>Contingency</c:v>
                </c:pt>
                <c:pt idx="1">
                  <c:v>Materials</c:v>
                </c:pt>
                <c:pt idx="2">
                  <c:v>Email</c:v>
                </c:pt>
                <c:pt idx="3">
                  <c:v>Hosting</c:v>
                </c:pt>
              </c:strCache>
            </c:strRef>
          </c:cat>
          <c:val>
            <c:numRef>
              <c:f>'Chart Data'!$B$2:$B$5</c:f>
              <c:numCache>
                <c:formatCode>0</c:formatCode>
                <c:ptCount val="4"/>
                <c:pt idx="0">
                  <c:v>50</c:v>
                </c:pt>
                <c:pt idx="1">
                  <c:v>50</c:v>
                </c:pt>
                <c:pt idx="2">
                  <c:v>20</c:v>
                </c:pt>
                <c:pt idx="3">
                  <c:v>60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b="1">
                  <a:solidFill>
                    <a:srgbClr val="172B24"/>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C6A63"/>
                </a:solidFill>
                <a:latin typeface="Arial"/>
                <a:ea typeface="Arial"/>
                <a:cs typeface="Arial"/>
              </a:defRPr>
            </a:pPr>
          </a:p>
        </c:txPr>
        <c:crossAx val="48672768"/>
      </c:catAx>
      <c:valAx>
        <c:axId val="48672768"/>
        <c:scaling>
          <c:orientation val="minMax"/>
          <c:max val="7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2B24"/>
                </a:solidFill>
                <a:latin typeface="Arial"/>
                <a:ea typeface="Arial"/>
                <a:cs typeface="Arial"/>
              </a:rPr>
              <a:t>Six-month Base case (CNY)</a:t>
            </a:r>
          </a:p>
        </c:rich>
      </c:tx>
      <c:overlay val="0"/>
      <c:txPr>
        <a:bodyPr xmlns:a="http://schemas.openxmlformats.org/drawingml/2006/main" anchorCtr="1"/>
        <a:lstStyle xmlns:a="http://schemas.openxmlformats.org/drawingml/2006/main"/>
        <a:p xmlns:a="http://schemas.openxmlformats.org/drawingml/2006/main">
          <a:pPr>
            <a:defRPr sz="1950" b="1">
              <a:solidFill>
                <a:srgbClr val="172B24"/>
              </a:solidFill>
              <a:latin typeface="Arial"/>
              <a:ea typeface="Arial"/>
              <a:cs typeface="Arial"/>
            </a:defRPr>
          </a:pPr>
        </a:p>
      </c:txPr>
    </c:title>
    <c:plotArea>
      <c:barChart>
        <c:barDir val="bar"/>
        <c:grouping val="clustered"/>
        <c:varyColors val="0"/>
        <c:ser>
          <c:idx val="0"/>
          <c:order val="0"/>
          <c:tx>
            <c:v>Six-month Base case (CNY)</c:v>
          </c:tx>
          <c:spPr>
            <a:solidFill xmlns:a="http://schemas.openxmlformats.org/drawingml/2006/main">
              <a:srgbClr val="C26D55"/>
            </a:solidFill>
          </c:spPr>
          <c:invertIfNegative val="0"/>
          <c:dPt>
            <c:idx val="0"/>
            <c:invertIfNegative val="0"/>
            <c:spPr>
              <a:solidFill xmlns:a="http://schemas.openxmlformats.org/drawingml/2006/main">
                <a:srgbClr val="C26D55"/>
              </a:solidFill>
            </c:spPr>
          </c:dPt>
          <c:dPt>
            <c:idx val="1"/>
            <c:invertIfNegative val="0"/>
            <c:spPr>
              <a:solidFill xmlns:a="http://schemas.openxmlformats.org/drawingml/2006/main">
                <a:srgbClr val="426D91"/>
              </a:solidFill>
            </c:spPr>
          </c:dPt>
          <c:dPt>
            <c:idx val="2"/>
            <c:invertIfNegative val="0"/>
            <c:spPr>
              <a:solidFill xmlns:a="http://schemas.openxmlformats.org/drawingml/2006/main">
                <a:srgbClr val="24634D"/>
              </a:solidFill>
            </c:spPr>
          </c:dPt>
          <c:cat>
            <c:strRef>
              <c:f>'Chart Data'!$A$2:$A$4</c:f>
              <c:strCache>
                <c:ptCount val="3"/>
                <c:pt idx="0">
                  <c:v>Cash shortfall</c:v>
                </c:pt>
                <c:pt idx="1">
                  <c:v>Cash costs</c:v>
                </c:pt>
                <c:pt idx="2">
                  <c:v>Fee revenue</c:v>
                </c:pt>
              </c:strCache>
            </c:strRef>
          </c:cat>
          <c:val>
            <c:numRef>
              <c:f>'Chart Data'!$B$2:$B$4</c:f>
              <c:numCache>
                <c:formatCode>0.00</c:formatCode>
                <c:ptCount val="3"/>
                <c:pt idx="0">
                  <c:v>674.2</c:v>
                </c:pt>
                <c:pt idx="1">
                  <c:v>687.2</c:v>
                </c:pt>
                <c:pt idx="2">
                  <c:v>13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B24"/>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C6A63"/>
                </a:solidFill>
                <a:latin typeface="Arial"/>
                <a:ea typeface="Arial"/>
                <a:cs typeface="Arial"/>
              </a:defRPr>
            </a:pPr>
          </a:p>
        </c:txPr>
        <c:crossAx val="48672768"/>
      </c:catAx>
      <c:valAx>
        <c:axId val="48672768"/>
        <c:scaling>
          <c:orientation val="minMax"/>
          <c:max val="80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6F3F907-9EE3-4E9F-9EBF-6E3EFB1376F7}"/>
              </a:ext>
            </a:extLst>
          </p:cNvPr>
          <p:cNvPicPr>
            <a:picLocks xmlns:a="http://schemas.openxmlformats.org/drawingml/2006/main" noChangeAspect="1"/>
          </p:cNvPicPr>
          <p:nvPr/>
        </p:nvPicPr>
        <p:blipFill>
          <a:blip xmlns:r="http://schemas.openxmlformats.org/officeDocument/2006/relationships" xmlns:a="http://schemas.openxmlformats.org/drawingml/2006/main" r:embed="Ra7d241cbfdb141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1E0D13-06AA-463B-946E-DAE55FB5ED8D}"/>
              </a:ext>
            </a:extLst>
          </p:cNvPr>
          <p:cNvSpPr>
            <a:spLocks xmlns:a="http://schemas.openxmlformats.org/drawingml/2006/main" noGrp="1"/>
          </p:cNvSpPr>
          <p:nvPr/>
        </p:nvSpPr>
        <p:spPr>
          <a:xfrm xmlns:a="http://schemas.openxmlformats.org/drawingml/2006/main">
            <a:off x="609600" y="409575"/>
            <a:ext cx="8001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ENT303TC Assessment 3 / Working Draft</a:t>
            </a:r>
          </a:p>
        </p:txBody>
      </p:sp>
      <p:sp>
        <p:nvSpPr>
          <p:cNvPr id="3" name="">
            <a:extLst xmlns:a="http://schemas.openxmlformats.org/drawingml/2006/main">
              <a:ext uri="{FF2B5EF4-FFF2-40B4-BE49-F238E27FC236}">
                <a16:creationId xmlns:a16="http://schemas.microsoft.com/office/drawing/2014/main" id="{F61D5C51-C5F3-41B0-8858-5BE8A874BDD0}"/>
              </a:ext>
            </a:extLst>
          </p:cNvPr>
          <p:cNvSpPr>
            <a:spLocks xmlns:a="http://schemas.openxmlformats.org/drawingml/2006/main" noGrp="1"/>
          </p:cNvSpPr>
          <p:nvPr/>
        </p:nvSpPr>
        <p:spPr>
          <a:xfrm xmlns:a="http://schemas.openxmlformats.org/drawingml/2006/main">
            <a:off x="552450" y="1381125"/>
            <a:ext cx="619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0500" b="1">
                <a:solidFill>
                  <a:srgbClr val="FFFFFF"/>
                </a:solidFill>
                <a:latin typeface="Arial"/>
                <a:ea typeface="Arial"/>
                <a:cs typeface="Arial"/>
              </a:defRPr>
            </a:defPPr>
            <a:lvl1pPr>
              <a:defRPr sz="10500" b="1">
                <a:solidFill>
                  <a:srgbClr val="FFFFFF"/>
                </a:solidFill>
                <a:latin typeface="Arial"/>
                <a:ea typeface="Arial"/>
                <a:cs typeface="Arial"/>
              </a:defRPr>
            </a:lvl1pPr>
            <a:lvl2pPr>
              <a:defRPr sz="10500" b="1">
                <a:solidFill>
                  <a:srgbClr val="FFFFFF"/>
                </a:solidFill>
                <a:latin typeface="Arial"/>
                <a:ea typeface="Arial"/>
                <a:cs typeface="Arial"/>
              </a:defRPr>
            </a:lvl2pPr>
            <a:lvl3pPr>
              <a:defRPr sz="10500" b="1">
                <a:solidFill>
                  <a:srgbClr val="FFFFFF"/>
                </a:solidFill>
                <a:latin typeface="Arial"/>
                <a:ea typeface="Arial"/>
                <a:cs typeface="Arial"/>
              </a:defRPr>
            </a:lvl3pPr>
            <a:lvl4pPr>
              <a:defRPr sz="10500" b="1">
                <a:solidFill>
                  <a:srgbClr val="FFFFFF"/>
                </a:solidFill>
                <a:latin typeface="Arial"/>
                <a:ea typeface="Arial"/>
                <a:cs typeface="Arial"/>
              </a:defRPr>
            </a:lvl4pPr>
            <a:lvl5pPr>
              <a:defRPr sz="10500" b="1">
                <a:solidFill>
                  <a:srgbClr val="FFFFFF"/>
                </a:solidFill>
                <a:latin typeface="Arial"/>
                <a:ea typeface="Arial"/>
                <a:cs typeface="Arial"/>
              </a:defRPr>
            </a:lvl5pPr>
            <a:lvl6pPr>
              <a:defRPr sz="10500" b="1">
                <a:solidFill>
                  <a:srgbClr val="FFFFFF"/>
                </a:solidFill>
                <a:latin typeface="Arial"/>
                <a:ea typeface="Arial"/>
                <a:cs typeface="Arial"/>
              </a:defRPr>
            </a:lvl6pPr>
            <a:lvl7pPr>
              <a:defRPr sz="10500" b="1">
                <a:solidFill>
                  <a:srgbClr val="FFFFFF"/>
                </a:solidFill>
                <a:latin typeface="Arial"/>
                <a:ea typeface="Arial"/>
                <a:cs typeface="Arial"/>
              </a:defRPr>
            </a:lvl7pPr>
            <a:lvl8pPr>
              <a:defRPr sz="10500" b="1">
                <a:solidFill>
                  <a:srgbClr val="FFFFFF"/>
                </a:solidFill>
                <a:latin typeface="Arial"/>
                <a:ea typeface="Arial"/>
                <a:cs typeface="Arial"/>
              </a:defRPr>
            </a:lvl8pPr>
            <a:lvl9pPr>
              <a:defRPr sz="10500" b="1">
                <a:solidFill>
                  <a:srgbClr val="FFFFFF"/>
                </a:solidFill>
                <a:latin typeface="Arial"/>
                <a:ea typeface="Arial"/>
                <a:cs typeface="Arial"/>
              </a:defRPr>
            </a:lvl9pPr>
          </a:lstStyle>
          <a:p xmlns:a="http://schemas.openxmlformats.org/drawingml/2006/main">
            <a:pPr>
              <a:defRPr sz="10500" b="1">
                <a:solidFill>
                  <a:srgbClr val="FFFFFF"/>
                </a:solidFill>
                <a:latin typeface="Arial"/>
                <a:ea typeface="Arial"/>
                <a:cs typeface="Arial"/>
              </a:defRPr>
            </a:pPr>
            <a:r>
              <a:rPr sz="10500" b="1">
                <a:solidFill>
                  <a:srgbClr val="FFFFFF"/>
                </a:solidFill>
                <a:latin typeface="Arial"/>
                <a:ea typeface="Arial"/>
                <a:cs typeface="Arial"/>
              </a:rPr>
              <a:t>U Use</a:t>
            </a:r>
          </a:p>
        </p:txBody>
      </p:sp>
      <p:sp>
        <p:nvSpPr>
          <p:cNvPr id="4" name="">
            <a:extLst xmlns:a="http://schemas.openxmlformats.org/drawingml/2006/main">
              <a:ext uri="{FF2B5EF4-FFF2-40B4-BE49-F238E27FC236}">
                <a16:creationId xmlns:a16="http://schemas.microsoft.com/office/drawing/2014/main" id="{68BDF3A4-C8D9-4E2C-8D33-5ACAC3F45286}"/>
              </a:ext>
            </a:extLst>
          </p:cNvPr>
          <p:cNvSpPr>
            <a:spLocks xmlns:a="http://schemas.openxmlformats.org/drawingml/2006/main" noGrp="1"/>
          </p:cNvSpPr>
          <p:nvPr/>
        </p:nvSpPr>
        <p:spPr>
          <a:xfrm xmlns:a="http://schemas.openxmlformats.org/drawingml/2006/main">
            <a:off x="609600" y="3124200"/>
            <a:ext cx="5381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Campus item access</a:t>
            </a:r>
          </a:p>
        </p:txBody>
      </p:sp>
      <p:sp>
        <p:nvSpPr>
          <p:cNvPr id="5" name="">
            <a:extLst xmlns:a="http://schemas.openxmlformats.org/drawingml/2006/main">
              <a:ext uri="{FF2B5EF4-FFF2-40B4-BE49-F238E27FC236}">
                <a16:creationId xmlns:a16="http://schemas.microsoft.com/office/drawing/2014/main" id="{85036123-BEA1-4C26-9C1D-0F2DD81EA67B}"/>
              </a:ext>
            </a:extLst>
          </p:cNvPr>
          <p:cNvSpPr>
            <a:spLocks xmlns:a="http://schemas.openxmlformats.org/drawingml/2006/main" noGrp="1"/>
          </p:cNvSpPr>
          <p:nvPr/>
        </p:nvSpPr>
        <p:spPr>
          <a:xfrm xmlns:a="http://schemas.openxmlformats.org/drawingml/2006/main">
            <a:off x="609600" y="3914775"/>
            <a:ext cx="4362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D4DED7"/>
                </a:solidFill>
                <a:latin typeface="Arial"/>
                <a:ea typeface="Arial"/>
                <a:cs typeface="Arial"/>
              </a:defRPr>
            </a:defPPr>
            <a:lvl1pPr>
              <a:defRPr sz="2100" b="0">
                <a:solidFill>
                  <a:srgbClr val="D4DED7"/>
                </a:solidFill>
                <a:latin typeface="Arial"/>
                <a:ea typeface="Arial"/>
                <a:cs typeface="Arial"/>
              </a:defRPr>
            </a:lvl1pPr>
            <a:lvl2pPr>
              <a:defRPr sz="2100" b="0">
                <a:solidFill>
                  <a:srgbClr val="D4DED7"/>
                </a:solidFill>
                <a:latin typeface="Arial"/>
                <a:ea typeface="Arial"/>
                <a:cs typeface="Arial"/>
              </a:defRPr>
            </a:lvl2pPr>
            <a:lvl3pPr>
              <a:defRPr sz="2100" b="0">
                <a:solidFill>
                  <a:srgbClr val="D4DED7"/>
                </a:solidFill>
                <a:latin typeface="Arial"/>
                <a:ea typeface="Arial"/>
                <a:cs typeface="Arial"/>
              </a:defRPr>
            </a:lvl3pPr>
            <a:lvl4pPr>
              <a:defRPr sz="2100" b="0">
                <a:solidFill>
                  <a:srgbClr val="D4DED7"/>
                </a:solidFill>
                <a:latin typeface="Arial"/>
                <a:ea typeface="Arial"/>
                <a:cs typeface="Arial"/>
              </a:defRPr>
            </a:lvl4pPr>
            <a:lvl5pPr>
              <a:defRPr sz="2100" b="0">
                <a:solidFill>
                  <a:srgbClr val="D4DED7"/>
                </a:solidFill>
                <a:latin typeface="Arial"/>
                <a:ea typeface="Arial"/>
                <a:cs typeface="Arial"/>
              </a:defRPr>
            </a:lvl5pPr>
            <a:lvl6pPr>
              <a:defRPr sz="2100" b="0">
                <a:solidFill>
                  <a:srgbClr val="D4DED7"/>
                </a:solidFill>
                <a:latin typeface="Arial"/>
                <a:ea typeface="Arial"/>
                <a:cs typeface="Arial"/>
              </a:defRPr>
            </a:lvl6pPr>
            <a:lvl7pPr>
              <a:defRPr sz="2100" b="0">
                <a:solidFill>
                  <a:srgbClr val="D4DED7"/>
                </a:solidFill>
                <a:latin typeface="Arial"/>
                <a:ea typeface="Arial"/>
                <a:cs typeface="Arial"/>
              </a:defRPr>
            </a:lvl7pPr>
            <a:lvl8pPr>
              <a:defRPr sz="2100" b="0">
                <a:solidFill>
                  <a:srgbClr val="D4DED7"/>
                </a:solidFill>
                <a:latin typeface="Arial"/>
                <a:ea typeface="Arial"/>
                <a:cs typeface="Arial"/>
              </a:defRPr>
            </a:lvl8pPr>
            <a:lvl9pPr>
              <a:defRPr sz="2100" b="0">
                <a:solidFill>
                  <a:srgbClr val="D4DED7"/>
                </a:solidFill>
                <a:latin typeface="Arial"/>
                <a:ea typeface="Arial"/>
                <a:cs typeface="Arial"/>
              </a:defRPr>
            </a:lvl9pPr>
          </a:lstStyle>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Date-aware requests.</a:t>
            </a:r>
          </a:p>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Private timetable matching.</a:t>
            </a:r>
          </a:p>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Explicit handoff and return.</a:t>
            </a:r>
          </a:p>
        </p:txBody>
      </p:sp>
      <p:sp>
        <p:nvSpPr>
          <p:cNvPr id="6" name="">
            <a:extLst xmlns:a="http://schemas.openxmlformats.org/drawingml/2006/main">
              <a:ext uri="{FF2B5EF4-FFF2-40B4-BE49-F238E27FC236}">
                <a16:creationId xmlns:a16="http://schemas.microsoft.com/office/drawing/2014/main" id="{8A9471AB-41E4-4A6E-9BCA-CD0F8FCD43C5}"/>
              </a:ext>
            </a:extLst>
          </p:cNvPr>
          <p:cNvSpPr>
            <a:spLocks xmlns:a="http://schemas.openxmlformats.org/drawingml/2006/main" noGrp="1"/>
          </p:cNvSpPr>
          <p:nvPr/>
        </p:nvSpPr>
        <p:spPr>
          <a:xfrm xmlns:a="http://schemas.openxmlformats.org/drawingml/2006/main">
            <a:off x="609600" y="5191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D6E58A"/>
                </a:solidFill>
                <a:latin typeface="Arial"/>
                <a:ea typeface="Arial"/>
                <a:cs typeface="Arial"/>
              </a:defRPr>
            </a:defPPr>
            <a:lvl1pPr>
              <a:defRPr sz="1875" b="1">
                <a:solidFill>
                  <a:srgbClr val="D6E58A"/>
                </a:solidFill>
                <a:latin typeface="Arial"/>
                <a:ea typeface="Arial"/>
                <a:cs typeface="Arial"/>
              </a:defRPr>
            </a:lvl1pPr>
            <a:lvl2pPr>
              <a:defRPr sz="1875" b="1">
                <a:solidFill>
                  <a:srgbClr val="D6E58A"/>
                </a:solidFill>
                <a:latin typeface="Arial"/>
                <a:ea typeface="Arial"/>
                <a:cs typeface="Arial"/>
              </a:defRPr>
            </a:lvl2pPr>
            <a:lvl3pPr>
              <a:defRPr sz="1875" b="1">
                <a:solidFill>
                  <a:srgbClr val="D6E58A"/>
                </a:solidFill>
                <a:latin typeface="Arial"/>
                <a:ea typeface="Arial"/>
                <a:cs typeface="Arial"/>
              </a:defRPr>
            </a:lvl3pPr>
            <a:lvl4pPr>
              <a:defRPr sz="1875" b="1">
                <a:solidFill>
                  <a:srgbClr val="D6E58A"/>
                </a:solidFill>
                <a:latin typeface="Arial"/>
                <a:ea typeface="Arial"/>
                <a:cs typeface="Arial"/>
              </a:defRPr>
            </a:lvl4pPr>
            <a:lvl5pPr>
              <a:defRPr sz="1875" b="1">
                <a:solidFill>
                  <a:srgbClr val="D6E58A"/>
                </a:solidFill>
                <a:latin typeface="Arial"/>
                <a:ea typeface="Arial"/>
                <a:cs typeface="Arial"/>
              </a:defRPr>
            </a:lvl5pPr>
            <a:lvl6pPr>
              <a:defRPr sz="1875" b="1">
                <a:solidFill>
                  <a:srgbClr val="D6E58A"/>
                </a:solidFill>
                <a:latin typeface="Arial"/>
                <a:ea typeface="Arial"/>
                <a:cs typeface="Arial"/>
              </a:defRPr>
            </a:lvl6pPr>
            <a:lvl7pPr>
              <a:defRPr sz="1875" b="1">
                <a:solidFill>
                  <a:srgbClr val="D6E58A"/>
                </a:solidFill>
                <a:latin typeface="Arial"/>
                <a:ea typeface="Arial"/>
                <a:cs typeface="Arial"/>
              </a:defRPr>
            </a:lvl7pPr>
            <a:lvl8pPr>
              <a:defRPr sz="1875" b="1">
                <a:solidFill>
                  <a:srgbClr val="D6E58A"/>
                </a:solidFill>
                <a:latin typeface="Arial"/>
                <a:ea typeface="Arial"/>
                <a:cs typeface="Arial"/>
              </a:defRPr>
            </a:lvl8pPr>
            <a:lvl9pPr>
              <a:defRPr sz="1875" b="1">
                <a:solidFill>
                  <a:srgbClr val="D6E58A"/>
                </a:solidFill>
                <a:latin typeface="Arial"/>
                <a:ea typeface="Arial"/>
                <a:cs typeface="Arial"/>
              </a:defRPr>
            </a:lvl9pPr>
          </a:lstStyle>
          <a:p xmlns:a="http://schemas.openxmlformats.org/drawingml/2006/main">
            <a:pPr>
              <a:defRPr sz="1875" b="1">
                <a:solidFill>
                  <a:srgbClr val="D6E58A"/>
                </a:solidFill>
                <a:latin typeface="Arial"/>
                <a:ea typeface="Arial"/>
                <a:cs typeface="Arial"/>
              </a:defRPr>
            </a:pPr>
            <a:r>
              <a:rPr sz="1875" b="1">
                <a:solidFill>
                  <a:srgbClr val="D6E58A"/>
                </a:solidFill>
                <a:latin typeface="Arial"/>
                <a:ea typeface="Arial"/>
                <a:cs typeface="Arial"/>
              </a:rPr>
              <a:t>Buy. Borrow. Rent. Swap.</a:t>
            </a:r>
          </a:p>
        </p:txBody>
      </p:sp>
      <p:sp>
        <p:nvSpPr>
          <p:cNvPr id="7" name="">
            <a:extLst xmlns:a="http://schemas.openxmlformats.org/drawingml/2006/main">
              <a:ext uri="{FF2B5EF4-FFF2-40B4-BE49-F238E27FC236}">
                <a16:creationId xmlns:a16="http://schemas.microsoft.com/office/drawing/2014/main" id="{2B8EB592-644F-480D-BBD1-A927A8870A98}"/>
              </a:ext>
            </a:extLst>
          </p:cNvPr>
          <p:cNvSpPr>
            <a:spLocks xmlns:a="http://schemas.openxmlformats.org/drawingml/2006/main" noGrp="1"/>
          </p:cNvSpPr>
          <p:nvPr/>
        </p:nvSpPr>
        <p:spPr>
          <a:xfrm xmlns:a="http://schemas.openxmlformats.org/drawingml/2006/main">
            <a:off x="0" y="5734050"/>
            <a:ext cx="12192000" cy="1123950"/>
          </a:xfrm>
          <a:prstGeom xmlns:a="http://schemas.openxmlformats.org/drawingml/2006/main" prst="rect">
            <a:avLst/>
          </a:prstGeom>
          <a:solidFill xmlns:a="http://schemas.openxmlformats.org/drawingml/2006/main">
            <a:srgbClr val="1122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E232CE-8853-4061-8C68-90F149708F14}"/>
              </a:ext>
            </a:extLst>
          </p:cNvPr>
          <p:cNvSpPr>
            <a:spLocks xmlns:a="http://schemas.openxmlformats.org/drawingml/2006/main" noGrp="1"/>
          </p:cNvSpPr>
          <p:nvPr/>
        </p:nvSpPr>
        <p:spPr>
          <a:xfrm xmlns:a="http://schemas.openxmlformats.org/drawingml/2006/main">
            <a:off x="609600" y="5876925"/>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D6E58A"/>
                </a:solidFill>
                <a:latin typeface="Arial"/>
                <a:ea typeface="Arial"/>
                <a:cs typeface="Arial"/>
              </a:defRPr>
            </a:defPPr>
            <a:lvl1pPr>
              <a:defRPr sz="1650" b="1">
                <a:solidFill>
                  <a:srgbClr val="D6E58A"/>
                </a:solidFill>
                <a:latin typeface="Arial"/>
                <a:ea typeface="Arial"/>
                <a:cs typeface="Arial"/>
              </a:defRPr>
            </a:lvl1pPr>
            <a:lvl2pPr>
              <a:defRPr sz="1650" b="1">
                <a:solidFill>
                  <a:srgbClr val="D6E58A"/>
                </a:solidFill>
                <a:latin typeface="Arial"/>
                <a:ea typeface="Arial"/>
                <a:cs typeface="Arial"/>
              </a:defRPr>
            </a:lvl2pPr>
            <a:lvl3pPr>
              <a:defRPr sz="1650" b="1">
                <a:solidFill>
                  <a:srgbClr val="D6E58A"/>
                </a:solidFill>
                <a:latin typeface="Arial"/>
                <a:ea typeface="Arial"/>
                <a:cs typeface="Arial"/>
              </a:defRPr>
            </a:lvl3pPr>
            <a:lvl4pPr>
              <a:defRPr sz="1650" b="1">
                <a:solidFill>
                  <a:srgbClr val="D6E58A"/>
                </a:solidFill>
                <a:latin typeface="Arial"/>
                <a:ea typeface="Arial"/>
                <a:cs typeface="Arial"/>
              </a:defRPr>
            </a:lvl4pPr>
            <a:lvl5pPr>
              <a:defRPr sz="1650" b="1">
                <a:solidFill>
                  <a:srgbClr val="D6E58A"/>
                </a:solidFill>
                <a:latin typeface="Arial"/>
                <a:ea typeface="Arial"/>
                <a:cs typeface="Arial"/>
              </a:defRPr>
            </a:lvl5pPr>
            <a:lvl6pPr>
              <a:defRPr sz="1650" b="1">
                <a:solidFill>
                  <a:srgbClr val="D6E58A"/>
                </a:solidFill>
                <a:latin typeface="Arial"/>
                <a:ea typeface="Arial"/>
                <a:cs typeface="Arial"/>
              </a:defRPr>
            </a:lvl6pPr>
            <a:lvl7pPr>
              <a:defRPr sz="1650" b="1">
                <a:solidFill>
                  <a:srgbClr val="D6E58A"/>
                </a:solidFill>
                <a:latin typeface="Arial"/>
                <a:ea typeface="Arial"/>
                <a:cs typeface="Arial"/>
              </a:defRPr>
            </a:lvl7pPr>
            <a:lvl8pPr>
              <a:defRPr sz="1650" b="1">
                <a:solidFill>
                  <a:srgbClr val="D6E58A"/>
                </a:solidFill>
                <a:latin typeface="Arial"/>
                <a:ea typeface="Arial"/>
                <a:cs typeface="Arial"/>
              </a:defRPr>
            </a:lvl8pPr>
            <a:lvl9pPr>
              <a:defRPr sz="1650" b="1">
                <a:solidFill>
                  <a:srgbClr val="D6E58A"/>
                </a:solidFill>
                <a:latin typeface="Arial"/>
                <a:ea typeface="Arial"/>
                <a:cs typeface="Arial"/>
              </a:defRPr>
            </a:lvl9pPr>
          </a:lstStyle>
          <a:p xmlns:a="http://schemas.openxmlformats.org/drawingml/2006/main">
            <a:pPr>
              <a:defRPr sz="1650" b="1">
                <a:solidFill>
                  <a:srgbClr val="D6E58A"/>
                </a:solidFill>
                <a:latin typeface="Arial"/>
                <a:ea typeface="Arial"/>
                <a:cs typeface="Arial"/>
              </a:defRPr>
            </a:pPr>
            <a:r>
              <a:rPr sz="1650" b="1">
                <a:solidFill>
                  <a:srgbClr val="D6E58A"/>
                </a:solidFill>
                <a:latin typeface="Arial"/>
                <a:ea typeface="Arial"/>
                <a:cs typeface="Arial"/>
              </a:rPr>
              <a:t>U Use Team (working name)</a:t>
            </a:r>
          </a:p>
        </p:txBody>
      </p:sp>
      <p:sp>
        <p:nvSpPr>
          <p:cNvPr id="9" name="">
            <a:extLst xmlns:a="http://schemas.openxmlformats.org/drawingml/2006/main">
              <a:ext uri="{FF2B5EF4-FFF2-40B4-BE49-F238E27FC236}">
                <a16:creationId xmlns:a16="http://schemas.microsoft.com/office/drawing/2014/main" id="{B77A9213-DBBF-4163-9C23-AA6FBCED5BC8}"/>
              </a:ext>
            </a:extLst>
          </p:cNvPr>
          <p:cNvSpPr>
            <a:spLocks xmlns:a="http://schemas.openxmlformats.org/drawingml/2006/main" noGrp="1"/>
          </p:cNvSpPr>
          <p:nvPr/>
        </p:nvSpPr>
        <p:spPr>
          <a:xfrm xmlns:a="http://schemas.openxmlformats.org/drawingml/2006/main">
            <a:off x="9620250" y="589597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20 October 2026</a:t>
            </a:r>
          </a:p>
        </p:txBody>
      </p:sp>
      <p:sp>
        <p:nvSpPr>
          <p:cNvPr id="10" name="">
            <a:extLst xmlns:a="http://schemas.openxmlformats.org/drawingml/2006/main">
              <a:ext uri="{FF2B5EF4-FFF2-40B4-BE49-F238E27FC236}">
                <a16:creationId xmlns:a16="http://schemas.microsoft.com/office/drawing/2014/main" id="{E3AAD3E4-7440-43B4-B955-C3793E7FD062}"/>
              </a:ext>
            </a:extLst>
          </p:cNvPr>
          <p:cNvSpPr>
            <a:spLocks xmlns:a="http://schemas.openxmlformats.org/drawingml/2006/main" noGrp="1"/>
          </p:cNvSpPr>
          <p:nvPr/>
        </p:nvSpPr>
        <p:spPr>
          <a:xfrm xmlns:a="http://schemas.openxmlformats.org/drawingml/2006/main">
            <a:off x="609600" y="6286500"/>
            <a:ext cx="10620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FFFFFF"/>
                </a:solidFill>
                <a:latin typeface="PingFang SC"/>
                <a:ea typeface="PingFang SC"/>
                <a:cs typeface="PingFang SC"/>
              </a:defRPr>
            </a:defPPr>
            <a:lvl1pPr>
              <a:defRPr sz="1875" b="1">
                <a:solidFill>
                  <a:srgbClr val="FFFFFF"/>
                </a:solidFill>
                <a:latin typeface="PingFang SC"/>
                <a:ea typeface="PingFang SC"/>
                <a:cs typeface="PingFang SC"/>
              </a:defRPr>
            </a:lvl1pPr>
            <a:lvl2pPr>
              <a:defRPr sz="1875" b="1">
                <a:solidFill>
                  <a:srgbClr val="FFFFFF"/>
                </a:solidFill>
                <a:latin typeface="PingFang SC"/>
                <a:ea typeface="PingFang SC"/>
                <a:cs typeface="PingFang SC"/>
              </a:defRPr>
            </a:lvl2pPr>
            <a:lvl3pPr>
              <a:defRPr sz="1875" b="1">
                <a:solidFill>
                  <a:srgbClr val="FFFFFF"/>
                </a:solidFill>
                <a:latin typeface="PingFang SC"/>
                <a:ea typeface="PingFang SC"/>
                <a:cs typeface="PingFang SC"/>
              </a:defRPr>
            </a:lvl3pPr>
            <a:lvl4pPr>
              <a:defRPr sz="1875" b="1">
                <a:solidFill>
                  <a:srgbClr val="FFFFFF"/>
                </a:solidFill>
                <a:latin typeface="PingFang SC"/>
                <a:ea typeface="PingFang SC"/>
                <a:cs typeface="PingFang SC"/>
              </a:defRPr>
            </a:lvl4pPr>
            <a:lvl5pPr>
              <a:defRPr sz="1875" b="1">
                <a:solidFill>
                  <a:srgbClr val="FFFFFF"/>
                </a:solidFill>
                <a:latin typeface="PingFang SC"/>
                <a:ea typeface="PingFang SC"/>
                <a:cs typeface="PingFang SC"/>
              </a:defRPr>
            </a:lvl5pPr>
            <a:lvl6pPr>
              <a:defRPr sz="1875" b="1">
                <a:solidFill>
                  <a:srgbClr val="FFFFFF"/>
                </a:solidFill>
                <a:latin typeface="PingFang SC"/>
                <a:ea typeface="PingFang SC"/>
                <a:cs typeface="PingFang SC"/>
              </a:defRPr>
            </a:lvl6pPr>
            <a:lvl7pPr>
              <a:defRPr sz="1875" b="1">
                <a:solidFill>
                  <a:srgbClr val="FFFFFF"/>
                </a:solidFill>
                <a:latin typeface="PingFang SC"/>
                <a:ea typeface="PingFang SC"/>
                <a:cs typeface="PingFang SC"/>
              </a:defRPr>
            </a:lvl7pPr>
            <a:lvl8pPr>
              <a:defRPr sz="1875" b="1">
                <a:solidFill>
                  <a:srgbClr val="FFFFFF"/>
                </a:solidFill>
                <a:latin typeface="PingFang SC"/>
                <a:ea typeface="PingFang SC"/>
                <a:cs typeface="PingFang SC"/>
              </a:defRPr>
            </a:lvl8pPr>
            <a:lvl9pPr>
              <a:defRPr sz="1875" b="1">
                <a:solidFill>
                  <a:srgbClr val="FFFFFF"/>
                </a:solidFill>
                <a:latin typeface="PingFang SC"/>
                <a:ea typeface="PingFang SC"/>
                <a:cs typeface="PingFang SC"/>
              </a:defRPr>
            </a:lvl9pPr>
          </a:lstStyle>
          <a:p xmlns:a="http://schemas.openxmlformats.org/drawingml/2006/main">
            <a:pPr>
              <a:defRPr sz="1875" b="1">
                <a:solidFill>
                  <a:srgbClr val="FFFFFF"/>
                </a:solidFill>
                <a:latin typeface="PingFang SC"/>
                <a:ea typeface="PingFang SC"/>
                <a:cs typeface="PingFang SC"/>
              </a:defRPr>
            </a:pPr>
            <a:r>
              <a:rPr sz="1875" b="1">
                <a:solidFill>
                  <a:srgbClr val="FFFFFF"/>
                </a:solidFill>
                <a:latin typeface="PingFang SC"/>
                <a:ea typeface="PingFang SC"/>
                <a:cs typeface="PingFang SC"/>
              </a:rPr>
              <a:t>郭宇璇 (Rita)   汪睿   毛相宜   黄俊杰   李元龙   黄禹轩   汤鋆秋</a:t>
            </a:r>
          </a:p>
        </p:txBody>
      </p:sp>
      <p:sp>
        <p:nvSpPr>
          <p:cNvPr id="11" name="">
            <a:extLst xmlns:a="http://schemas.openxmlformats.org/drawingml/2006/main">
              <a:ext uri="{FF2B5EF4-FFF2-40B4-BE49-F238E27FC236}">
                <a16:creationId xmlns:a16="http://schemas.microsoft.com/office/drawing/2014/main" id="{21927F72-73D4-4C94-AB30-92CBF8301471}"/>
              </a:ext>
            </a:extLst>
          </p:cNvPr>
          <p:cNvSpPr>
            <a:spLocks xmlns:a="http://schemas.openxmlformats.org/drawingml/2006/main" noGrp="1"/>
          </p:cNvSpPr>
          <p:nvPr/>
        </p:nvSpPr>
        <p:spPr>
          <a:xfrm xmlns:a="http://schemas.openxmlformats.org/drawingml/2006/main">
            <a:off x="11106150" y="6610350"/>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BDCEC5"/>
                </a:solidFill>
                <a:latin typeface="Arial"/>
                <a:ea typeface="Arial"/>
                <a:cs typeface="Arial"/>
              </a:defRPr>
            </a:defPPr>
            <a:lvl1pPr>
              <a:defRPr sz="1125" b="0">
                <a:solidFill>
                  <a:srgbClr val="BDCEC5"/>
                </a:solidFill>
                <a:latin typeface="Arial"/>
                <a:ea typeface="Arial"/>
                <a:cs typeface="Arial"/>
              </a:defRPr>
            </a:lvl1pPr>
            <a:lvl2pPr>
              <a:defRPr sz="1125" b="0">
                <a:solidFill>
                  <a:srgbClr val="BDCEC5"/>
                </a:solidFill>
                <a:latin typeface="Arial"/>
                <a:ea typeface="Arial"/>
                <a:cs typeface="Arial"/>
              </a:defRPr>
            </a:lvl2pPr>
            <a:lvl3pPr>
              <a:defRPr sz="1125" b="0">
                <a:solidFill>
                  <a:srgbClr val="BDCEC5"/>
                </a:solidFill>
                <a:latin typeface="Arial"/>
                <a:ea typeface="Arial"/>
                <a:cs typeface="Arial"/>
              </a:defRPr>
            </a:lvl3pPr>
            <a:lvl4pPr>
              <a:defRPr sz="1125" b="0">
                <a:solidFill>
                  <a:srgbClr val="BDCEC5"/>
                </a:solidFill>
                <a:latin typeface="Arial"/>
                <a:ea typeface="Arial"/>
                <a:cs typeface="Arial"/>
              </a:defRPr>
            </a:lvl4pPr>
            <a:lvl5pPr>
              <a:defRPr sz="1125" b="0">
                <a:solidFill>
                  <a:srgbClr val="BDCEC5"/>
                </a:solidFill>
                <a:latin typeface="Arial"/>
                <a:ea typeface="Arial"/>
                <a:cs typeface="Arial"/>
              </a:defRPr>
            </a:lvl5pPr>
            <a:lvl6pPr>
              <a:defRPr sz="1125" b="0">
                <a:solidFill>
                  <a:srgbClr val="BDCEC5"/>
                </a:solidFill>
                <a:latin typeface="Arial"/>
                <a:ea typeface="Arial"/>
                <a:cs typeface="Arial"/>
              </a:defRPr>
            </a:lvl6pPr>
            <a:lvl7pPr>
              <a:defRPr sz="1125" b="0">
                <a:solidFill>
                  <a:srgbClr val="BDCEC5"/>
                </a:solidFill>
                <a:latin typeface="Arial"/>
                <a:ea typeface="Arial"/>
                <a:cs typeface="Arial"/>
              </a:defRPr>
            </a:lvl7pPr>
            <a:lvl8pPr>
              <a:defRPr sz="1125" b="0">
                <a:solidFill>
                  <a:srgbClr val="BDCEC5"/>
                </a:solidFill>
                <a:latin typeface="Arial"/>
                <a:ea typeface="Arial"/>
                <a:cs typeface="Arial"/>
              </a:defRPr>
            </a:lvl8pPr>
            <a:lvl9pPr>
              <a:defRPr sz="1125" b="0">
                <a:solidFill>
                  <a:srgbClr val="BDCEC5"/>
                </a:solidFill>
                <a:latin typeface="Arial"/>
                <a:ea typeface="Arial"/>
                <a:cs typeface="Arial"/>
              </a:defRPr>
            </a:lvl9pPr>
          </a:lstStyle>
          <a:p xmlns:a="http://schemas.openxmlformats.org/drawingml/2006/main">
            <a:pPr>
              <a:defRPr sz="1125" b="0">
                <a:solidFill>
                  <a:srgbClr val="BDCEC5"/>
                </a:solidFill>
                <a:latin typeface="Arial"/>
                <a:ea typeface="Arial"/>
                <a:cs typeface="Arial"/>
              </a:defRPr>
            </a:pPr>
            <a:r>
              <a:rPr sz="1125" b="0">
                <a:solidFill>
                  <a:srgbClr val="BDCEC5"/>
                </a:solidFill>
                <a:latin typeface="Arial"/>
                <a:ea typeface="Arial"/>
                <a:cs typeface="Arial"/>
              </a:rPr>
              <a:t>1 / 12</a:t>
            </a:r>
          </a:p>
        </p:txBody>
      </p:sp>
    </p:spTree>
    <p:extLst>
      <p:ext uri="{BB962C8B-B14F-4D97-AF65-F5344CB8AC3E}">
        <p14:creationId xmlns:p14="http://schemas.microsoft.com/office/powerpoint/2010/main" val="4545920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8B979AB-5727-4CAA-A742-581AC603357F}"/>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364D354B-E637-4566-AF6D-81CE1D90E5E0}"/>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172B24"/>
                </a:solidFill>
                <a:latin typeface="Arial"/>
                <a:ea typeface="Arial"/>
                <a:cs typeface="Arial"/>
              </a:defRPr>
            </a:defPPr>
            <a:lvl1pPr>
              <a:defRPr sz="3600" b="1">
                <a:solidFill>
                  <a:srgbClr val="172B24"/>
                </a:solidFill>
                <a:latin typeface="Arial"/>
                <a:ea typeface="Arial"/>
                <a:cs typeface="Arial"/>
              </a:defRPr>
            </a:lvl1pPr>
            <a:lvl2pPr>
              <a:defRPr sz="3600" b="1">
                <a:solidFill>
                  <a:srgbClr val="172B24"/>
                </a:solidFill>
                <a:latin typeface="Arial"/>
                <a:ea typeface="Arial"/>
                <a:cs typeface="Arial"/>
              </a:defRPr>
            </a:lvl2pPr>
            <a:lvl3pPr>
              <a:defRPr sz="3600" b="1">
                <a:solidFill>
                  <a:srgbClr val="172B24"/>
                </a:solidFill>
                <a:latin typeface="Arial"/>
                <a:ea typeface="Arial"/>
                <a:cs typeface="Arial"/>
              </a:defRPr>
            </a:lvl3pPr>
            <a:lvl4pPr>
              <a:defRPr sz="3600" b="1">
                <a:solidFill>
                  <a:srgbClr val="172B24"/>
                </a:solidFill>
                <a:latin typeface="Arial"/>
                <a:ea typeface="Arial"/>
                <a:cs typeface="Arial"/>
              </a:defRPr>
            </a:lvl4pPr>
            <a:lvl5pPr>
              <a:defRPr sz="3600" b="1">
                <a:solidFill>
                  <a:srgbClr val="172B24"/>
                </a:solidFill>
                <a:latin typeface="Arial"/>
                <a:ea typeface="Arial"/>
                <a:cs typeface="Arial"/>
              </a:defRPr>
            </a:lvl5pPr>
            <a:lvl6pPr>
              <a:defRPr sz="3600" b="1">
                <a:solidFill>
                  <a:srgbClr val="172B24"/>
                </a:solidFill>
                <a:latin typeface="Arial"/>
                <a:ea typeface="Arial"/>
                <a:cs typeface="Arial"/>
              </a:defRPr>
            </a:lvl6pPr>
            <a:lvl7pPr>
              <a:defRPr sz="3600" b="1">
                <a:solidFill>
                  <a:srgbClr val="172B24"/>
                </a:solidFill>
                <a:latin typeface="Arial"/>
                <a:ea typeface="Arial"/>
                <a:cs typeface="Arial"/>
              </a:defRPr>
            </a:lvl7pPr>
            <a:lvl8pPr>
              <a:defRPr sz="3600" b="1">
                <a:solidFill>
                  <a:srgbClr val="172B24"/>
                </a:solidFill>
                <a:latin typeface="Arial"/>
                <a:ea typeface="Arial"/>
                <a:cs typeface="Arial"/>
              </a:defRPr>
            </a:lvl8pPr>
            <a:lvl9pPr>
              <a:defRPr sz="3600" b="1">
                <a:solidFill>
                  <a:srgbClr val="172B24"/>
                </a:solidFill>
                <a:latin typeface="Arial"/>
                <a:ea typeface="Arial"/>
                <a:cs typeface="Arial"/>
              </a:defRPr>
            </a:lvl9pPr>
          </a:lstStyle>
          <a:p xmlns:a="http://schemas.openxmlformats.org/drawingml/2006/main">
            <a:pPr>
              <a:defRPr sz="3600" b="1">
                <a:solidFill>
                  <a:srgbClr val="172B24"/>
                </a:solidFill>
                <a:latin typeface="Arial"/>
                <a:ea typeface="Arial"/>
                <a:cs typeface="Arial"/>
              </a:defRPr>
            </a:pPr>
            <a:r>
              <a:rPr sz="3600" b="1">
                <a:solidFill>
                  <a:srgbClr val="172B24"/>
                </a:solidFill>
                <a:latin typeface="Arial"/>
                <a:ea typeface="Arial"/>
                <a:cs typeface="Arial"/>
              </a:rPr>
              <a:t>Problem &amp; Market Opportunity</a:t>
            </a:r>
          </a:p>
        </p:txBody>
      </p:sp>
      <p:sp>
        <p:nvSpPr>
          <p:cNvPr id="3" name="">
            <a:extLst xmlns:a="http://schemas.openxmlformats.org/drawingml/2006/main">
              <a:ext uri="{FF2B5EF4-FFF2-40B4-BE49-F238E27FC236}">
                <a16:creationId xmlns:a16="http://schemas.microsoft.com/office/drawing/2014/main" id="{25B77D81-D030-465A-92B6-2BA2DCEEEB8A}"/>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2 / 12</a:t>
            </a:r>
          </a:p>
        </p:txBody>
      </p:sp>
      <p:sp>
        <p:nvSpPr>
          <p:cNvPr id="4" name="">
            <a:extLst xmlns:a="http://schemas.openxmlformats.org/drawingml/2006/main">
              <a:ext uri="{FF2B5EF4-FFF2-40B4-BE49-F238E27FC236}">
                <a16:creationId xmlns:a16="http://schemas.microsoft.com/office/drawing/2014/main" id="{E45A37B1-050D-441B-9492-B8E14C7AB226}"/>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5C6A63"/>
                </a:solidFill>
                <a:latin typeface="Arial"/>
                <a:ea typeface="Arial"/>
                <a:cs typeface="Arial"/>
              </a:defRPr>
            </a:defPPr>
            <a:lvl1pPr>
              <a:defRPr sz="900" b="0">
                <a:solidFill>
                  <a:srgbClr val="5C6A63"/>
                </a:solidFill>
                <a:latin typeface="Arial"/>
                <a:ea typeface="Arial"/>
                <a:cs typeface="Arial"/>
              </a:defRPr>
            </a:lvl1pPr>
            <a:lvl2pPr>
              <a:defRPr sz="900" b="0">
                <a:solidFill>
                  <a:srgbClr val="5C6A63"/>
                </a:solidFill>
                <a:latin typeface="Arial"/>
                <a:ea typeface="Arial"/>
                <a:cs typeface="Arial"/>
              </a:defRPr>
            </a:lvl2pPr>
            <a:lvl3pPr>
              <a:defRPr sz="900" b="0">
                <a:solidFill>
                  <a:srgbClr val="5C6A63"/>
                </a:solidFill>
                <a:latin typeface="Arial"/>
                <a:ea typeface="Arial"/>
                <a:cs typeface="Arial"/>
              </a:defRPr>
            </a:lvl3pPr>
            <a:lvl4pPr>
              <a:defRPr sz="900" b="0">
                <a:solidFill>
                  <a:srgbClr val="5C6A63"/>
                </a:solidFill>
                <a:latin typeface="Arial"/>
                <a:ea typeface="Arial"/>
                <a:cs typeface="Arial"/>
              </a:defRPr>
            </a:lvl4pPr>
            <a:lvl5pPr>
              <a:defRPr sz="900" b="0">
                <a:solidFill>
                  <a:srgbClr val="5C6A63"/>
                </a:solidFill>
                <a:latin typeface="Arial"/>
                <a:ea typeface="Arial"/>
                <a:cs typeface="Arial"/>
              </a:defRPr>
            </a:lvl5pPr>
            <a:lvl6pPr>
              <a:defRPr sz="900" b="0">
                <a:solidFill>
                  <a:srgbClr val="5C6A63"/>
                </a:solidFill>
                <a:latin typeface="Arial"/>
                <a:ea typeface="Arial"/>
                <a:cs typeface="Arial"/>
              </a:defRPr>
            </a:lvl6pPr>
            <a:lvl7pPr>
              <a:defRPr sz="900" b="0">
                <a:solidFill>
                  <a:srgbClr val="5C6A63"/>
                </a:solidFill>
                <a:latin typeface="Arial"/>
                <a:ea typeface="Arial"/>
                <a:cs typeface="Arial"/>
              </a:defRPr>
            </a:lvl7pPr>
            <a:lvl8pPr>
              <a:defRPr sz="900" b="0">
                <a:solidFill>
                  <a:srgbClr val="5C6A63"/>
                </a:solidFill>
                <a:latin typeface="Arial"/>
                <a:ea typeface="Arial"/>
                <a:cs typeface="Arial"/>
              </a:defRPr>
            </a:lvl8pPr>
            <a:lvl9pPr>
              <a:defRPr sz="900" b="0">
                <a:solidFill>
                  <a:srgbClr val="5C6A63"/>
                </a:solidFill>
                <a:latin typeface="Arial"/>
                <a:ea typeface="Arial"/>
                <a:cs typeface="Arial"/>
              </a:defRPr>
            </a:lvl9pPr>
          </a:lstStyle>
          <a:p xmlns:a="http://schemas.openxmlformats.org/drawingml/2006/main">
            <a:pPr>
              <a:defRPr sz="900" b="0">
                <a:solidFill>
                  <a:srgbClr val="5C6A63"/>
                </a:solidFill>
                <a:latin typeface="Arial"/>
                <a:ea typeface="Arial"/>
                <a:cs typeface="Arial"/>
              </a:defRPr>
            </a:pPr>
            <a:r>
              <a:rPr sz="900" b="0">
                <a:solidFill>
                  <a:srgbClr val="5C6A63"/>
                </a:solidFill>
                <a:latin typeface="Arial"/>
                <a:ea typeface="Arial"/>
                <a:cs typeface="Arial"/>
              </a:rPr>
              <a:t>Working snapshot: 20 Oct 2026. Refresh before March 2027.</a:t>
            </a:r>
          </a:p>
        </p:txBody>
      </p:sp>
      <p:sp>
        <p:nvSpPr>
          <p:cNvPr id="5" name="">
            <a:extLst xmlns:a="http://schemas.openxmlformats.org/drawingml/2006/main">
              <a:ext uri="{FF2B5EF4-FFF2-40B4-BE49-F238E27FC236}">
                <a16:creationId xmlns:a16="http://schemas.microsoft.com/office/drawing/2014/main" id="{057A62EF-826A-44C1-ABF7-181F1972786B}"/>
              </a:ext>
            </a:extLst>
          </p:cNvPr>
          <p:cNvSpPr>
            <a:spLocks xmlns:a="http://schemas.openxmlformats.org/drawingml/2006/main" noGrp="1"/>
          </p:cNvSpPr>
          <p:nvPr/>
        </p:nvSpPr>
        <p:spPr>
          <a:xfrm xmlns:a="http://schemas.openxmlformats.org/drawingml/2006/main">
            <a:off x="609600" y="16859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C6A63"/>
                </a:solidFill>
                <a:latin typeface="Arial"/>
                <a:ea typeface="Arial"/>
                <a:cs typeface="Arial"/>
              </a:defRPr>
            </a:defPPr>
            <a:lvl1pPr>
              <a:defRPr sz="1575" b="0">
                <a:solidFill>
                  <a:srgbClr val="5C6A63"/>
                </a:solidFill>
                <a:latin typeface="Arial"/>
                <a:ea typeface="Arial"/>
                <a:cs typeface="Arial"/>
              </a:defRPr>
            </a:lvl1pPr>
            <a:lvl2pPr>
              <a:defRPr sz="1575" b="0">
                <a:solidFill>
                  <a:srgbClr val="5C6A63"/>
                </a:solidFill>
                <a:latin typeface="Arial"/>
                <a:ea typeface="Arial"/>
                <a:cs typeface="Arial"/>
              </a:defRPr>
            </a:lvl2pPr>
            <a:lvl3pPr>
              <a:defRPr sz="1575" b="0">
                <a:solidFill>
                  <a:srgbClr val="5C6A63"/>
                </a:solidFill>
                <a:latin typeface="Arial"/>
                <a:ea typeface="Arial"/>
                <a:cs typeface="Arial"/>
              </a:defRPr>
            </a:lvl3pPr>
            <a:lvl4pPr>
              <a:defRPr sz="1575" b="0">
                <a:solidFill>
                  <a:srgbClr val="5C6A63"/>
                </a:solidFill>
                <a:latin typeface="Arial"/>
                <a:ea typeface="Arial"/>
                <a:cs typeface="Arial"/>
              </a:defRPr>
            </a:lvl4pPr>
            <a:lvl5pPr>
              <a:defRPr sz="1575" b="0">
                <a:solidFill>
                  <a:srgbClr val="5C6A63"/>
                </a:solidFill>
                <a:latin typeface="Arial"/>
                <a:ea typeface="Arial"/>
                <a:cs typeface="Arial"/>
              </a:defRPr>
            </a:lvl5pPr>
            <a:lvl6pPr>
              <a:defRPr sz="1575" b="0">
                <a:solidFill>
                  <a:srgbClr val="5C6A63"/>
                </a:solidFill>
                <a:latin typeface="Arial"/>
                <a:ea typeface="Arial"/>
                <a:cs typeface="Arial"/>
              </a:defRPr>
            </a:lvl6pPr>
            <a:lvl7pPr>
              <a:defRPr sz="1575" b="0">
                <a:solidFill>
                  <a:srgbClr val="5C6A63"/>
                </a:solidFill>
                <a:latin typeface="Arial"/>
                <a:ea typeface="Arial"/>
                <a:cs typeface="Arial"/>
              </a:defRPr>
            </a:lvl7pPr>
            <a:lvl8pPr>
              <a:defRPr sz="1575" b="0">
                <a:solidFill>
                  <a:srgbClr val="5C6A63"/>
                </a:solidFill>
                <a:latin typeface="Arial"/>
                <a:ea typeface="Arial"/>
                <a:cs typeface="Arial"/>
              </a:defRPr>
            </a:lvl8pPr>
            <a:lvl9pPr>
              <a:defRPr sz="1575" b="0">
                <a:solidFill>
                  <a:srgbClr val="5C6A63"/>
                </a:solidFill>
                <a:latin typeface="Arial"/>
                <a:ea typeface="Arial"/>
                <a:cs typeface="Arial"/>
              </a:defRPr>
            </a:lvl9pPr>
          </a:lstStyle>
          <a:p xmlns:a="http://schemas.openxmlformats.org/drawingml/2006/main">
            <a:pPr>
              <a:defRPr sz="1575" b="0">
                <a:solidFill>
                  <a:srgbClr val="5C6A63"/>
                </a:solidFill>
                <a:latin typeface="Arial"/>
                <a:ea typeface="Arial"/>
                <a:cs typeface="Arial"/>
              </a:defRPr>
            </a:pPr>
            <a:r>
              <a:rPr sz="1575" b="0">
                <a:solidFill>
                  <a:srgbClr val="5C6A63"/>
                </a:solidFill>
                <a:latin typeface="Arial"/>
                <a:ea typeface="Arial"/>
                <a:cs typeface="Arial"/>
              </a:rPr>
              <a:t>Team-reported interviews: n = 15, qualitative input</a:t>
            </a:r>
          </a:p>
        </p:txBody>
      </p:sp>
      <p:graphicFrame>
        <p:nvGraphicFramePr>
          <p:cNvPr id="6" name="">
            <a:extLst xmlns:a="http://schemas.openxmlformats.org/drawingml/2006/main">
              <a:ext uri="{FF2B5EF4-FFF2-40B4-BE49-F238E27FC236}">
                <a16:creationId xmlns:a16="http://schemas.microsoft.com/office/drawing/2014/main" id="{A5701386-8B94-43DA-B38F-ED02F2823DDA}"/>
              </a:ext>
            </a:extLst>
          </p:cNvPr>
          <p:cNvGraphicFramePr/>
          <p:nvPr/>
        </p:nvGraphicFramePr>
        <p:xfrm>
          <a:off xmlns:a="http://schemas.openxmlformats.org/drawingml/2006/main" x="609600" y="2190750"/>
          <a:ext xmlns:a="http://schemas.openxmlformats.org/drawingml/2006/main" cx="6191250" cy="1581150"/>
        </p:xfrm>
        <a:graphic xmlns:a="http://schemas.openxmlformats.org/drawingml/2006/main">
          <a:graphicData uri="http://schemas.openxmlformats.org/drawingml/2006/table">
            <a:tbl>
              <a:tblPr/>
              <a:tblGrid>
                <a:gridCol w="2066925"/>
                <a:gridCol w="2076450"/>
                <a:gridCol w="2047875"/>
              </a:tblGrid>
              <a:tr h="400050">
                <a:tc>
                  <a:txBody>
                    <a:bodyPr>
                      <a:noAutofit/>
                    </a:bodyPr>
                    <a:lstStyle/>
                    <a:p>
                      <a:r>
                        <a:rPr sz="1425" b="1">
                          <a:solidFill>
                            <a:srgbClr val="FFFFFF"/>
                          </a:solidFill>
                          <a:latin typeface="Arial"/>
                          <a:ea typeface="Arial"/>
                          <a:cs typeface="Arial"/>
                        </a:rPr>
                        <a:t>Need or constraint</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425" b="1">
                          <a:solidFill>
                            <a:srgbClr val="FFFFFF"/>
                          </a:solidFill>
                          <a:latin typeface="Arial"/>
                          <a:ea typeface="Arial"/>
                          <a:cs typeface="Arial"/>
                        </a:rPr>
                        <a:t>Evidence IDs</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425" b="1">
                          <a:solidFill>
                            <a:srgbClr val="FFFFFF"/>
                          </a:solidFill>
                          <a:latin typeface="Arial"/>
                          <a:ea typeface="Arial"/>
                          <a:cs typeface="Arial"/>
                        </a:rPr>
                        <a:t>Design implication</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r>
              <a:tr h="400050">
                <a:tc>
                  <a:txBody>
                    <a:bodyPr>
                      <a:noAutofit/>
                    </a:bodyPr>
                    <a:lstStyle/>
                    <a:p>
                      <a:r>
                        <a:rPr sz="1425" b="0">
                          <a:solidFill>
                            <a:srgbClr val="172B24"/>
                          </a:solidFill>
                          <a:latin typeface="Arial"/>
                          <a:ea typeface="Arial"/>
                          <a:cs typeface="Arial"/>
                        </a:rPr>
                        <a:t>Occasional needs</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V002/005/008/015</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Planned requests first</a:t>
                      </a:r>
                    </a:p>
                  </a:txBody>
                  <a:tcPr marL="91440" marR="91440" marT="45720" marB="45720">
                    <a:lnR w="9525">
                      <a:solidFill>
                        <a:srgbClr val="D5DFD8"/>
                      </a:solidFill>
                      <a:prstDash val="solid"/>
                    </a:lnR>
                    <a:lnB w="9525">
                      <a:solidFill>
                        <a:srgbClr val="D5DFD8"/>
                      </a:solidFill>
                      <a:prstDash val="solid"/>
                    </a:lnB>
                    <a:solidFill>
                      <a:srgbClr val="FFFFFF"/>
                    </a:solidFill>
                  </a:tcPr>
                </a:tc>
              </a:tr>
              <a:tr h="400050">
                <a:tc>
                  <a:txBody>
                    <a:bodyPr>
                      <a:noAutofit/>
                    </a:bodyPr>
                    <a:lstStyle/>
                    <a:p>
                      <a:r>
                        <a:rPr sz="1425" b="0">
                          <a:solidFill>
                            <a:srgbClr val="172B24"/>
                          </a:solidFill>
                          <a:latin typeface="Arial"/>
                          <a:ea typeface="Arial"/>
                          <a:cs typeface="Arial"/>
                        </a:rPr>
                        <a:t>Owner commitment</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V001/003/009/012</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Dates + acceptance</a:t>
                      </a:r>
                    </a:p>
                  </a:txBody>
                  <a:tcPr marL="91440" marR="91440" marT="45720" marB="45720">
                    <a:lnR w="9525">
                      <a:solidFill>
                        <a:srgbClr val="D5DFD8"/>
                      </a:solidFill>
                      <a:prstDash val="solid"/>
                    </a:lnR>
                    <a:lnB w="9525">
                      <a:solidFill>
                        <a:srgbClr val="D5DFD8"/>
                      </a:solidFill>
                      <a:prstDash val="solid"/>
                    </a:lnB>
                    <a:solidFill>
                      <a:srgbClr val="FFFFFF"/>
                    </a:solidFill>
                  </a:tcPr>
                </a:tc>
              </a:tr>
              <a:tr h="400050">
                <a:tc>
                  <a:txBody>
                    <a:bodyPr>
                      <a:noAutofit/>
                    </a:bodyPr>
                    <a:lstStyle/>
                    <a:p>
                      <a:r>
                        <a:rPr sz="1425" b="0">
                          <a:solidFill>
                            <a:srgbClr val="172B24"/>
                          </a:solidFill>
                          <a:latin typeface="Arial"/>
                          <a:ea typeface="Arial"/>
                          <a:cs typeface="Arial"/>
                        </a:rPr>
                        <a:t>Privacy and choice</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V001/004/005/013</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Optional GPS / import</a:t>
                      </a:r>
                    </a:p>
                  </a:txBody>
                  <a:tcPr marL="91440" marR="91440" marT="45720" marB="45720">
                    <a:lnR w="9525">
                      <a:solidFill>
                        <a:srgbClr val="D5DFD8"/>
                      </a:solidFill>
                      <a:prstDash val="solid"/>
                    </a:lnR>
                    <a:lnB w="9525">
                      <a:solidFill>
                        <a:srgbClr val="D5DFD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7C8C5F1-C523-4B70-A54D-31511721D8CB}"/>
              </a:ext>
            </a:extLst>
          </p:cNvPr>
          <p:cNvSpPr>
            <a:spLocks xmlns:a="http://schemas.openxmlformats.org/drawingml/2006/main" noGrp="1"/>
          </p:cNvSpPr>
          <p:nvPr/>
        </p:nvSpPr>
        <p:spPr>
          <a:xfrm xmlns:a="http://schemas.openxmlformats.org/drawingml/2006/main">
            <a:off x="609600" y="40481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24634D"/>
                </a:solidFill>
                <a:latin typeface="Arial"/>
                <a:ea typeface="Arial"/>
                <a:cs typeface="Arial"/>
              </a:defRPr>
            </a:defPPr>
            <a:lvl1pPr>
              <a:defRPr sz="1800" b="1">
                <a:solidFill>
                  <a:srgbClr val="24634D"/>
                </a:solidFill>
                <a:latin typeface="Arial"/>
                <a:ea typeface="Arial"/>
                <a:cs typeface="Arial"/>
              </a:defRPr>
            </a:lvl1pPr>
            <a:lvl2pPr>
              <a:defRPr sz="1800" b="1">
                <a:solidFill>
                  <a:srgbClr val="24634D"/>
                </a:solidFill>
                <a:latin typeface="Arial"/>
                <a:ea typeface="Arial"/>
                <a:cs typeface="Arial"/>
              </a:defRPr>
            </a:lvl2pPr>
            <a:lvl3pPr>
              <a:defRPr sz="1800" b="1">
                <a:solidFill>
                  <a:srgbClr val="24634D"/>
                </a:solidFill>
                <a:latin typeface="Arial"/>
                <a:ea typeface="Arial"/>
                <a:cs typeface="Arial"/>
              </a:defRPr>
            </a:lvl3pPr>
            <a:lvl4pPr>
              <a:defRPr sz="1800" b="1">
                <a:solidFill>
                  <a:srgbClr val="24634D"/>
                </a:solidFill>
                <a:latin typeface="Arial"/>
                <a:ea typeface="Arial"/>
                <a:cs typeface="Arial"/>
              </a:defRPr>
            </a:lvl4pPr>
            <a:lvl5pPr>
              <a:defRPr sz="1800" b="1">
                <a:solidFill>
                  <a:srgbClr val="24634D"/>
                </a:solidFill>
                <a:latin typeface="Arial"/>
                <a:ea typeface="Arial"/>
                <a:cs typeface="Arial"/>
              </a:defRPr>
            </a:lvl5pPr>
            <a:lvl6pPr>
              <a:defRPr sz="1800" b="1">
                <a:solidFill>
                  <a:srgbClr val="24634D"/>
                </a:solidFill>
                <a:latin typeface="Arial"/>
                <a:ea typeface="Arial"/>
                <a:cs typeface="Arial"/>
              </a:defRPr>
            </a:lvl6pPr>
            <a:lvl7pPr>
              <a:defRPr sz="1800" b="1">
                <a:solidFill>
                  <a:srgbClr val="24634D"/>
                </a:solidFill>
                <a:latin typeface="Arial"/>
                <a:ea typeface="Arial"/>
                <a:cs typeface="Arial"/>
              </a:defRPr>
            </a:lvl7pPr>
            <a:lvl8pPr>
              <a:defRPr sz="1800" b="1">
                <a:solidFill>
                  <a:srgbClr val="24634D"/>
                </a:solidFill>
                <a:latin typeface="Arial"/>
                <a:ea typeface="Arial"/>
                <a:cs typeface="Arial"/>
              </a:defRPr>
            </a:lvl8pPr>
            <a:lvl9pPr>
              <a:defRPr sz="1800" b="1">
                <a:solidFill>
                  <a:srgbClr val="24634D"/>
                </a:solidFill>
                <a:latin typeface="Arial"/>
                <a:ea typeface="Arial"/>
                <a:cs typeface="Arial"/>
              </a:defRPr>
            </a:lvl9pPr>
          </a:lstStyle>
          <a:p xmlns:a="http://schemas.openxmlformats.org/drawingml/2006/main">
            <a:pPr>
              <a:defRPr sz="1800" b="1">
                <a:solidFill>
                  <a:srgbClr val="24634D"/>
                </a:solidFill>
                <a:latin typeface="Arial"/>
                <a:ea typeface="Arial"/>
                <a:cs typeface="Arial"/>
              </a:defRPr>
            </a:pPr>
            <a:r>
              <a:rPr sz="1800" b="1">
                <a:solidFill>
                  <a:srgbClr val="24634D"/>
                </a:solidFill>
                <a:latin typeface="Arial"/>
                <a:ea typeface="Arial"/>
                <a:cs typeface="Arial"/>
              </a:rPr>
              <a:t>First target customer</a:t>
            </a:r>
          </a:p>
        </p:txBody>
      </p:sp>
      <p:sp>
        <p:nvSpPr>
          <p:cNvPr id="8" name="">
            <a:extLst xmlns:a="http://schemas.openxmlformats.org/drawingml/2006/main">
              <a:ext uri="{FF2B5EF4-FFF2-40B4-BE49-F238E27FC236}">
                <a16:creationId xmlns:a16="http://schemas.microsoft.com/office/drawing/2014/main" id="{F2640E36-D8F1-46E6-B6D2-6DEEB3E77861}"/>
              </a:ext>
            </a:extLst>
          </p:cNvPr>
          <p:cNvSpPr>
            <a:spLocks xmlns:a="http://schemas.openxmlformats.org/drawingml/2006/main" noGrp="1"/>
          </p:cNvSpPr>
          <p:nvPr/>
        </p:nvSpPr>
        <p:spPr>
          <a:xfrm xmlns:a="http://schemas.openxmlformats.org/drawingml/2006/main">
            <a:off x="609600" y="4486275"/>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72B24"/>
                </a:solidFill>
                <a:latin typeface="Arial"/>
                <a:ea typeface="Arial"/>
                <a:cs typeface="Arial"/>
              </a:defRPr>
            </a:defPPr>
            <a:lvl1pPr>
              <a:defRPr sz="1725" b="0">
                <a:solidFill>
                  <a:srgbClr val="172B24"/>
                </a:solidFill>
                <a:latin typeface="Arial"/>
                <a:ea typeface="Arial"/>
                <a:cs typeface="Arial"/>
              </a:defRPr>
            </a:lvl1pPr>
            <a:lvl2pPr>
              <a:defRPr sz="1725" b="0">
                <a:solidFill>
                  <a:srgbClr val="172B24"/>
                </a:solidFill>
                <a:latin typeface="Arial"/>
                <a:ea typeface="Arial"/>
                <a:cs typeface="Arial"/>
              </a:defRPr>
            </a:lvl2pPr>
            <a:lvl3pPr>
              <a:defRPr sz="1725" b="0">
                <a:solidFill>
                  <a:srgbClr val="172B24"/>
                </a:solidFill>
                <a:latin typeface="Arial"/>
                <a:ea typeface="Arial"/>
                <a:cs typeface="Arial"/>
              </a:defRPr>
            </a:lvl3pPr>
            <a:lvl4pPr>
              <a:defRPr sz="1725" b="0">
                <a:solidFill>
                  <a:srgbClr val="172B24"/>
                </a:solidFill>
                <a:latin typeface="Arial"/>
                <a:ea typeface="Arial"/>
                <a:cs typeface="Arial"/>
              </a:defRPr>
            </a:lvl4pPr>
            <a:lvl5pPr>
              <a:defRPr sz="1725" b="0">
                <a:solidFill>
                  <a:srgbClr val="172B24"/>
                </a:solidFill>
                <a:latin typeface="Arial"/>
                <a:ea typeface="Arial"/>
                <a:cs typeface="Arial"/>
              </a:defRPr>
            </a:lvl5pPr>
            <a:lvl6pPr>
              <a:defRPr sz="1725" b="0">
                <a:solidFill>
                  <a:srgbClr val="172B24"/>
                </a:solidFill>
                <a:latin typeface="Arial"/>
                <a:ea typeface="Arial"/>
                <a:cs typeface="Arial"/>
              </a:defRPr>
            </a:lvl6pPr>
            <a:lvl7pPr>
              <a:defRPr sz="1725" b="0">
                <a:solidFill>
                  <a:srgbClr val="172B24"/>
                </a:solidFill>
                <a:latin typeface="Arial"/>
                <a:ea typeface="Arial"/>
                <a:cs typeface="Arial"/>
              </a:defRPr>
            </a:lvl7pPr>
            <a:lvl8pPr>
              <a:defRPr sz="1725" b="0">
                <a:solidFill>
                  <a:srgbClr val="172B24"/>
                </a:solidFill>
                <a:latin typeface="Arial"/>
                <a:ea typeface="Arial"/>
                <a:cs typeface="Arial"/>
              </a:defRPr>
            </a:lvl8pPr>
            <a:lvl9pPr>
              <a:defRPr sz="1725" b="0">
                <a:solidFill>
                  <a:srgbClr val="172B24"/>
                </a:solidFill>
                <a:latin typeface="Arial"/>
                <a:ea typeface="Arial"/>
                <a:cs typeface="Arial"/>
              </a:defRPr>
            </a:lvl9pPr>
          </a:lstStyle>
          <a:p xmlns:a="http://schemas.openxmlformats.org/drawingml/2006/main">
            <a:pPr>
              <a:defRPr sz="1725" b="0">
                <a:solidFill>
                  <a:srgbClr val="172B24"/>
                </a:solidFill>
                <a:latin typeface="Arial"/>
                <a:ea typeface="Arial"/>
                <a:cs typeface="Arial"/>
              </a:defRPr>
            </a:pPr>
            <a:r>
              <a:rPr sz="1725" b="0">
                <a:solidFill>
                  <a:srgbClr val="172B24"/>
                </a:solidFill>
                <a:latin typeface="Arial"/>
                <a:ea typeface="Arial"/>
                <a:cs typeface="Arial"/>
              </a:rPr>
              <a:t>A DTS student with a planned item need,</a:t>
            </a:r>
          </a:p>
          <a:p xmlns:a="http://schemas.openxmlformats.org/drawingml/2006/main">
            <a:pPr>
              <a:defRPr sz="1725" b="0">
                <a:solidFill>
                  <a:srgbClr val="172B24"/>
                </a:solidFill>
                <a:latin typeface="Arial"/>
                <a:ea typeface="Arial"/>
                <a:cs typeface="Arial"/>
              </a:defRPr>
            </a:pPr>
            <a:r>
              <a:rPr sz="1725" b="0">
                <a:solidFill>
                  <a:srgbClr val="172B24"/>
                </a:solidFill>
                <a:latin typeface="Arial"/>
                <a:ea typeface="Arial"/>
                <a:cs typeface="Arial"/>
              </a:rPr>
              <a:t>without a suitable item from a known peer.</a:t>
            </a:r>
          </a:p>
        </p:txBody>
      </p:sp>
      <p:sp>
        <p:nvSpPr>
          <p:cNvPr id="9" name="">
            <a:extLst xmlns:a="http://schemas.openxmlformats.org/drawingml/2006/main">
              <a:ext uri="{FF2B5EF4-FFF2-40B4-BE49-F238E27FC236}">
                <a16:creationId xmlns:a16="http://schemas.microsoft.com/office/drawing/2014/main" id="{CE1596FC-0A5E-45E9-A1BD-F5BBA95C2EFF}"/>
              </a:ext>
            </a:extLst>
          </p:cNvPr>
          <p:cNvSpPr>
            <a:spLocks xmlns:a="http://schemas.openxmlformats.org/drawingml/2006/main" noGrp="1"/>
          </p:cNvSpPr>
          <p:nvPr/>
        </p:nvSpPr>
        <p:spPr>
          <a:xfrm xmlns:a="http://schemas.openxmlformats.org/drawingml/2006/main">
            <a:off x="7334250" y="17145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24634D"/>
                </a:solidFill>
                <a:latin typeface="Arial"/>
                <a:ea typeface="Arial"/>
                <a:cs typeface="Arial"/>
              </a:defRPr>
            </a:defPPr>
            <a:lvl1pPr>
              <a:defRPr sz="1425" b="1">
                <a:solidFill>
                  <a:srgbClr val="24634D"/>
                </a:solidFill>
                <a:latin typeface="Arial"/>
                <a:ea typeface="Arial"/>
                <a:cs typeface="Arial"/>
              </a:defRPr>
            </a:lvl1pPr>
            <a:lvl2pPr>
              <a:defRPr sz="1425" b="1">
                <a:solidFill>
                  <a:srgbClr val="24634D"/>
                </a:solidFill>
                <a:latin typeface="Arial"/>
                <a:ea typeface="Arial"/>
                <a:cs typeface="Arial"/>
              </a:defRPr>
            </a:lvl2pPr>
            <a:lvl3pPr>
              <a:defRPr sz="1425" b="1">
                <a:solidFill>
                  <a:srgbClr val="24634D"/>
                </a:solidFill>
                <a:latin typeface="Arial"/>
                <a:ea typeface="Arial"/>
                <a:cs typeface="Arial"/>
              </a:defRPr>
            </a:lvl3pPr>
            <a:lvl4pPr>
              <a:defRPr sz="1425" b="1">
                <a:solidFill>
                  <a:srgbClr val="24634D"/>
                </a:solidFill>
                <a:latin typeface="Arial"/>
                <a:ea typeface="Arial"/>
                <a:cs typeface="Arial"/>
              </a:defRPr>
            </a:lvl4pPr>
            <a:lvl5pPr>
              <a:defRPr sz="1425" b="1">
                <a:solidFill>
                  <a:srgbClr val="24634D"/>
                </a:solidFill>
                <a:latin typeface="Arial"/>
                <a:ea typeface="Arial"/>
                <a:cs typeface="Arial"/>
              </a:defRPr>
            </a:lvl5pPr>
            <a:lvl6pPr>
              <a:defRPr sz="1425" b="1">
                <a:solidFill>
                  <a:srgbClr val="24634D"/>
                </a:solidFill>
                <a:latin typeface="Arial"/>
                <a:ea typeface="Arial"/>
                <a:cs typeface="Arial"/>
              </a:defRPr>
            </a:lvl6pPr>
            <a:lvl7pPr>
              <a:defRPr sz="1425" b="1">
                <a:solidFill>
                  <a:srgbClr val="24634D"/>
                </a:solidFill>
                <a:latin typeface="Arial"/>
                <a:ea typeface="Arial"/>
                <a:cs typeface="Arial"/>
              </a:defRPr>
            </a:lvl7pPr>
            <a:lvl8pPr>
              <a:defRPr sz="1425" b="1">
                <a:solidFill>
                  <a:srgbClr val="24634D"/>
                </a:solidFill>
                <a:latin typeface="Arial"/>
                <a:ea typeface="Arial"/>
                <a:cs typeface="Arial"/>
              </a:defRPr>
            </a:lvl8pPr>
            <a:lvl9pPr>
              <a:defRPr sz="1425" b="1">
                <a:solidFill>
                  <a:srgbClr val="24634D"/>
                </a:solidFill>
                <a:latin typeface="Arial"/>
                <a:ea typeface="Arial"/>
                <a:cs typeface="Arial"/>
              </a:defRPr>
            </a:lvl9pPr>
          </a:lstStyle>
          <a:p xmlns:a="http://schemas.openxmlformats.org/drawingml/2006/main">
            <a:pPr>
              <a:defRPr sz="1425" b="1">
                <a:solidFill>
                  <a:srgbClr val="24634D"/>
                </a:solidFill>
                <a:latin typeface="Arial"/>
                <a:ea typeface="Arial"/>
                <a:cs typeface="Arial"/>
              </a:defRPr>
            </a:pPr>
            <a:r>
              <a:rPr sz="1425" b="1">
                <a:solidFill>
                  <a:srgbClr val="24634D"/>
                </a:solidFill>
                <a:latin typeface="Arial"/>
                <a:ea typeface="Arial"/>
                <a:cs typeface="Arial"/>
              </a:rPr>
              <a:t>TAM context (XEC)</a:t>
            </a:r>
          </a:p>
        </p:txBody>
      </p:sp>
      <p:sp>
        <p:nvSpPr>
          <p:cNvPr id="10" name="">
            <a:extLst xmlns:a="http://schemas.openxmlformats.org/drawingml/2006/main">
              <a:ext uri="{FF2B5EF4-FFF2-40B4-BE49-F238E27FC236}">
                <a16:creationId xmlns:a16="http://schemas.microsoft.com/office/drawing/2014/main" id="{71195975-1A91-4629-A36A-D84A9517A916}"/>
              </a:ext>
            </a:extLst>
          </p:cNvPr>
          <p:cNvSpPr>
            <a:spLocks xmlns:a="http://schemas.openxmlformats.org/drawingml/2006/main" noGrp="1"/>
          </p:cNvSpPr>
          <p:nvPr/>
        </p:nvSpPr>
        <p:spPr>
          <a:xfrm xmlns:a="http://schemas.openxmlformats.org/drawingml/2006/main">
            <a:off x="7315200" y="21145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825" b="1">
                <a:solidFill>
                  <a:srgbClr val="172B24"/>
                </a:solidFill>
                <a:latin typeface="Arial"/>
                <a:ea typeface="Arial"/>
                <a:cs typeface="Arial"/>
              </a:defRPr>
            </a:defPPr>
            <a:lvl1pPr>
              <a:defRPr sz="3825" b="1">
                <a:solidFill>
                  <a:srgbClr val="172B24"/>
                </a:solidFill>
                <a:latin typeface="Arial"/>
                <a:ea typeface="Arial"/>
                <a:cs typeface="Arial"/>
              </a:defRPr>
            </a:lvl1pPr>
            <a:lvl2pPr>
              <a:defRPr sz="3825" b="1">
                <a:solidFill>
                  <a:srgbClr val="172B24"/>
                </a:solidFill>
                <a:latin typeface="Arial"/>
                <a:ea typeface="Arial"/>
                <a:cs typeface="Arial"/>
              </a:defRPr>
            </a:lvl2pPr>
            <a:lvl3pPr>
              <a:defRPr sz="3825" b="1">
                <a:solidFill>
                  <a:srgbClr val="172B24"/>
                </a:solidFill>
                <a:latin typeface="Arial"/>
                <a:ea typeface="Arial"/>
                <a:cs typeface="Arial"/>
              </a:defRPr>
            </a:lvl3pPr>
            <a:lvl4pPr>
              <a:defRPr sz="3825" b="1">
                <a:solidFill>
                  <a:srgbClr val="172B24"/>
                </a:solidFill>
                <a:latin typeface="Arial"/>
                <a:ea typeface="Arial"/>
                <a:cs typeface="Arial"/>
              </a:defRPr>
            </a:lvl4pPr>
            <a:lvl5pPr>
              <a:defRPr sz="3825" b="1">
                <a:solidFill>
                  <a:srgbClr val="172B24"/>
                </a:solidFill>
                <a:latin typeface="Arial"/>
                <a:ea typeface="Arial"/>
                <a:cs typeface="Arial"/>
              </a:defRPr>
            </a:lvl5pPr>
            <a:lvl6pPr>
              <a:defRPr sz="3825" b="1">
                <a:solidFill>
                  <a:srgbClr val="172B24"/>
                </a:solidFill>
                <a:latin typeface="Arial"/>
                <a:ea typeface="Arial"/>
                <a:cs typeface="Arial"/>
              </a:defRPr>
            </a:lvl6pPr>
            <a:lvl7pPr>
              <a:defRPr sz="3825" b="1">
                <a:solidFill>
                  <a:srgbClr val="172B24"/>
                </a:solidFill>
                <a:latin typeface="Arial"/>
                <a:ea typeface="Arial"/>
                <a:cs typeface="Arial"/>
              </a:defRPr>
            </a:lvl7pPr>
            <a:lvl8pPr>
              <a:defRPr sz="3825" b="1">
                <a:solidFill>
                  <a:srgbClr val="172B24"/>
                </a:solidFill>
                <a:latin typeface="Arial"/>
                <a:ea typeface="Arial"/>
                <a:cs typeface="Arial"/>
              </a:defRPr>
            </a:lvl8pPr>
            <a:lvl9pPr>
              <a:defRPr sz="3825" b="1">
                <a:solidFill>
                  <a:srgbClr val="172B24"/>
                </a:solidFill>
                <a:latin typeface="Arial"/>
                <a:ea typeface="Arial"/>
                <a:cs typeface="Arial"/>
              </a:defRPr>
            </a:lvl9pPr>
          </a:lstStyle>
          <a:p xmlns:a="http://schemas.openxmlformats.org/drawingml/2006/main">
            <a:pPr>
              <a:defRPr sz="3825" b="1">
                <a:solidFill>
                  <a:srgbClr val="172B24"/>
                </a:solidFill>
                <a:latin typeface="Arial"/>
                <a:ea typeface="Arial"/>
                <a:cs typeface="Arial"/>
              </a:defRPr>
            </a:pPr>
            <a:r>
              <a:rPr sz="3825" b="1">
                <a:solidFill>
                  <a:srgbClr val="172B24"/>
                </a:solidFill>
                <a:latin typeface="Arial"/>
                <a:ea typeface="Arial"/>
                <a:cs typeface="Arial"/>
              </a:rPr>
              <a:t>4,000+</a:t>
            </a:r>
          </a:p>
        </p:txBody>
      </p:sp>
      <p:sp>
        <p:nvSpPr>
          <p:cNvPr id="11" name="">
            <a:extLst xmlns:a="http://schemas.openxmlformats.org/drawingml/2006/main">
              <a:ext uri="{FF2B5EF4-FFF2-40B4-BE49-F238E27FC236}">
                <a16:creationId xmlns:a16="http://schemas.microsoft.com/office/drawing/2014/main" id="{5FAA82F6-AE38-4D69-BA97-BAE983A5FD42}"/>
              </a:ext>
            </a:extLst>
          </p:cNvPr>
          <p:cNvSpPr>
            <a:spLocks xmlns:a="http://schemas.openxmlformats.org/drawingml/2006/main" noGrp="1"/>
          </p:cNvSpPr>
          <p:nvPr/>
        </p:nvSpPr>
        <p:spPr>
          <a:xfrm xmlns:a="http://schemas.openxmlformats.org/drawingml/2006/main">
            <a:off x="7334250" y="2800350"/>
            <a:ext cx="2095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May 2026 report.</a:t>
            </a:r>
          </a:p>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Population, not demand.</a:t>
            </a:r>
          </a:p>
        </p:txBody>
      </p:sp>
      <p:sp>
        <p:nvSpPr>
          <p:cNvPr id="12" name="">
            <a:extLst xmlns:a="http://schemas.openxmlformats.org/drawingml/2006/main">
              <a:ext uri="{FF2B5EF4-FFF2-40B4-BE49-F238E27FC236}">
                <a16:creationId xmlns:a16="http://schemas.microsoft.com/office/drawing/2014/main" id="{6FA8EDC2-67C3-459A-9CB0-42DF031A56D4}"/>
              </a:ext>
            </a:extLst>
          </p:cNvPr>
          <p:cNvSpPr>
            <a:spLocks xmlns:a="http://schemas.openxmlformats.org/drawingml/2006/main" noGrp="1"/>
          </p:cNvSpPr>
          <p:nvPr/>
        </p:nvSpPr>
        <p:spPr>
          <a:xfrm xmlns:a="http://schemas.openxmlformats.org/drawingml/2006/main">
            <a:off x="9563100" y="17145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24634D"/>
                </a:solidFill>
                <a:latin typeface="Arial"/>
                <a:ea typeface="Arial"/>
                <a:cs typeface="Arial"/>
              </a:defRPr>
            </a:defPPr>
            <a:lvl1pPr>
              <a:defRPr sz="1425" b="1">
                <a:solidFill>
                  <a:srgbClr val="24634D"/>
                </a:solidFill>
                <a:latin typeface="Arial"/>
                <a:ea typeface="Arial"/>
                <a:cs typeface="Arial"/>
              </a:defRPr>
            </a:lvl1pPr>
            <a:lvl2pPr>
              <a:defRPr sz="1425" b="1">
                <a:solidFill>
                  <a:srgbClr val="24634D"/>
                </a:solidFill>
                <a:latin typeface="Arial"/>
                <a:ea typeface="Arial"/>
                <a:cs typeface="Arial"/>
              </a:defRPr>
            </a:lvl2pPr>
            <a:lvl3pPr>
              <a:defRPr sz="1425" b="1">
                <a:solidFill>
                  <a:srgbClr val="24634D"/>
                </a:solidFill>
                <a:latin typeface="Arial"/>
                <a:ea typeface="Arial"/>
                <a:cs typeface="Arial"/>
              </a:defRPr>
            </a:lvl3pPr>
            <a:lvl4pPr>
              <a:defRPr sz="1425" b="1">
                <a:solidFill>
                  <a:srgbClr val="24634D"/>
                </a:solidFill>
                <a:latin typeface="Arial"/>
                <a:ea typeface="Arial"/>
                <a:cs typeface="Arial"/>
              </a:defRPr>
            </a:lvl4pPr>
            <a:lvl5pPr>
              <a:defRPr sz="1425" b="1">
                <a:solidFill>
                  <a:srgbClr val="24634D"/>
                </a:solidFill>
                <a:latin typeface="Arial"/>
                <a:ea typeface="Arial"/>
                <a:cs typeface="Arial"/>
              </a:defRPr>
            </a:lvl5pPr>
            <a:lvl6pPr>
              <a:defRPr sz="1425" b="1">
                <a:solidFill>
                  <a:srgbClr val="24634D"/>
                </a:solidFill>
                <a:latin typeface="Arial"/>
                <a:ea typeface="Arial"/>
                <a:cs typeface="Arial"/>
              </a:defRPr>
            </a:lvl6pPr>
            <a:lvl7pPr>
              <a:defRPr sz="1425" b="1">
                <a:solidFill>
                  <a:srgbClr val="24634D"/>
                </a:solidFill>
                <a:latin typeface="Arial"/>
                <a:ea typeface="Arial"/>
                <a:cs typeface="Arial"/>
              </a:defRPr>
            </a:lvl7pPr>
            <a:lvl8pPr>
              <a:defRPr sz="1425" b="1">
                <a:solidFill>
                  <a:srgbClr val="24634D"/>
                </a:solidFill>
                <a:latin typeface="Arial"/>
                <a:ea typeface="Arial"/>
                <a:cs typeface="Arial"/>
              </a:defRPr>
            </a:lvl8pPr>
            <a:lvl9pPr>
              <a:defRPr sz="1425" b="1">
                <a:solidFill>
                  <a:srgbClr val="24634D"/>
                </a:solidFill>
                <a:latin typeface="Arial"/>
                <a:ea typeface="Arial"/>
                <a:cs typeface="Arial"/>
              </a:defRPr>
            </a:lvl9pPr>
          </a:lstStyle>
          <a:p xmlns:a="http://schemas.openxmlformats.org/drawingml/2006/main">
            <a:pPr>
              <a:defRPr sz="1425" b="1">
                <a:solidFill>
                  <a:srgbClr val="24634D"/>
                </a:solidFill>
                <a:latin typeface="Arial"/>
                <a:ea typeface="Arial"/>
                <a:cs typeface="Arial"/>
              </a:defRPr>
            </a:pPr>
            <a:r>
              <a:rPr sz="1425" b="1">
                <a:solidFill>
                  <a:srgbClr val="24634D"/>
                </a:solidFill>
                <a:latin typeface="Arial"/>
                <a:ea typeface="Arial"/>
                <a:cs typeface="Arial"/>
              </a:rPr>
              <a:t>Pilot SAM boundary</a:t>
            </a:r>
          </a:p>
        </p:txBody>
      </p:sp>
      <p:sp>
        <p:nvSpPr>
          <p:cNvPr id="13" name="">
            <a:extLst xmlns:a="http://schemas.openxmlformats.org/drawingml/2006/main">
              <a:ext uri="{FF2B5EF4-FFF2-40B4-BE49-F238E27FC236}">
                <a16:creationId xmlns:a16="http://schemas.microsoft.com/office/drawing/2014/main" id="{F3B19BA1-30FE-42D3-BD86-CE5FCE370D7C}"/>
              </a:ext>
            </a:extLst>
          </p:cNvPr>
          <p:cNvSpPr>
            <a:spLocks xmlns:a="http://schemas.openxmlformats.org/drawingml/2006/main" noGrp="1"/>
          </p:cNvSpPr>
          <p:nvPr/>
        </p:nvSpPr>
        <p:spPr>
          <a:xfrm xmlns:a="http://schemas.openxmlformats.org/drawingml/2006/main">
            <a:off x="9544050" y="21145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825" b="1">
                <a:solidFill>
                  <a:srgbClr val="172B24"/>
                </a:solidFill>
                <a:latin typeface="Arial"/>
                <a:ea typeface="Arial"/>
                <a:cs typeface="Arial"/>
              </a:defRPr>
            </a:defPPr>
            <a:lvl1pPr>
              <a:defRPr sz="3825" b="1">
                <a:solidFill>
                  <a:srgbClr val="172B24"/>
                </a:solidFill>
                <a:latin typeface="Arial"/>
                <a:ea typeface="Arial"/>
                <a:cs typeface="Arial"/>
              </a:defRPr>
            </a:lvl1pPr>
            <a:lvl2pPr>
              <a:defRPr sz="3825" b="1">
                <a:solidFill>
                  <a:srgbClr val="172B24"/>
                </a:solidFill>
                <a:latin typeface="Arial"/>
                <a:ea typeface="Arial"/>
                <a:cs typeface="Arial"/>
              </a:defRPr>
            </a:lvl2pPr>
            <a:lvl3pPr>
              <a:defRPr sz="3825" b="1">
                <a:solidFill>
                  <a:srgbClr val="172B24"/>
                </a:solidFill>
                <a:latin typeface="Arial"/>
                <a:ea typeface="Arial"/>
                <a:cs typeface="Arial"/>
              </a:defRPr>
            </a:lvl3pPr>
            <a:lvl4pPr>
              <a:defRPr sz="3825" b="1">
                <a:solidFill>
                  <a:srgbClr val="172B24"/>
                </a:solidFill>
                <a:latin typeface="Arial"/>
                <a:ea typeface="Arial"/>
                <a:cs typeface="Arial"/>
              </a:defRPr>
            </a:lvl4pPr>
            <a:lvl5pPr>
              <a:defRPr sz="3825" b="1">
                <a:solidFill>
                  <a:srgbClr val="172B24"/>
                </a:solidFill>
                <a:latin typeface="Arial"/>
                <a:ea typeface="Arial"/>
                <a:cs typeface="Arial"/>
              </a:defRPr>
            </a:lvl5pPr>
            <a:lvl6pPr>
              <a:defRPr sz="3825" b="1">
                <a:solidFill>
                  <a:srgbClr val="172B24"/>
                </a:solidFill>
                <a:latin typeface="Arial"/>
                <a:ea typeface="Arial"/>
                <a:cs typeface="Arial"/>
              </a:defRPr>
            </a:lvl6pPr>
            <a:lvl7pPr>
              <a:defRPr sz="3825" b="1">
                <a:solidFill>
                  <a:srgbClr val="172B24"/>
                </a:solidFill>
                <a:latin typeface="Arial"/>
                <a:ea typeface="Arial"/>
                <a:cs typeface="Arial"/>
              </a:defRPr>
            </a:lvl7pPr>
            <a:lvl8pPr>
              <a:defRPr sz="3825" b="1">
                <a:solidFill>
                  <a:srgbClr val="172B24"/>
                </a:solidFill>
                <a:latin typeface="Arial"/>
                <a:ea typeface="Arial"/>
                <a:cs typeface="Arial"/>
              </a:defRPr>
            </a:lvl8pPr>
            <a:lvl9pPr>
              <a:defRPr sz="3825" b="1">
                <a:solidFill>
                  <a:srgbClr val="172B24"/>
                </a:solidFill>
                <a:latin typeface="Arial"/>
                <a:ea typeface="Arial"/>
                <a:cs typeface="Arial"/>
              </a:defRPr>
            </a:lvl9pPr>
          </a:lstStyle>
          <a:p xmlns:a="http://schemas.openxmlformats.org/drawingml/2006/main">
            <a:pPr>
              <a:defRPr sz="3825" b="1">
                <a:solidFill>
                  <a:srgbClr val="172B24"/>
                </a:solidFill>
                <a:latin typeface="Arial"/>
                <a:ea typeface="Arial"/>
                <a:cs typeface="Arial"/>
              </a:defRPr>
            </a:pPr>
            <a:r>
              <a:rPr sz="3825" b="1">
                <a:solidFill>
                  <a:srgbClr val="172B24"/>
                </a:solidFill>
                <a:latin typeface="Arial"/>
                <a:ea typeface="Arial"/>
                <a:cs typeface="Arial"/>
              </a:rPr>
              <a:t>~430</a:t>
            </a:r>
          </a:p>
        </p:txBody>
      </p:sp>
      <p:sp>
        <p:nvSpPr>
          <p:cNvPr id="14" name="">
            <a:extLst xmlns:a="http://schemas.openxmlformats.org/drawingml/2006/main">
              <a:ext uri="{FF2B5EF4-FFF2-40B4-BE49-F238E27FC236}">
                <a16:creationId xmlns:a16="http://schemas.microsoft.com/office/drawing/2014/main" id="{3C5C3499-8100-442D-B80A-6E768B34DA5E}"/>
              </a:ext>
            </a:extLst>
          </p:cNvPr>
          <p:cNvSpPr>
            <a:spLocks xmlns:a="http://schemas.openxmlformats.org/drawingml/2006/main" noGrp="1"/>
          </p:cNvSpPr>
          <p:nvPr/>
        </p:nvSpPr>
        <p:spPr>
          <a:xfrm xmlns:a="http://schemas.openxmlformats.org/drawingml/2006/main">
            <a:off x="9563100" y="2800350"/>
            <a:ext cx="2095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Eight DTS classes.</a:t>
            </a:r>
          </a:p>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Team estimate.</a:t>
            </a:r>
          </a:p>
        </p:txBody>
      </p:sp>
      <p:graphicFrame>
        <p:nvGraphicFramePr>
          <p:cNvPr id="15" name="Chart">
            <a:extLst xmlns:a="http://schemas.openxmlformats.org/drawingml/2006/main">
              <a:ext uri="{FF2B5EF4-FFF2-40B4-BE49-F238E27FC236}">
                <a16:creationId xmlns:a16="http://schemas.microsoft.com/office/drawing/2014/main" id="{34802A43-33EF-486D-99FB-CE698D4678D7}"/>
              </a:ext>
            </a:extLst>
          </p:cNvPr>
          <p:cNvGraphicFramePr/>
          <p:nvPr/>
        </p:nvGraphicFramePr>
        <p:xfrm>
          <a:off xmlns:a="http://schemas.openxmlformats.org/drawingml/2006/main" x="7191375" y="3524250"/>
          <a:ext xmlns:a="http://schemas.openxmlformats.org/drawingml/2006/main" cx="4391025" cy="1714500"/>
        </p:xfrm>
        <a:graphic xmlns:a="http://schemas.openxmlformats.org/drawingml/2006/main">
          <a:graphicData uri="http://schemas.openxmlformats.org/drawingml/2006/chart">
            <c:chart xmlns:r="http://schemas.openxmlformats.org/officeDocument/2006/relationships" xmlns:c="http://schemas.openxmlformats.org/drawingml/2006/chart" r:id="Rf4b9d97d88884a2f"/>
          </a:graphicData>
        </a:graphic>
      </p:graphicFrame>
      <p:sp>
        <p:nvSpPr>
          <p:cNvPr id="16" name="">
            <a:extLst xmlns:a="http://schemas.openxmlformats.org/drawingml/2006/main">
              <a:ext uri="{FF2B5EF4-FFF2-40B4-BE49-F238E27FC236}">
                <a16:creationId xmlns:a16="http://schemas.microsoft.com/office/drawing/2014/main" id="{8FB1F673-FE12-40D0-84D5-1937AEEA5C54}"/>
              </a:ext>
            </a:extLst>
          </p:cNvPr>
          <p:cNvSpPr>
            <a:spLocks xmlns:a="http://schemas.openxmlformats.org/drawingml/2006/main" noGrp="1"/>
          </p:cNvSpPr>
          <p:nvPr/>
        </p:nvSpPr>
        <p:spPr>
          <a:xfrm xmlns:a="http://schemas.openxmlformats.org/drawingml/2006/main">
            <a:off x="609600" y="53054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80 × 10% posting × 25% completion = 2. Supply cap: 4 owners × 2 fulfilments = 8.</a:t>
            </a:r>
          </a:p>
        </p:txBody>
      </p:sp>
      <p:graphicFrame>
        <p:nvGraphicFramePr>
          <p:cNvPr id="17" name="">
            <a:extLst xmlns:a="http://schemas.openxmlformats.org/drawingml/2006/main">
              <a:ext uri="{FF2B5EF4-FFF2-40B4-BE49-F238E27FC236}">
                <a16:creationId xmlns:a16="http://schemas.microsoft.com/office/drawing/2014/main" id="{5A6ACDE7-1C9B-4CF1-9239-62961E2E7818}"/>
              </a:ext>
            </a:extLst>
          </p:cNvPr>
          <p:cNvGraphicFramePr/>
          <p:nvPr/>
        </p:nvGraphicFramePr>
        <p:xfrm>
          <a:off xmlns:a="http://schemas.openxmlformats.org/drawingml/2006/main" x="609600" y="5753100"/>
          <a:ext xmlns:a="http://schemas.openxmlformats.org/drawingml/2006/main" cx="10972800" cy="600075"/>
        </p:xfrm>
        <a:graphic xmlns:a="http://schemas.openxmlformats.org/drawingml/2006/main">
          <a:graphicData uri="http://schemas.openxmlformats.org/drawingml/2006/table">
            <a:tbl>
              <a:tblPr/>
              <a:tblGrid>
                <a:gridCol w="3657600"/>
                <a:gridCol w="3657600"/>
                <a:gridCol w="3657600"/>
              </a:tblGrid>
              <a:tr h="295275">
                <a:tc>
                  <a:txBody>
                    <a:bodyPr>
                      <a:noAutofit/>
                    </a:bodyPr>
                    <a:lstStyle/>
                    <a:p>
                      <a:r>
                        <a:rPr sz="1500" b="1">
                          <a:solidFill>
                            <a:srgbClr val="FFFFFF"/>
                          </a:solidFill>
                          <a:latin typeface="Arial"/>
                          <a:ea typeface="Arial"/>
                          <a:cs typeface="Arial"/>
                        </a:rPr>
                        <a:t>Xianyu</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FFFFFF"/>
                          </a:solidFill>
                          <a:latin typeface="Arial"/>
                          <a:ea typeface="Arial"/>
                          <a:cs typeface="Arial"/>
                        </a:rPr>
                        <a:t>Renrenzu</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FFFFFF"/>
                          </a:solidFill>
                          <a:latin typeface="Arial"/>
                          <a:ea typeface="Arial"/>
                          <a:cs typeface="Arial"/>
                        </a:rPr>
                        <a:t>ATRenew</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r>
              <a:tr h="304800">
                <a:tc>
                  <a:txBody>
                    <a:bodyPr>
                      <a:noAutofit/>
                    </a:bodyPr>
                    <a:lstStyle/>
                    <a:p>
                      <a:r>
                        <a:rPr sz="1500" b="0">
                          <a:solidFill>
                            <a:srgbClr val="172B24"/>
                          </a:solidFill>
                          <a:latin typeface="Arial"/>
                          <a:ea typeface="Arial"/>
                          <a:cs typeface="Arial"/>
                        </a:rPr>
                        <a:t>Resale listings</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Equipment rental</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AHS trade-in / Paipai resale</a:t>
                      </a:r>
                    </a:p>
                  </a:txBody>
                  <a:tcPr marL="91440" marR="91440" marT="45720" marB="45720">
                    <a:lnR w="9525">
                      <a:solidFill>
                        <a:srgbClr val="D5DFD8"/>
                      </a:solidFill>
                      <a:prstDash val="solid"/>
                    </a:lnR>
                    <a:lnB w="9525">
                      <a:solidFill>
                        <a:srgbClr val="D5DFD8"/>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33209AE5-E72D-47A5-8D31-BAE267742367}"/>
              </a:ext>
            </a:extLst>
          </p:cNvPr>
          <p:cNvSpPr>
            <a:spLocks xmlns:a="http://schemas.openxmlformats.org/drawingml/2006/main" noGrp="1"/>
          </p:cNvSpPr>
          <p:nvPr/>
        </p:nvSpPr>
        <p:spPr>
          <a:xfrm xmlns:a="http://schemas.openxmlformats.org/drawingml/2006/main">
            <a:off x="609600" y="64865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All pilot stages are assumptions. Recruitment permission and actual demand remain unconfirmed. S1-S4.</a:t>
            </a:r>
          </a:p>
        </p:txBody>
      </p:sp>
    </p:spTree>
    <p:extLst>
      <p:ext uri="{BB962C8B-B14F-4D97-AF65-F5344CB8AC3E}">
        <p14:creationId xmlns:p14="http://schemas.microsoft.com/office/powerpoint/2010/main" val="196703526"/>
      </p:ext>
    </p:extLst>
  </p:cSld>
</p:sld>
</file>

<file path=ppt/slides/slide3.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4698185-5F36-40B2-BA2F-2423AF6DE02B}"/>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C73D6D70-E93D-4A65-8522-BB10E1005ED9}"/>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Solution &amp; Value Proposition</a:t>
            </a:r>
          </a:p>
        </p:txBody>
      </p:sp>
      <p:pic>
        <p:nvPicPr>
          <p:cNvPr id="3" name="">
            <a:extLst xmlns:a="http://schemas.openxmlformats.org/drawingml/2006/main">
              <a:ext uri="{FF2B5EF4-FFF2-40B4-BE49-F238E27FC236}">
                <a16:creationId xmlns:a16="http://schemas.microsoft.com/office/drawing/2014/main" id="{935274F6-1744-4B7E-98C4-D5AB1CFC23CD}"/>
              </a:ext>
            </a:extLst>
          </p:cNvPr>
          <p:cNvPicPr>
            <a:picLocks xmlns:a="http://schemas.openxmlformats.org/drawingml/2006/main" noChangeAspect="1"/>
          </p:cNvPicPr>
          <p:nvPr/>
        </p:nvPicPr>
        <p:blipFill>
          <a:blip xmlns:r="http://schemas.openxmlformats.org/officeDocument/2006/relationships" xmlns:a="http://schemas.openxmlformats.org/drawingml/2006/main" r:embed="R6fc6c7df5198417a"/>
          <a:stretch xmlns:a="http://schemas.openxmlformats.org/drawingml/2006/main"/>
        </p:blipFill>
        <p:spPr>
          <a:xfrm xmlns:a="http://schemas.openxmlformats.org/drawingml/2006/main">
            <a:off x="806871" y="1781175"/>
            <a:ext cx="1558082" cy="33718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DE137B9-F98A-43DA-89E3-5B6900B74670}"/>
              </a:ext>
            </a:extLst>
          </p:cNvPr>
          <p:cNvPicPr>
            <a:picLocks xmlns:a="http://schemas.openxmlformats.org/drawingml/2006/main" noChangeAspect="1"/>
          </p:cNvPicPr>
          <p:nvPr/>
        </p:nvPicPr>
        <p:blipFill>
          <a:blip xmlns:r="http://schemas.openxmlformats.org/officeDocument/2006/relationships" xmlns:a="http://schemas.openxmlformats.org/drawingml/2006/main" r:embed="Rfefa36efe67b4843"/>
          <a:srcRect xmlns:a="http://schemas.openxmlformats.org/drawingml/2006/main" l="0" t="19705" r="0" b="19705"/>
          <a:stretch xmlns:a="http://schemas.openxmlformats.org/drawingml/2006/main">
            <a:fillRect l="0" t="0" r="0" b="0"/>
          </a:stretch>
        </p:blipFill>
        <p:spPr>
          <a:xfrm xmlns:a="http://schemas.openxmlformats.org/drawingml/2006/main">
            <a:off x="2800350" y="1781175"/>
            <a:ext cx="1952625" cy="3371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1D2A6B-FCCE-40E1-AF54-B754721EA113}"/>
              </a:ext>
            </a:extLst>
          </p:cNvPr>
          <p:cNvSpPr>
            <a:spLocks xmlns:a="http://schemas.openxmlformats.org/drawingml/2006/main" noGrp="1"/>
          </p:cNvSpPr>
          <p:nvPr/>
        </p:nvSpPr>
        <p:spPr>
          <a:xfrm xmlns:a="http://schemas.openxmlformats.org/drawingml/2006/main">
            <a:off x="609600" y="523875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Dated request and offer</a:t>
            </a:r>
          </a:p>
        </p:txBody>
      </p:sp>
      <p:sp>
        <p:nvSpPr>
          <p:cNvPr id="6" name="">
            <a:extLst xmlns:a="http://schemas.openxmlformats.org/drawingml/2006/main">
              <a:ext uri="{FF2B5EF4-FFF2-40B4-BE49-F238E27FC236}">
                <a16:creationId xmlns:a16="http://schemas.microsoft.com/office/drawing/2014/main" id="{8EDDE236-B507-41EB-92D1-AA88E8D1A37E}"/>
              </a:ext>
            </a:extLst>
          </p:cNvPr>
          <p:cNvSpPr>
            <a:spLocks xmlns:a="http://schemas.openxmlformats.org/drawingml/2006/main" noGrp="1"/>
          </p:cNvSpPr>
          <p:nvPr/>
        </p:nvSpPr>
        <p:spPr>
          <a:xfrm xmlns:a="http://schemas.openxmlformats.org/drawingml/2006/main">
            <a:off x="2800350" y="5238750"/>
            <a:ext cx="2114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Return confirmation</a:t>
            </a:r>
          </a:p>
        </p:txBody>
      </p:sp>
      <p:sp>
        <p:nvSpPr>
          <p:cNvPr id="7" name="">
            <a:extLst xmlns:a="http://schemas.openxmlformats.org/drawingml/2006/main">
              <a:ext uri="{FF2B5EF4-FFF2-40B4-BE49-F238E27FC236}">
                <a16:creationId xmlns:a16="http://schemas.microsoft.com/office/drawing/2014/main" id="{EA7D6EDF-042A-40D0-BC4E-62520A25D06E}"/>
              </a:ext>
            </a:extLst>
          </p:cNvPr>
          <p:cNvSpPr>
            <a:spLocks xmlns:a="http://schemas.openxmlformats.org/drawingml/2006/main" noGrp="1"/>
          </p:cNvSpPr>
          <p:nvPr/>
        </p:nvSpPr>
        <p:spPr>
          <a:xfrm xmlns:a="http://schemas.openxmlformats.org/drawingml/2006/main">
            <a:off x="5257800" y="183832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D6E58A"/>
                </a:solidFill>
                <a:latin typeface="Arial"/>
                <a:ea typeface="Arial"/>
                <a:cs typeface="Arial"/>
              </a:defRPr>
            </a:defPPr>
            <a:lvl1pPr>
              <a:defRPr sz="2400" b="1">
                <a:solidFill>
                  <a:srgbClr val="D6E58A"/>
                </a:solidFill>
                <a:latin typeface="Arial"/>
                <a:ea typeface="Arial"/>
                <a:cs typeface="Arial"/>
              </a:defRPr>
            </a:lvl1pPr>
            <a:lvl2pPr>
              <a:defRPr sz="2400" b="1">
                <a:solidFill>
                  <a:srgbClr val="D6E58A"/>
                </a:solidFill>
                <a:latin typeface="Arial"/>
                <a:ea typeface="Arial"/>
                <a:cs typeface="Arial"/>
              </a:defRPr>
            </a:lvl2pPr>
            <a:lvl3pPr>
              <a:defRPr sz="2400" b="1">
                <a:solidFill>
                  <a:srgbClr val="D6E58A"/>
                </a:solidFill>
                <a:latin typeface="Arial"/>
                <a:ea typeface="Arial"/>
                <a:cs typeface="Arial"/>
              </a:defRPr>
            </a:lvl3pPr>
            <a:lvl4pPr>
              <a:defRPr sz="2400" b="1">
                <a:solidFill>
                  <a:srgbClr val="D6E58A"/>
                </a:solidFill>
                <a:latin typeface="Arial"/>
                <a:ea typeface="Arial"/>
                <a:cs typeface="Arial"/>
              </a:defRPr>
            </a:lvl4pPr>
            <a:lvl5pPr>
              <a:defRPr sz="2400" b="1">
                <a:solidFill>
                  <a:srgbClr val="D6E58A"/>
                </a:solidFill>
                <a:latin typeface="Arial"/>
                <a:ea typeface="Arial"/>
                <a:cs typeface="Arial"/>
              </a:defRPr>
            </a:lvl5pPr>
            <a:lvl6pPr>
              <a:defRPr sz="2400" b="1">
                <a:solidFill>
                  <a:srgbClr val="D6E58A"/>
                </a:solidFill>
                <a:latin typeface="Arial"/>
                <a:ea typeface="Arial"/>
                <a:cs typeface="Arial"/>
              </a:defRPr>
            </a:lvl6pPr>
            <a:lvl7pPr>
              <a:defRPr sz="2400" b="1">
                <a:solidFill>
                  <a:srgbClr val="D6E58A"/>
                </a:solidFill>
                <a:latin typeface="Arial"/>
                <a:ea typeface="Arial"/>
                <a:cs typeface="Arial"/>
              </a:defRPr>
            </a:lvl7pPr>
            <a:lvl8pPr>
              <a:defRPr sz="2400" b="1">
                <a:solidFill>
                  <a:srgbClr val="D6E58A"/>
                </a:solidFill>
                <a:latin typeface="Arial"/>
                <a:ea typeface="Arial"/>
                <a:cs typeface="Arial"/>
              </a:defRPr>
            </a:lvl8pPr>
            <a:lvl9pPr>
              <a:defRPr sz="2400" b="1">
                <a:solidFill>
                  <a:srgbClr val="D6E58A"/>
                </a:solidFill>
                <a:latin typeface="Arial"/>
                <a:ea typeface="Arial"/>
                <a:cs typeface="Arial"/>
              </a:defRPr>
            </a:lvl9pPr>
          </a:lstStyle>
          <a:p xmlns:a="http://schemas.openxmlformats.org/drawingml/2006/main">
            <a:pPr>
              <a:defRPr sz="2400" b="1">
                <a:solidFill>
                  <a:srgbClr val="D6E58A"/>
                </a:solidFill>
                <a:latin typeface="Arial"/>
                <a:ea typeface="Arial"/>
                <a:cs typeface="Arial"/>
              </a:defRPr>
            </a:pPr>
            <a:r>
              <a:rPr sz="2400" b="1">
                <a:solidFill>
                  <a:srgbClr val="D6E58A"/>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EA0B4F5-54C5-440E-983B-A1AE9294CA8B}"/>
              </a:ext>
            </a:extLst>
          </p:cNvPr>
          <p:cNvSpPr>
            <a:spLocks xmlns:a="http://schemas.openxmlformats.org/drawingml/2006/main" noGrp="1"/>
          </p:cNvSpPr>
          <p:nvPr/>
        </p:nvSpPr>
        <p:spPr>
          <a:xfrm xmlns:a="http://schemas.openxmlformats.org/drawingml/2006/main">
            <a:off x="6038850" y="1838325"/>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Need and dates</a:t>
            </a:r>
          </a:p>
        </p:txBody>
      </p:sp>
      <p:sp>
        <p:nvSpPr>
          <p:cNvPr id="9" name="">
            <a:extLst xmlns:a="http://schemas.openxmlformats.org/drawingml/2006/main">
              <a:ext uri="{FF2B5EF4-FFF2-40B4-BE49-F238E27FC236}">
                <a16:creationId xmlns:a16="http://schemas.microsoft.com/office/drawing/2014/main" id="{BC3FD0B8-2B8F-4E01-AD92-209E47303BC1}"/>
              </a:ext>
            </a:extLst>
          </p:cNvPr>
          <p:cNvSpPr>
            <a:spLocks xmlns:a="http://schemas.openxmlformats.org/drawingml/2006/main" noGrp="1"/>
          </p:cNvSpPr>
          <p:nvPr/>
        </p:nvSpPr>
        <p:spPr>
          <a:xfrm xmlns:a="http://schemas.openxmlformats.org/drawingml/2006/main">
            <a:off x="6038850" y="2266950"/>
            <a:ext cx="5543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Publish dates and budget. Expire old requests.</a:t>
            </a:r>
          </a:p>
        </p:txBody>
      </p:sp>
      <p:sp>
        <p:nvSpPr>
          <p:cNvPr id="10" name="">
            <a:extLst xmlns:a="http://schemas.openxmlformats.org/drawingml/2006/main">
              <a:ext uri="{FF2B5EF4-FFF2-40B4-BE49-F238E27FC236}">
                <a16:creationId xmlns:a16="http://schemas.microsoft.com/office/drawing/2014/main" id="{925E097F-6B9D-48B3-BDBE-1CFC8CEEB0EE}"/>
              </a:ext>
            </a:extLst>
          </p:cNvPr>
          <p:cNvSpPr>
            <a:spLocks xmlns:a="http://schemas.openxmlformats.org/drawingml/2006/main" noGrp="1"/>
          </p:cNvSpPr>
          <p:nvPr/>
        </p:nvSpPr>
        <p:spPr>
          <a:xfrm xmlns:a="http://schemas.openxmlformats.org/drawingml/2006/main">
            <a:off x="5257800" y="275272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D6E58A"/>
                </a:solidFill>
                <a:latin typeface="Arial"/>
                <a:ea typeface="Arial"/>
                <a:cs typeface="Arial"/>
              </a:defRPr>
            </a:defPPr>
            <a:lvl1pPr>
              <a:defRPr sz="2400" b="1">
                <a:solidFill>
                  <a:srgbClr val="D6E58A"/>
                </a:solidFill>
                <a:latin typeface="Arial"/>
                <a:ea typeface="Arial"/>
                <a:cs typeface="Arial"/>
              </a:defRPr>
            </a:lvl1pPr>
            <a:lvl2pPr>
              <a:defRPr sz="2400" b="1">
                <a:solidFill>
                  <a:srgbClr val="D6E58A"/>
                </a:solidFill>
                <a:latin typeface="Arial"/>
                <a:ea typeface="Arial"/>
                <a:cs typeface="Arial"/>
              </a:defRPr>
            </a:lvl2pPr>
            <a:lvl3pPr>
              <a:defRPr sz="2400" b="1">
                <a:solidFill>
                  <a:srgbClr val="D6E58A"/>
                </a:solidFill>
                <a:latin typeface="Arial"/>
                <a:ea typeface="Arial"/>
                <a:cs typeface="Arial"/>
              </a:defRPr>
            </a:lvl3pPr>
            <a:lvl4pPr>
              <a:defRPr sz="2400" b="1">
                <a:solidFill>
                  <a:srgbClr val="D6E58A"/>
                </a:solidFill>
                <a:latin typeface="Arial"/>
                <a:ea typeface="Arial"/>
                <a:cs typeface="Arial"/>
              </a:defRPr>
            </a:lvl4pPr>
            <a:lvl5pPr>
              <a:defRPr sz="2400" b="1">
                <a:solidFill>
                  <a:srgbClr val="D6E58A"/>
                </a:solidFill>
                <a:latin typeface="Arial"/>
                <a:ea typeface="Arial"/>
                <a:cs typeface="Arial"/>
              </a:defRPr>
            </a:lvl5pPr>
            <a:lvl6pPr>
              <a:defRPr sz="2400" b="1">
                <a:solidFill>
                  <a:srgbClr val="D6E58A"/>
                </a:solidFill>
                <a:latin typeface="Arial"/>
                <a:ea typeface="Arial"/>
                <a:cs typeface="Arial"/>
              </a:defRPr>
            </a:lvl6pPr>
            <a:lvl7pPr>
              <a:defRPr sz="2400" b="1">
                <a:solidFill>
                  <a:srgbClr val="D6E58A"/>
                </a:solidFill>
                <a:latin typeface="Arial"/>
                <a:ea typeface="Arial"/>
                <a:cs typeface="Arial"/>
              </a:defRPr>
            </a:lvl7pPr>
            <a:lvl8pPr>
              <a:defRPr sz="2400" b="1">
                <a:solidFill>
                  <a:srgbClr val="D6E58A"/>
                </a:solidFill>
                <a:latin typeface="Arial"/>
                <a:ea typeface="Arial"/>
                <a:cs typeface="Arial"/>
              </a:defRPr>
            </a:lvl8pPr>
            <a:lvl9pPr>
              <a:defRPr sz="2400" b="1">
                <a:solidFill>
                  <a:srgbClr val="D6E58A"/>
                </a:solidFill>
                <a:latin typeface="Arial"/>
                <a:ea typeface="Arial"/>
                <a:cs typeface="Arial"/>
              </a:defRPr>
            </a:lvl9pPr>
          </a:lstStyle>
          <a:p xmlns:a="http://schemas.openxmlformats.org/drawingml/2006/main">
            <a:pPr>
              <a:defRPr sz="2400" b="1">
                <a:solidFill>
                  <a:srgbClr val="D6E58A"/>
                </a:solidFill>
                <a:latin typeface="Arial"/>
                <a:ea typeface="Arial"/>
                <a:cs typeface="Arial"/>
              </a:defRPr>
            </a:pPr>
            <a:r>
              <a:rPr sz="2400" b="1">
                <a:solidFill>
                  <a:srgbClr val="D6E58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C9C55EBB-8D1F-4D88-B91D-4079A94DE2C1}"/>
              </a:ext>
            </a:extLst>
          </p:cNvPr>
          <p:cNvSpPr>
            <a:spLocks xmlns:a="http://schemas.openxmlformats.org/drawingml/2006/main" noGrp="1"/>
          </p:cNvSpPr>
          <p:nvPr/>
        </p:nvSpPr>
        <p:spPr>
          <a:xfrm xmlns:a="http://schemas.openxmlformats.org/drawingml/2006/main">
            <a:off x="6038850" y="2752725"/>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Relevant owner offer</a:t>
            </a:r>
          </a:p>
        </p:txBody>
      </p:sp>
      <p:sp>
        <p:nvSpPr>
          <p:cNvPr id="12" name="">
            <a:extLst xmlns:a="http://schemas.openxmlformats.org/drawingml/2006/main">
              <a:ext uri="{FF2B5EF4-FFF2-40B4-BE49-F238E27FC236}">
                <a16:creationId xmlns:a16="http://schemas.microsoft.com/office/drawing/2014/main" id="{5FD8FA76-0589-402E-83F9-F2EE32039922}"/>
              </a:ext>
            </a:extLst>
          </p:cNvPr>
          <p:cNvSpPr>
            <a:spLocks xmlns:a="http://schemas.openxmlformats.org/drawingml/2006/main" noGrp="1"/>
          </p:cNvSpPr>
          <p:nvPr/>
        </p:nvSpPr>
        <p:spPr>
          <a:xfrm xmlns:a="http://schemas.openxmlformats.org/drawingml/2006/main">
            <a:off x="6038850" y="3181350"/>
            <a:ext cx="5543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An offer is a suggestion, not an automatic booking.</a:t>
            </a:r>
          </a:p>
        </p:txBody>
      </p:sp>
      <p:sp>
        <p:nvSpPr>
          <p:cNvPr id="13" name="">
            <a:extLst xmlns:a="http://schemas.openxmlformats.org/drawingml/2006/main">
              <a:ext uri="{FF2B5EF4-FFF2-40B4-BE49-F238E27FC236}">
                <a16:creationId xmlns:a16="http://schemas.microsoft.com/office/drawing/2014/main" id="{FF3EDE91-ED36-4BF3-B95E-E911A618022E}"/>
              </a:ext>
            </a:extLst>
          </p:cNvPr>
          <p:cNvSpPr>
            <a:spLocks xmlns:a="http://schemas.openxmlformats.org/drawingml/2006/main" noGrp="1"/>
          </p:cNvSpPr>
          <p:nvPr/>
        </p:nvSpPr>
        <p:spPr>
          <a:xfrm xmlns:a="http://schemas.openxmlformats.org/drawingml/2006/main">
            <a:off x="5257800" y="366712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D6E58A"/>
                </a:solidFill>
                <a:latin typeface="Arial"/>
                <a:ea typeface="Arial"/>
                <a:cs typeface="Arial"/>
              </a:defRPr>
            </a:defPPr>
            <a:lvl1pPr>
              <a:defRPr sz="2400" b="1">
                <a:solidFill>
                  <a:srgbClr val="D6E58A"/>
                </a:solidFill>
                <a:latin typeface="Arial"/>
                <a:ea typeface="Arial"/>
                <a:cs typeface="Arial"/>
              </a:defRPr>
            </a:lvl1pPr>
            <a:lvl2pPr>
              <a:defRPr sz="2400" b="1">
                <a:solidFill>
                  <a:srgbClr val="D6E58A"/>
                </a:solidFill>
                <a:latin typeface="Arial"/>
                <a:ea typeface="Arial"/>
                <a:cs typeface="Arial"/>
              </a:defRPr>
            </a:lvl2pPr>
            <a:lvl3pPr>
              <a:defRPr sz="2400" b="1">
                <a:solidFill>
                  <a:srgbClr val="D6E58A"/>
                </a:solidFill>
                <a:latin typeface="Arial"/>
                <a:ea typeface="Arial"/>
                <a:cs typeface="Arial"/>
              </a:defRPr>
            </a:lvl3pPr>
            <a:lvl4pPr>
              <a:defRPr sz="2400" b="1">
                <a:solidFill>
                  <a:srgbClr val="D6E58A"/>
                </a:solidFill>
                <a:latin typeface="Arial"/>
                <a:ea typeface="Arial"/>
                <a:cs typeface="Arial"/>
              </a:defRPr>
            </a:lvl4pPr>
            <a:lvl5pPr>
              <a:defRPr sz="2400" b="1">
                <a:solidFill>
                  <a:srgbClr val="D6E58A"/>
                </a:solidFill>
                <a:latin typeface="Arial"/>
                <a:ea typeface="Arial"/>
                <a:cs typeface="Arial"/>
              </a:defRPr>
            </a:lvl5pPr>
            <a:lvl6pPr>
              <a:defRPr sz="2400" b="1">
                <a:solidFill>
                  <a:srgbClr val="D6E58A"/>
                </a:solidFill>
                <a:latin typeface="Arial"/>
                <a:ea typeface="Arial"/>
                <a:cs typeface="Arial"/>
              </a:defRPr>
            </a:lvl6pPr>
            <a:lvl7pPr>
              <a:defRPr sz="2400" b="1">
                <a:solidFill>
                  <a:srgbClr val="D6E58A"/>
                </a:solidFill>
                <a:latin typeface="Arial"/>
                <a:ea typeface="Arial"/>
                <a:cs typeface="Arial"/>
              </a:defRPr>
            </a:lvl7pPr>
            <a:lvl8pPr>
              <a:defRPr sz="2400" b="1">
                <a:solidFill>
                  <a:srgbClr val="D6E58A"/>
                </a:solidFill>
                <a:latin typeface="Arial"/>
                <a:ea typeface="Arial"/>
                <a:cs typeface="Arial"/>
              </a:defRPr>
            </a:lvl8pPr>
            <a:lvl9pPr>
              <a:defRPr sz="2400" b="1">
                <a:solidFill>
                  <a:srgbClr val="D6E58A"/>
                </a:solidFill>
                <a:latin typeface="Arial"/>
                <a:ea typeface="Arial"/>
                <a:cs typeface="Arial"/>
              </a:defRPr>
            </a:lvl9pPr>
          </a:lstStyle>
          <a:p xmlns:a="http://schemas.openxmlformats.org/drawingml/2006/main">
            <a:pPr>
              <a:defRPr sz="2400" b="1">
                <a:solidFill>
                  <a:srgbClr val="D6E58A"/>
                </a:solidFill>
                <a:latin typeface="Arial"/>
                <a:ea typeface="Arial"/>
                <a:cs typeface="Arial"/>
              </a:defRPr>
            </a:pPr>
            <a:r>
              <a:rPr sz="2400" b="1">
                <a:solidFill>
                  <a:srgbClr val="D6E58A"/>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4C6FC12A-EABA-4020-B4BF-69C4D2B339D1}"/>
              </a:ext>
            </a:extLst>
          </p:cNvPr>
          <p:cNvSpPr>
            <a:spLocks xmlns:a="http://schemas.openxmlformats.org/drawingml/2006/main" noGrp="1"/>
          </p:cNvSpPr>
          <p:nvPr/>
        </p:nvSpPr>
        <p:spPr>
          <a:xfrm xmlns:a="http://schemas.openxmlformats.org/drawingml/2006/main">
            <a:off x="6038850" y="3667125"/>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Compatible handoff</a:t>
            </a:r>
          </a:p>
        </p:txBody>
      </p:sp>
      <p:sp>
        <p:nvSpPr>
          <p:cNvPr id="15" name="">
            <a:extLst xmlns:a="http://schemas.openxmlformats.org/drawingml/2006/main">
              <a:ext uri="{FF2B5EF4-FFF2-40B4-BE49-F238E27FC236}">
                <a16:creationId xmlns:a16="http://schemas.microsoft.com/office/drawing/2014/main" id="{D81313FC-EA5F-4FEF-828D-D8CAD20BFBB1}"/>
              </a:ext>
            </a:extLst>
          </p:cNvPr>
          <p:cNvSpPr>
            <a:spLocks xmlns:a="http://schemas.openxmlformats.org/drawingml/2006/main" noGrp="1"/>
          </p:cNvSpPr>
          <p:nvPr/>
        </p:nvSpPr>
        <p:spPr>
          <a:xfrm xmlns:a="http://schemas.openxmlformats.org/drawingml/2006/main">
            <a:off x="6038850" y="4095750"/>
            <a:ext cx="5543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Review personal classes or enter times manually.</a:t>
            </a:r>
          </a:p>
        </p:txBody>
      </p:sp>
      <p:sp>
        <p:nvSpPr>
          <p:cNvPr id="16" name="">
            <a:extLst xmlns:a="http://schemas.openxmlformats.org/drawingml/2006/main">
              <a:ext uri="{FF2B5EF4-FFF2-40B4-BE49-F238E27FC236}">
                <a16:creationId xmlns:a16="http://schemas.microsoft.com/office/drawing/2014/main" id="{732E38F1-9F40-492A-A0A9-33DFF940208B}"/>
              </a:ext>
            </a:extLst>
          </p:cNvPr>
          <p:cNvSpPr>
            <a:spLocks xmlns:a="http://schemas.openxmlformats.org/drawingml/2006/main" noGrp="1"/>
          </p:cNvSpPr>
          <p:nvPr/>
        </p:nvSpPr>
        <p:spPr>
          <a:xfrm xmlns:a="http://schemas.openxmlformats.org/drawingml/2006/main">
            <a:off x="5257800" y="458152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D6E58A"/>
                </a:solidFill>
                <a:latin typeface="Arial"/>
                <a:ea typeface="Arial"/>
                <a:cs typeface="Arial"/>
              </a:defRPr>
            </a:defPPr>
            <a:lvl1pPr>
              <a:defRPr sz="2400" b="1">
                <a:solidFill>
                  <a:srgbClr val="D6E58A"/>
                </a:solidFill>
                <a:latin typeface="Arial"/>
                <a:ea typeface="Arial"/>
                <a:cs typeface="Arial"/>
              </a:defRPr>
            </a:lvl1pPr>
            <a:lvl2pPr>
              <a:defRPr sz="2400" b="1">
                <a:solidFill>
                  <a:srgbClr val="D6E58A"/>
                </a:solidFill>
                <a:latin typeface="Arial"/>
                <a:ea typeface="Arial"/>
                <a:cs typeface="Arial"/>
              </a:defRPr>
            </a:lvl2pPr>
            <a:lvl3pPr>
              <a:defRPr sz="2400" b="1">
                <a:solidFill>
                  <a:srgbClr val="D6E58A"/>
                </a:solidFill>
                <a:latin typeface="Arial"/>
                <a:ea typeface="Arial"/>
                <a:cs typeface="Arial"/>
              </a:defRPr>
            </a:lvl3pPr>
            <a:lvl4pPr>
              <a:defRPr sz="2400" b="1">
                <a:solidFill>
                  <a:srgbClr val="D6E58A"/>
                </a:solidFill>
                <a:latin typeface="Arial"/>
                <a:ea typeface="Arial"/>
                <a:cs typeface="Arial"/>
              </a:defRPr>
            </a:lvl4pPr>
            <a:lvl5pPr>
              <a:defRPr sz="2400" b="1">
                <a:solidFill>
                  <a:srgbClr val="D6E58A"/>
                </a:solidFill>
                <a:latin typeface="Arial"/>
                <a:ea typeface="Arial"/>
                <a:cs typeface="Arial"/>
              </a:defRPr>
            </a:lvl5pPr>
            <a:lvl6pPr>
              <a:defRPr sz="2400" b="1">
                <a:solidFill>
                  <a:srgbClr val="D6E58A"/>
                </a:solidFill>
                <a:latin typeface="Arial"/>
                <a:ea typeface="Arial"/>
                <a:cs typeface="Arial"/>
              </a:defRPr>
            </a:lvl6pPr>
            <a:lvl7pPr>
              <a:defRPr sz="2400" b="1">
                <a:solidFill>
                  <a:srgbClr val="D6E58A"/>
                </a:solidFill>
                <a:latin typeface="Arial"/>
                <a:ea typeface="Arial"/>
                <a:cs typeface="Arial"/>
              </a:defRPr>
            </a:lvl7pPr>
            <a:lvl8pPr>
              <a:defRPr sz="2400" b="1">
                <a:solidFill>
                  <a:srgbClr val="D6E58A"/>
                </a:solidFill>
                <a:latin typeface="Arial"/>
                <a:ea typeface="Arial"/>
                <a:cs typeface="Arial"/>
              </a:defRPr>
            </a:lvl8pPr>
            <a:lvl9pPr>
              <a:defRPr sz="2400" b="1">
                <a:solidFill>
                  <a:srgbClr val="D6E58A"/>
                </a:solidFill>
                <a:latin typeface="Arial"/>
                <a:ea typeface="Arial"/>
                <a:cs typeface="Arial"/>
              </a:defRPr>
            </a:lvl9pPr>
          </a:lstStyle>
          <a:p xmlns:a="http://schemas.openxmlformats.org/drawingml/2006/main">
            <a:pPr>
              <a:defRPr sz="2400" b="1">
                <a:solidFill>
                  <a:srgbClr val="D6E58A"/>
                </a:solidFill>
                <a:latin typeface="Arial"/>
                <a:ea typeface="Arial"/>
                <a:cs typeface="Arial"/>
              </a:defRPr>
            </a:pPr>
            <a:r>
              <a:rPr sz="2400" b="1">
                <a:solidFill>
                  <a:srgbClr val="D6E58A"/>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B93B8505-612F-4908-ABD3-A2AB293FBB8A}"/>
              </a:ext>
            </a:extLst>
          </p:cNvPr>
          <p:cNvSpPr>
            <a:spLocks xmlns:a="http://schemas.openxmlformats.org/drawingml/2006/main" noGrp="1"/>
          </p:cNvSpPr>
          <p:nvPr/>
        </p:nvSpPr>
        <p:spPr>
          <a:xfrm xmlns:a="http://schemas.openxmlformats.org/drawingml/2006/main">
            <a:off x="6038850" y="4581525"/>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Explicit agreement</a:t>
            </a:r>
          </a:p>
        </p:txBody>
      </p:sp>
      <p:sp>
        <p:nvSpPr>
          <p:cNvPr id="18" name="">
            <a:extLst xmlns:a="http://schemas.openxmlformats.org/drawingml/2006/main">
              <a:ext uri="{FF2B5EF4-FFF2-40B4-BE49-F238E27FC236}">
                <a16:creationId xmlns:a16="http://schemas.microsoft.com/office/drawing/2014/main" id="{32D8C1EE-FAEA-4805-AE31-3F2BF1DAABB2}"/>
              </a:ext>
            </a:extLst>
          </p:cNvPr>
          <p:cNvSpPr>
            <a:spLocks xmlns:a="http://schemas.openxmlformats.org/drawingml/2006/main" noGrp="1"/>
          </p:cNvSpPr>
          <p:nvPr/>
        </p:nvSpPr>
        <p:spPr>
          <a:xfrm xmlns:a="http://schemas.openxmlformats.org/drawingml/2006/main">
            <a:off x="6038850" y="5010150"/>
            <a:ext cx="5543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Owner accepts. Both parties confirm handoff and return.</a:t>
            </a:r>
          </a:p>
        </p:txBody>
      </p:sp>
      <p:sp>
        <p:nvSpPr>
          <p:cNvPr id="19" name="">
            <a:extLst xmlns:a="http://schemas.openxmlformats.org/drawingml/2006/main">
              <a:ext uri="{FF2B5EF4-FFF2-40B4-BE49-F238E27FC236}">
                <a16:creationId xmlns:a16="http://schemas.microsoft.com/office/drawing/2014/main" id="{D521A312-E982-4FF6-800D-61A32C035421}"/>
              </a:ext>
            </a:extLst>
          </p:cNvPr>
          <p:cNvSpPr>
            <a:spLocks xmlns:a="http://schemas.openxmlformats.org/drawingml/2006/main" noGrp="1"/>
          </p:cNvSpPr>
          <p:nvPr/>
        </p:nvSpPr>
        <p:spPr>
          <a:xfrm xmlns:a="http://schemas.openxmlformats.org/drawingml/2006/main">
            <a:off x="0" y="5772150"/>
            <a:ext cx="12192000" cy="10858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286E11-9619-4B5E-8DC4-CEB1BD591F7E}"/>
              </a:ext>
            </a:extLst>
          </p:cNvPr>
          <p:cNvSpPr>
            <a:spLocks xmlns:a="http://schemas.openxmlformats.org/drawingml/2006/main" noGrp="1"/>
          </p:cNvSpPr>
          <p:nvPr/>
        </p:nvSpPr>
        <p:spPr>
          <a:xfrm xmlns:a="http://schemas.openxmlformats.org/drawingml/2006/main">
            <a:off x="609600" y="59245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D6E58A"/>
                </a:solidFill>
                <a:latin typeface="Arial"/>
                <a:ea typeface="Arial"/>
                <a:cs typeface="Arial"/>
              </a:defRPr>
            </a:defPPr>
            <a:lvl1pPr>
              <a:defRPr sz="1650" b="1">
                <a:solidFill>
                  <a:srgbClr val="D6E58A"/>
                </a:solidFill>
                <a:latin typeface="Arial"/>
                <a:ea typeface="Arial"/>
                <a:cs typeface="Arial"/>
              </a:defRPr>
            </a:lvl1pPr>
            <a:lvl2pPr>
              <a:defRPr sz="1650" b="1">
                <a:solidFill>
                  <a:srgbClr val="D6E58A"/>
                </a:solidFill>
                <a:latin typeface="Arial"/>
                <a:ea typeface="Arial"/>
                <a:cs typeface="Arial"/>
              </a:defRPr>
            </a:lvl2pPr>
            <a:lvl3pPr>
              <a:defRPr sz="1650" b="1">
                <a:solidFill>
                  <a:srgbClr val="D6E58A"/>
                </a:solidFill>
                <a:latin typeface="Arial"/>
                <a:ea typeface="Arial"/>
                <a:cs typeface="Arial"/>
              </a:defRPr>
            </a:lvl3pPr>
            <a:lvl4pPr>
              <a:defRPr sz="1650" b="1">
                <a:solidFill>
                  <a:srgbClr val="D6E58A"/>
                </a:solidFill>
                <a:latin typeface="Arial"/>
                <a:ea typeface="Arial"/>
                <a:cs typeface="Arial"/>
              </a:defRPr>
            </a:lvl4pPr>
            <a:lvl5pPr>
              <a:defRPr sz="1650" b="1">
                <a:solidFill>
                  <a:srgbClr val="D6E58A"/>
                </a:solidFill>
                <a:latin typeface="Arial"/>
                <a:ea typeface="Arial"/>
                <a:cs typeface="Arial"/>
              </a:defRPr>
            </a:lvl5pPr>
            <a:lvl6pPr>
              <a:defRPr sz="1650" b="1">
                <a:solidFill>
                  <a:srgbClr val="D6E58A"/>
                </a:solidFill>
                <a:latin typeface="Arial"/>
                <a:ea typeface="Arial"/>
                <a:cs typeface="Arial"/>
              </a:defRPr>
            </a:lvl6pPr>
            <a:lvl7pPr>
              <a:defRPr sz="1650" b="1">
                <a:solidFill>
                  <a:srgbClr val="D6E58A"/>
                </a:solidFill>
                <a:latin typeface="Arial"/>
                <a:ea typeface="Arial"/>
                <a:cs typeface="Arial"/>
              </a:defRPr>
            </a:lvl7pPr>
            <a:lvl8pPr>
              <a:defRPr sz="1650" b="1">
                <a:solidFill>
                  <a:srgbClr val="D6E58A"/>
                </a:solidFill>
                <a:latin typeface="Arial"/>
                <a:ea typeface="Arial"/>
                <a:cs typeface="Arial"/>
              </a:defRPr>
            </a:lvl8pPr>
            <a:lvl9pPr>
              <a:defRPr sz="1650" b="1">
                <a:solidFill>
                  <a:srgbClr val="D6E58A"/>
                </a:solidFill>
                <a:latin typeface="Arial"/>
                <a:ea typeface="Arial"/>
                <a:cs typeface="Arial"/>
              </a:defRPr>
            </a:lvl9pPr>
          </a:lstStyle>
          <a:p xmlns:a="http://schemas.openxmlformats.org/drawingml/2006/main">
            <a:pPr>
              <a:defRPr sz="1650" b="1">
                <a:solidFill>
                  <a:srgbClr val="D6E58A"/>
                </a:solidFill>
                <a:latin typeface="Arial"/>
                <a:ea typeface="Arial"/>
                <a:cs typeface="Arial"/>
              </a:defRPr>
            </a:pPr>
            <a:r>
              <a:rPr sz="1650" b="1">
                <a:solidFill>
                  <a:srgbClr val="D6E58A"/>
                </a:solidFill>
                <a:latin typeface="Arial"/>
                <a:ea typeface="Arial"/>
                <a:cs typeface="Arial"/>
              </a:rPr>
              <a:t>Differentiation to test</a:t>
            </a:r>
          </a:p>
        </p:txBody>
      </p:sp>
      <p:sp>
        <p:nvSpPr>
          <p:cNvPr id="21" name="">
            <a:extLst xmlns:a="http://schemas.openxmlformats.org/drawingml/2006/main">
              <a:ext uri="{FF2B5EF4-FFF2-40B4-BE49-F238E27FC236}">
                <a16:creationId xmlns:a16="http://schemas.microsoft.com/office/drawing/2014/main" id="{299F5690-6DFD-4296-A688-427A8B31EB1E}"/>
              </a:ext>
            </a:extLst>
          </p:cNvPr>
          <p:cNvSpPr>
            <a:spLocks xmlns:a="http://schemas.openxmlformats.org/drawingml/2006/main" noGrp="1"/>
          </p:cNvSpPr>
          <p:nvPr/>
        </p:nvSpPr>
        <p:spPr>
          <a:xfrm xmlns:a="http://schemas.openxmlformats.org/drawingml/2006/main">
            <a:off x="609600" y="6229350"/>
            <a:ext cx="1004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Date-aware coordination with public handoff and optional disclosure.</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Measure whether it helps a real local task beyond friends and existing services.</a:t>
            </a:r>
          </a:p>
        </p:txBody>
      </p:sp>
      <p:sp>
        <p:nvSpPr>
          <p:cNvPr id="22" name="">
            <a:extLst xmlns:a="http://schemas.openxmlformats.org/drawingml/2006/main">
              <a:ext uri="{FF2B5EF4-FFF2-40B4-BE49-F238E27FC236}">
                <a16:creationId xmlns:a16="http://schemas.microsoft.com/office/drawing/2014/main" id="{E87EBD09-D9F1-409F-AC92-D63318E1626C}"/>
              </a:ext>
            </a:extLst>
          </p:cNvPr>
          <p:cNvSpPr>
            <a:spLocks xmlns:a="http://schemas.openxmlformats.org/drawingml/2006/main" noGrp="1"/>
          </p:cNvSpPr>
          <p:nvPr/>
        </p:nvSpPr>
        <p:spPr>
          <a:xfrm xmlns:a="http://schemas.openxmlformats.org/drawingml/2006/main">
            <a:off x="10953750" y="6581775"/>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3 / 12</a:t>
            </a:r>
          </a:p>
        </p:txBody>
      </p:sp>
    </p:spTree>
    <p:extLst>
      <p:ext uri="{BB962C8B-B14F-4D97-AF65-F5344CB8AC3E}">
        <p14:creationId xmlns:p14="http://schemas.microsoft.com/office/powerpoint/2010/main" val="2145324509"/>
      </p:ext>
    </p:extLst>
  </p:cSld>
</p:sld>
</file>

<file path=ppt/slides/slide4.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9BFB2D5-DBCF-4177-96E9-3F51D6274989}"/>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789D1405-496D-41CF-819A-491B734AFD1C}"/>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Technology &amp; Innovation</a:t>
            </a:r>
          </a:p>
        </p:txBody>
      </p:sp>
      <p:sp>
        <p:nvSpPr>
          <p:cNvPr id="3" name="">
            <a:extLst xmlns:a="http://schemas.openxmlformats.org/drawingml/2006/main">
              <a:ext uri="{FF2B5EF4-FFF2-40B4-BE49-F238E27FC236}">
                <a16:creationId xmlns:a16="http://schemas.microsoft.com/office/drawing/2014/main" id="{E3E523E3-5B5D-45B2-A60F-A60D72C2E396}"/>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4 / 12</a:t>
            </a:r>
          </a:p>
        </p:txBody>
      </p:sp>
      <p:sp>
        <p:nvSpPr>
          <p:cNvPr id="4" name="">
            <a:extLst xmlns:a="http://schemas.openxmlformats.org/drawingml/2006/main">
              <a:ext uri="{FF2B5EF4-FFF2-40B4-BE49-F238E27FC236}">
                <a16:creationId xmlns:a16="http://schemas.microsoft.com/office/drawing/2014/main" id="{D968BB56-2AD7-4D5A-B3A0-2FC17415672E}"/>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BDCEC5"/>
                </a:solidFill>
                <a:latin typeface="Arial"/>
                <a:ea typeface="Arial"/>
                <a:cs typeface="Arial"/>
              </a:defRPr>
            </a:defPPr>
            <a:lvl1pPr>
              <a:defRPr sz="900" b="0">
                <a:solidFill>
                  <a:srgbClr val="BDCEC5"/>
                </a:solidFill>
                <a:latin typeface="Arial"/>
                <a:ea typeface="Arial"/>
                <a:cs typeface="Arial"/>
              </a:defRPr>
            </a:lvl1pPr>
            <a:lvl2pPr>
              <a:defRPr sz="900" b="0">
                <a:solidFill>
                  <a:srgbClr val="BDCEC5"/>
                </a:solidFill>
                <a:latin typeface="Arial"/>
                <a:ea typeface="Arial"/>
                <a:cs typeface="Arial"/>
              </a:defRPr>
            </a:lvl2pPr>
            <a:lvl3pPr>
              <a:defRPr sz="900" b="0">
                <a:solidFill>
                  <a:srgbClr val="BDCEC5"/>
                </a:solidFill>
                <a:latin typeface="Arial"/>
                <a:ea typeface="Arial"/>
                <a:cs typeface="Arial"/>
              </a:defRPr>
            </a:lvl3pPr>
            <a:lvl4pPr>
              <a:defRPr sz="900" b="0">
                <a:solidFill>
                  <a:srgbClr val="BDCEC5"/>
                </a:solidFill>
                <a:latin typeface="Arial"/>
                <a:ea typeface="Arial"/>
                <a:cs typeface="Arial"/>
              </a:defRPr>
            </a:lvl4pPr>
            <a:lvl5pPr>
              <a:defRPr sz="900" b="0">
                <a:solidFill>
                  <a:srgbClr val="BDCEC5"/>
                </a:solidFill>
                <a:latin typeface="Arial"/>
                <a:ea typeface="Arial"/>
                <a:cs typeface="Arial"/>
              </a:defRPr>
            </a:lvl5pPr>
            <a:lvl6pPr>
              <a:defRPr sz="900" b="0">
                <a:solidFill>
                  <a:srgbClr val="BDCEC5"/>
                </a:solidFill>
                <a:latin typeface="Arial"/>
                <a:ea typeface="Arial"/>
                <a:cs typeface="Arial"/>
              </a:defRPr>
            </a:lvl6pPr>
            <a:lvl7pPr>
              <a:defRPr sz="900" b="0">
                <a:solidFill>
                  <a:srgbClr val="BDCEC5"/>
                </a:solidFill>
                <a:latin typeface="Arial"/>
                <a:ea typeface="Arial"/>
                <a:cs typeface="Arial"/>
              </a:defRPr>
            </a:lvl7pPr>
            <a:lvl8pPr>
              <a:defRPr sz="900" b="0">
                <a:solidFill>
                  <a:srgbClr val="BDCEC5"/>
                </a:solidFill>
                <a:latin typeface="Arial"/>
                <a:ea typeface="Arial"/>
                <a:cs typeface="Arial"/>
              </a:defRPr>
            </a:lvl8pPr>
            <a:lvl9pPr>
              <a:defRPr sz="900" b="0">
                <a:solidFill>
                  <a:srgbClr val="BDCEC5"/>
                </a:solidFill>
                <a:latin typeface="Arial"/>
                <a:ea typeface="Arial"/>
                <a:cs typeface="Arial"/>
              </a:defRPr>
            </a:lvl9pPr>
          </a:lstStyle>
          <a:p xmlns:a="http://schemas.openxmlformats.org/drawingml/2006/main">
            <a:pPr>
              <a:defRPr sz="900" b="0">
                <a:solidFill>
                  <a:srgbClr val="BDCEC5"/>
                </a:solidFill>
                <a:latin typeface="Arial"/>
                <a:ea typeface="Arial"/>
                <a:cs typeface="Arial"/>
              </a:defRPr>
            </a:pPr>
            <a:r>
              <a:rPr sz="900" b="0">
                <a:solidFill>
                  <a:srgbClr val="BDCEC5"/>
                </a:solidFill>
                <a:latin typeface="Arial"/>
                <a:ea typeface="Arial"/>
                <a:cs typeface="Arial"/>
              </a:rPr>
              <a:t>Working snapshot: 20 Oct 2026. Refresh before March 2027.</a:t>
            </a:r>
          </a:p>
        </p:txBody>
      </p:sp>
      <p:sp>
        <p:nvSpPr>
          <p:cNvPr id="5" name="">
            <a:extLst xmlns:a="http://schemas.openxmlformats.org/drawingml/2006/main">
              <a:ext uri="{FF2B5EF4-FFF2-40B4-BE49-F238E27FC236}">
                <a16:creationId xmlns:a16="http://schemas.microsoft.com/office/drawing/2014/main" id="{9F307B5E-855C-4A7F-ABB6-05D15FB21C10}"/>
              </a:ext>
            </a:extLst>
          </p:cNvPr>
          <p:cNvSpPr>
            <a:spLocks xmlns:a="http://schemas.openxmlformats.org/drawingml/2006/main" noGrp="1"/>
          </p:cNvSpPr>
          <p:nvPr/>
        </p:nvSpPr>
        <p:spPr>
          <a:xfrm xmlns:a="http://schemas.openxmlformats.org/drawingml/2006/main">
            <a:off x="609600" y="1828800"/>
            <a:ext cx="2057400" cy="15049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547F6D-AA4E-4DE5-998F-712A8B72538F}"/>
              </a:ext>
            </a:extLst>
          </p:cNvPr>
          <p:cNvSpPr>
            <a:spLocks xmlns:a="http://schemas.openxmlformats.org/drawingml/2006/main" noGrp="1"/>
          </p:cNvSpPr>
          <p:nvPr/>
        </p:nvSpPr>
        <p:spPr>
          <a:xfrm xmlns:a="http://schemas.openxmlformats.org/drawingml/2006/main">
            <a:off x="742950" y="1962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5D097D9-66E6-475A-B494-A9EDD5345CC8}"/>
              </a:ext>
            </a:extLst>
          </p:cNvPr>
          <p:cNvSpPr>
            <a:spLocks xmlns:a="http://schemas.openxmlformats.org/drawingml/2006/main" noGrp="1"/>
          </p:cNvSpPr>
          <p:nvPr/>
        </p:nvSpPr>
        <p:spPr>
          <a:xfrm xmlns:a="http://schemas.openxmlformats.org/drawingml/2006/main">
            <a:off x="742950" y="23050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Local import</a:t>
            </a:r>
          </a:p>
        </p:txBody>
      </p:sp>
      <p:sp>
        <p:nvSpPr>
          <p:cNvPr id="8" name="">
            <a:extLst xmlns:a="http://schemas.openxmlformats.org/drawingml/2006/main">
              <a:ext uri="{FF2B5EF4-FFF2-40B4-BE49-F238E27FC236}">
                <a16:creationId xmlns:a16="http://schemas.microsoft.com/office/drawing/2014/main" id="{A5B55C61-FF8C-438D-915C-55830DC86DF5}"/>
              </a:ext>
            </a:extLst>
          </p:cNvPr>
          <p:cNvSpPr>
            <a:spLocks xmlns:a="http://schemas.openxmlformats.org/drawingml/2006/main" noGrp="1"/>
          </p:cNvSpPr>
          <p:nvPr/>
        </p:nvSpPr>
        <p:spPr>
          <a:xfrm xmlns:a="http://schemas.openxmlformats.org/drawingml/2006/main">
            <a:off x="742950" y="2762250"/>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PDF.js and OCR</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Image / PDF input</a:t>
            </a:r>
          </a:p>
        </p:txBody>
      </p:sp>
      <p:sp>
        <p:nvSpPr>
          <p:cNvPr id="9" name="">
            <a:extLst xmlns:a="http://schemas.openxmlformats.org/drawingml/2006/main">
              <a:ext uri="{FF2B5EF4-FFF2-40B4-BE49-F238E27FC236}">
                <a16:creationId xmlns:a16="http://schemas.microsoft.com/office/drawing/2014/main" id="{60E7F853-302D-4D5F-BC1A-DC2BFA7291F3}"/>
              </a:ext>
            </a:extLst>
          </p:cNvPr>
          <p:cNvSpPr>
            <a:spLocks xmlns:a="http://schemas.openxmlformats.org/drawingml/2006/main" noGrp="1"/>
          </p:cNvSpPr>
          <p:nvPr/>
        </p:nvSpPr>
        <p:spPr>
          <a:xfrm xmlns:a="http://schemas.openxmlformats.org/drawingml/2006/main">
            <a:off x="2667000" y="2571750"/>
            <a:ext cx="171450" cy="0"/>
          </a:xfrm>
          <a:prstGeom xmlns:a="http://schemas.openxmlformats.org/drawingml/2006/main" prst="line">
            <a:avLst/>
          </a:prstGeom>
          <a:ln xmlns:a="http://schemas.openxmlformats.org/drawingml/2006/main" w="19050">
            <a:solidFill>
              <a:srgbClr val="789D89"/>
            </a:solidFill>
          </a:ln>
        </p:spPr>
      </p:sp>
      <p:sp>
        <p:nvSpPr>
          <p:cNvPr id="10" name="">
            <a:extLst xmlns:a="http://schemas.openxmlformats.org/drawingml/2006/main">
              <a:ext uri="{FF2B5EF4-FFF2-40B4-BE49-F238E27FC236}">
                <a16:creationId xmlns:a16="http://schemas.microsoft.com/office/drawing/2014/main" id="{D72D1BA5-0F0B-4955-B87B-447EED0397B4}"/>
              </a:ext>
            </a:extLst>
          </p:cNvPr>
          <p:cNvSpPr>
            <a:spLocks xmlns:a="http://schemas.openxmlformats.org/drawingml/2006/main" noGrp="1"/>
          </p:cNvSpPr>
          <p:nvPr/>
        </p:nvSpPr>
        <p:spPr>
          <a:xfrm xmlns:a="http://schemas.openxmlformats.org/drawingml/2006/main">
            <a:off x="2838450" y="1828800"/>
            <a:ext cx="2057400" cy="15049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0D3CDC-E9EA-4DDE-B474-FCF67564C231}"/>
              </a:ext>
            </a:extLst>
          </p:cNvPr>
          <p:cNvSpPr>
            <a:spLocks xmlns:a="http://schemas.openxmlformats.org/drawingml/2006/main" noGrp="1"/>
          </p:cNvSpPr>
          <p:nvPr/>
        </p:nvSpPr>
        <p:spPr>
          <a:xfrm xmlns:a="http://schemas.openxmlformats.org/drawingml/2006/main">
            <a:off x="2971800" y="1962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8EB4E510-3DDA-45C3-AE8F-E6C0582ADD2E}"/>
              </a:ext>
            </a:extLst>
          </p:cNvPr>
          <p:cNvSpPr>
            <a:spLocks xmlns:a="http://schemas.openxmlformats.org/drawingml/2006/main" noGrp="1"/>
          </p:cNvSpPr>
          <p:nvPr/>
        </p:nvSpPr>
        <p:spPr>
          <a:xfrm xmlns:a="http://schemas.openxmlformats.org/drawingml/2006/main">
            <a:off x="2971800" y="23050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Human review</a:t>
            </a:r>
          </a:p>
        </p:txBody>
      </p:sp>
      <p:sp>
        <p:nvSpPr>
          <p:cNvPr id="13" name="">
            <a:extLst xmlns:a="http://schemas.openxmlformats.org/drawingml/2006/main">
              <a:ext uri="{FF2B5EF4-FFF2-40B4-BE49-F238E27FC236}">
                <a16:creationId xmlns:a16="http://schemas.microsoft.com/office/drawing/2014/main" id="{CDE613F9-0197-449F-93B9-E7CFD4561C17}"/>
              </a:ext>
            </a:extLst>
          </p:cNvPr>
          <p:cNvSpPr>
            <a:spLocks xmlns:a="http://schemas.openxmlformats.org/drawingml/2006/main" noGrp="1"/>
          </p:cNvSpPr>
          <p:nvPr/>
        </p:nvSpPr>
        <p:spPr>
          <a:xfrm xmlns:a="http://schemas.openxmlformats.org/drawingml/2006/main">
            <a:off x="2971800" y="2762250"/>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Classes, dates,</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weeks and rooms</a:t>
            </a:r>
          </a:p>
        </p:txBody>
      </p:sp>
      <p:sp>
        <p:nvSpPr>
          <p:cNvPr id="14" name="">
            <a:extLst xmlns:a="http://schemas.openxmlformats.org/drawingml/2006/main">
              <a:ext uri="{FF2B5EF4-FFF2-40B4-BE49-F238E27FC236}">
                <a16:creationId xmlns:a16="http://schemas.microsoft.com/office/drawing/2014/main" id="{5B9043BC-DF3C-4F41-AED6-4DE5061D7B2C}"/>
              </a:ext>
            </a:extLst>
          </p:cNvPr>
          <p:cNvSpPr>
            <a:spLocks xmlns:a="http://schemas.openxmlformats.org/drawingml/2006/main" noGrp="1"/>
          </p:cNvSpPr>
          <p:nvPr/>
        </p:nvSpPr>
        <p:spPr>
          <a:xfrm xmlns:a="http://schemas.openxmlformats.org/drawingml/2006/main">
            <a:off x="4895850" y="2571750"/>
            <a:ext cx="171450" cy="0"/>
          </a:xfrm>
          <a:prstGeom xmlns:a="http://schemas.openxmlformats.org/drawingml/2006/main" prst="line">
            <a:avLst/>
          </a:prstGeom>
          <a:ln xmlns:a="http://schemas.openxmlformats.org/drawingml/2006/main" w="19050">
            <a:solidFill>
              <a:srgbClr val="789D89"/>
            </a:solidFill>
          </a:ln>
        </p:spPr>
      </p:sp>
      <p:sp>
        <p:nvSpPr>
          <p:cNvPr id="15" name="">
            <a:extLst xmlns:a="http://schemas.openxmlformats.org/drawingml/2006/main">
              <a:ext uri="{FF2B5EF4-FFF2-40B4-BE49-F238E27FC236}">
                <a16:creationId xmlns:a16="http://schemas.microsoft.com/office/drawing/2014/main" id="{C91E04AB-DAA5-4E19-B4D3-3299A36F16C5}"/>
              </a:ext>
            </a:extLst>
          </p:cNvPr>
          <p:cNvSpPr>
            <a:spLocks xmlns:a="http://schemas.openxmlformats.org/drawingml/2006/main" noGrp="1"/>
          </p:cNvSpPr>
          <p:nvPr/>
        </p:nvSpPr>
        <p:spPr>
          <a:xfrm xmlns:a="http://schemas.openxmlformats.org/drawingml/2006/main">
            <a:off x="5067300" y="1828800"/>
            <a:ext cx="2057400" cy="15049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906B8FE-9B96-435D-A375-188B493D746D}"/>
              </a:ext>
            </a:extLst>
          </p:cNvPr>
          <p:cNvSpPr>
            <a:spLocks xmlns:a="http://schemas.openxmlformats.org/drawingml/2006/main" noGrp="1"/>
          </p:cNvSpPr>
          <p:nvPr/>
        </p:nvSpPr>
        <p:spPr>
          <a:xfrm xmlns:a="http://schemas.openxmlformats.org/drawingml/2006/main">
            <a:off x="5200650" y="1962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FD461CD7-D8D4-4CD5-8C0C-DB79E2DAB67A}"/>
              </a:ext>
            </a:extLst>
          </p:cNvPr>
          <p:cNvSpPr>
            <a:spLocks xmlns:a="http://schemas.openxmlformats.org/drawingml/2006/main" noGrp="1"/>
          </p:cNvSpPr>
          <p:nvPr/>
        </p:nvSpPr>
        <p:spPr>
          <a:xfrm xmlns:a="http://schemas.openxmlformats.org/drawingml/2006/main">
            <a:off x="5200650" y="23050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Constraint filter</a:t>
            </a:r>
          </a:p>
        </p:txBody>
      </p:sp>
      <p:sp>
        <p:nvSpPr>
          <p:cNvPr id="18" name="">
            <a:extLst xmlns:a="http://schemas.openxmlformats.org/drawingml/2006/main">
              <a:ext uri="{FF2B5EF4-FFF2-40B4-BE49-F238E27FC236}">
                <a16:creationId xmlns:a16="http://schemas.microsoft.com/office/drawing/2014/main" id="{CC040AAB-D00B-4426-AB36-DB69924186D9}"/>
              </a:ext>
            </a:extLst>
          </p:cNvPr>
          <p:cNvSpPr>
            <a:spLocks xmlns:a="http://schemas.openxmlformats.org/drawingml/2006/main" noGrp="1"/>
          </p:cNvSpPr>
          <p:nvPr/>
        </p:nvSpPr>
        <p:spPr>
          <a:xfrm xmlns:a="http://schemas.openxmlformats.org/drawingml/2006/main">
            <a:off x="5200650" y="2762250"/>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Availability, calendars</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and existing bookings</a:t>
            </a:r>
          </a:p>
        </p:txBody>
      </p:sp>
      <p:sp>
        <p:nvSpPr>
          <p:cNvPr id="19" name="">
            <a:extLst xmlns:a="http://schemas.openxmlformats.org/drawingml/2006/main">
              <a:ext uri="{FF2B5EF4-FFF2-40B4-BE49-F238E27FC236}">
                <a16:creationId xmlns:a16="http://schemas.microsoft.com/office/drawing/2014/main" id="{8D7BC19C-9EDA-46F5-8435-0C2CDFD690CF}"/>
              </a:ext>
            </a:extLst>
          </p:cNvPr>
          <p:cNvSpPr>
            <a:spLocks xmlns:a="http://schemas.openxmlformats.org/drawingml/2006/main" noGrp="1"/>
          </p:cNvSpPr>
          <p:nvPr/>
        </p:nvSpPr>
        <p:spPr>
          <a:xfrm xmlns:a="http://schemas.openxmlformats.org/drawingml/2006/main">
            <a:off x="7124700" y="2571750"/>
            <a:ext cx="171450" cy="0"/>
          </a:xfrm>
          <a:prstGeom xmlns:a="http://schemas.openxmlformats.org/drawingml/2006/main" prst="line">
            <a:avLst/>
          </a:prstGeom>
          <a:ln xmlns:a="http://schemas.openxmlformats.org/drawingml/2006/main" w="19050">
            <a:solidFill>
              <a:srgbClr val="789D89"/>
            </a:solidFill>
          </a:ln>
        </p:spPr>
      </p:sp>
      <p:sp>
        <p:nvSpPr>
          <p:cNvPr id="20" name="">
            <a:extLst xmlns:a="http://schemas.openxmlformats.org/drawingml/2006/main">
              <a:ext uri="{FF2B5EF4-FFF2-40B4-BE49-F238E27FC236}">
                <a16:creationId xmlns:a16="http://schemas.microsoft.com/office/drawing/2014/main" id="{DF6BDDBA-2800-4369-8F49-7A8E0D311F22}"/>
              </a:ext>
            </a:extLst>
          </p:cNvPr>
          <p:cNvSpPr>
            <a:spLocks xmlns:a="http://schemas.openxmlformats.org/drawingml/2006/main" noGrp="1"/>
          </p:cNvSpPr>
          <p:nvPr/>
        </p:nvSpPr>
        <p:spPr>
          <a:xfrm xmlns:a="http://schemas.openxmlformats.org/drawingml/2006/main">
            <a:off x="7296150" y="1828800"/>
            <a:ext cx="2057400" cy="1504950"/>
          </a:xfrm>
          <a:prstGeom xmlns:a="http://schemas.openxmlformats.org/drawingml/2006/main" prst="rect">
            <a:avLst/>
          </a:prstGeom>
          <a:solidFill xmlns:a="http://schemas.openxmlformats.org/drawingml/2006/main">
            <a:srgbClr val="24634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7D7F623-2DA9-4E77-B469-100656BD2F07}"/>
              </a:ext>
            </a:extLst>
          </p:cNvPr>
          <p:cNvSpPr>
            <a:spLocks xmlns:a="http://schemas.openxmlformats.org/drawingml/2006/main" noGrp="1"/>
          </p:cNvSpPr>
          <p:nvPr/>
        </p:nvSpPr>
        <p:spPr>
          <a:xfrm xmlns:a="http://schemas.openxmlformats.org/drawingml/2006/main">
            <a:off x="7429500" y="1962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460CF94F-8495-46B7-8232-7B94131E3235}"/>
              </a:ext>
            </a:extLst>
          </p:cNvPr>
          <p:cNvSpPr>
            <a:spLocks xmlns:a="http://schemas.openxmlformats.org/drawingml/2006/main" noGrp="1"/>
          </p:cNvSpPr>
          <p:nvPr/>
        </p:nvSpPr>
        <p:spPr>
          <a:xfrm xmlns:a="http://schemas.openxmlformats.org/drawingml/2006/main">
            <a:off x="7429500" y="23050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Ranked options</a:t>
            </a:r>
          </a:p>
        </p:txBody>
      </p:sp>
      <p:sp>
        <p:nvSpPr>
          <p:cNvPr id="23" name="">
            <a:extLst xmlns:a="http://schemas.openxmlformats.org/drawingml/2006/main">
              <a:ext uri="{FF2B5EF4-FFF2-40B4-BE49-F238E27FC236}">
                <a16:creationId xmlns:a16="http://schemas.microsoft.com/office/drawing/2014/main" id="{5FC754BD-BE8D-4B27-B0EE-B8F03204E5F2}"/>
              </a:ext>
            </a:extLst>
          </p:cNvPr>
          <p:cNvSpPr>
            <a:spLocks xmlns:a="http://schemas.openxmlformats.org/drawingml/2006/main" noGrp="1"/>
          </p:cNvSpPr>
          <p:nvPr/>
        </p:nvSpPr>
        <p:spPr>
          <a:xfrm xmlns:a="http://schemas.openxmlformats.org/drawingml/2006/main">
            <a:off x="7429500" y="2762250"/>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Up to four options</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Public handoff points</a:t>
            </a:r>
          </a:p>
        </p:txBody>
      </p:sp>
      <p:sp>
        <p:nvSpPr>
          <p:cNvPr id="24" name="">
            <a:extLst xmlns:a="http://schemas.openxmlformats.org/drawingml/2006/main">
              <a:ext uri="{FF2B5EF4-FFF2-40B4-BE49-F238E27FC236}">
                <a16:creationId xmlns:a16="http://schemas.microsoft.com/office/drawing/2014/main" id="{0DDC6020-1EB3-4DB0-B12F-700CBC8DFC83}"/>
              </a:ext>
            </a:extLst>
          </p:cNvPr>
          <p:cNvSpPr>
            <a:spLocks xmlns:a="http://schemas.openxmlformats.org/drawingml/2006/main" noGrp="1"/>
          </p:cNvSpPr>
          <p:nvPr/>
        </p:nvSpPr>
        <p:spPr>
          <a:xfrm xmlns:a="http://schemas.openxmlformats.org/drawingml/2006/main">
            <a:off x="9353550" y="2571750"/>
            <a:ext cx="171450" cy="0"/>
          </a:xfrm>
          <a:prstGeom xmlns:a="http://schemas.openxmlformats.org/drawingml/2006/main" prst="line">
            <a:avLst/>
          </a:prstGeom>
          <a:ln xmlns:a="http://schemas.openxmlformats.org/drawingml/2006/main" w="19050">
            <a:solidFill>
              <a:srgbClr val="789D89"/>
            </a:solidFill>
          </a:ln>
        </p:spPr>
      </p:sp>
      <p:sp>
        <p:nvSpPr>
          <p:cNvPr id="25" name="">
            <a:extLst xmlns:a="http://schemas.openxmlformats.org/drawingml/2006/main">
              <a:ext uri="{FF2B5EF4-FFF2-40B4-BE49-F238E27FC236}">
                <a16:creationId xmlns:a16="http://schemas.microsoft.com/office/drawing/2014/main" id="{209BEFEA-3A8D-46F5-83FA-91FB0E794BE9}"/>
              </a:ext>
            </a:extLst>
          </p:cNvPr>
          <p:cNvSpPr>
            <a:spLocks xmlns:a="http://schemas.openxmlformats.org/drawingml/2006/main" noGrp="1"/>
          </p:cNvSpPr>
          <p:nvPr/>
        </p:nvSpPr>
        <p:spPr>
          <a:xfrm xmlns:a="http://schemas.openxmlformats.org/drawingml/2006/main">
            <a:off x="9525000" y="1828800"/>
            <a:ext cx="2057400" cy="15049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ACE07EE-6AEC-49E1-9ACF-989DF88A7EB2}"/>
              </a:ext>
            </a:extLst>
          </p:cNvPr>
          <p:cNvSpPr>
            <a:spLocks xmlns:a="http://schemas.openxmlformats.org/drawingml/2006/main" noGrp="1"/>
          </p:cNvSpPr>
          <p:nvPr/>
        </p:nvSpPr>
        <p:spPr>
          <a:xfrm xmlns:a="http://schemas.openxmlformats.org/drawingml/2006/main">
            <a:off x="9658350" y="1962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7407A4B6-80C4-4272-966E-73D6BC45AE63}"/>
              </a:ext>
            </a:extLst>
          </p:cNvPr>
          <p:cNvSpPr>
            <a:spLocks xmlns:a="http://schemas.openxmlformats.org/drawingml/2006/main" noGrp="1"/>
          </p:cNvSpPr>
          <p:nvPr/>
        </p:nvSpPr>
        <p:spPr>
          <a:xfrm xmlns:a="http://schemas.openxmlformats.org/drawingml/2006/main">
            <a:off x="9658350" y="23050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Confirmation</a:t>
            </a:r>
          </a:p>
        </p:txBody>
      </p:sp>
      <p:sp>
        <p:nvSpPr>
          <p:cNvPr id="28" name="">
            <a:extLst xmlns:a="http://schemas.openxmlformats.org/drawingml/2006/main">
              <a:ext uri="{FF2B5EF4-FFF2-40B4-BE49-F238E27FC236}">
                <a16:creationId xmlns:a16="http://schemas.microsoft.com/office/drawing/2014/main" id="{1D8CA490-1479-48C5-AA78-496D2F4AA929}"/>
              </a:ext>
            </a:extLst>
          </p:cNvPr>
          <p:cNvSpPr>
            <a:spLocks xmlns:a="http://schemas.openxmlformats.org/drawingml/2006/main" noGrp="1"/>
          </p:cNvSpPr>
          <p:nvPr/>
        </p:nvSpPr>
        <p:spPr>
          <a:xfrm xmlns:a="http://schemas.openxmlformats.org/drawingml/2006/main">
            <a:off x="9658350" y="2762250"/>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Owner acceptance</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Bilateral records</a:t>
            </a:r>
          </a:p>
        </p:txBody>
      </p:sp>
      <p:graphicFrame>
        <p:nvGraphicFramePr>
          <p:cNvPr id="29" name="">
            <a:extLst xmlns:a="http://schemas.openxmlformats.org/drawingml/2006/main">
              <a:ext uri="{FF2B5EF4-FFF2-40B4-BE49-F238E27FC236}">
                <a16:creationId xmlns:a16="http://schemas.microsoft.com/office/drawing/2014/main" id="{843532D4-7D7D-499A-A433-AD0A7E00B855}"/>
              </a:ext>
            </a:extLst>
          </p:cNvPr>
          <p:cNvGraphicFramePr/>
          <p:nvPr/>
        </p:nvGraphicFramePr>
        <p:xfrm>
          <a:off xmlns:a="http://schemas.openxmlformats.org/drawingml/2006/main" x="609600" y="3781425"/>
          <a:ext xmlns:a="http://schemas.openxmlformats.org/drawingml/2006/main" cx="7048500" cy="2152650"/>
        </p:xfrm>
        <a:graphic xmlns:a="http://schemas.openxmlformats.org/drawingml/2006/main">
          <a:graphicData uri="http://schemas.openxmlformats.org/drawingml/2006/table">
            <a:tbl>
              <a:tblPr/>
              <a:tblGrid>
                <a:gridCol w="3067050"/>
                <a:gridCol w="3981450"/>
              </a:tblGrid>
              <a:tr h="428625">
                <a:tc>
                  <a:txBody>
                    <a:bodyPr>
                      <a:noAutofit/>
                    </a:bodyPr>
                    <a:lstStyle/>
                    <a:p>
                      <a:r>
                        <a:rPr sz="1500" b="1">
                          <a:solidFill>
                            <a:srgbClr val="FFFFFF"/>
                          </a:solidFill>
                          <a:latin typeface="Arial"/>
                          <a:ea typeface="Arial"/>
                          <a:cs typeface="Arial"/>
                        </a:rPr>
                        <a:t>Implemented rule</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500" b="1">
                          <a:solidFill>
                            <a:srgbClr val="FFFFFF"/>
                          </a:solidFill>
                          <a:latin typeface="Arial"/>
                          <a:ea typeface="Arial"/>
                          <a:cs typeface="Arial"/>
                        </a:rPr>
                        <a:t>Why it matters</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r>
              <a:tr h="428625">
                <a:tc>
                  <a:txBody>
                    <a:bodyPr>
                      <a:noAutofit/>
                    </a:bodyPr>
                    <a:lstStyle/>
                    <a:p>
                      <a:r>
                        <a:rPr sz="1500" b="0">
                          <a:solidFill>
                            <a:srgbClr val="FFFFFF"/>
                          </a:solidFill>
                          <a:latin typeface="Arial"/>
                          <a:ea typeface="Arial"/>
                          <a:cs typeface="Arial"/>
                        </a:rPr>
                        <a:t>14 days, 15-minute candidates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Search a bounded, inspectable time window</a:t>
                      </a:r>
                    </a:p>
                  </a:txBody>
                  <a:tcPr marL="91440" marR="91440" marT="45720" marB="45720">
                    <a:lnR w="9525">
                      <a:solidFill>
                        <a:srgbClr val="416250"/>
                      </a:solidFill>
                      <a:prstDash val="solid"/>
                    </a:lnR>
                    <a:lnB w="9525">
                      <a:solidFill>
                        <a:srgbClr val="416250"/>
                      </a:solidFill>
                      <a:prstDash val="solid"/>
                    </a:lnB>
                    <a:solidFill>
                      <a:srgbClr val="11221C"/>
                    </a:solidFill>
                  </a:tcPr>
                </a:tc>
              </a:tr>
              <a:tr h="428625">
                <a:tc>
                  <a:txBody>
                    <a:bodyPr>
                      <a:noAutofit/>
                    </a:bodyPr>
                    <a:lstStyle/>
                    <a:p>
                      <a:r>
                        <a:rPr sz="1500" b="0">
                          <a:solidFill>
                            <a:srgbClr val="FFFFFF"/>
                          </a:solidFill>
                          <a:latin typeface="Arial"/>
                          <a:ea typeface="Arial"/>
                          <a:cs typeface="Arial"/>
                        </a:rPr>
                        <a:t>Teaching weeks and exceptions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Different courses, years and personal terms</a:t>
                      </a:r>
                    </a:p>
                  </a:txBody>
                  <a:tcPr marL="91440" marR="91440" marT="45720" marB="45720">
                    <a:lnR w="9525">
                      <a:solidFill>
                        <a:srgbClr val="416250"/>
                      </a:solidFill>
                      <a:prstDash val="solid"/>
                    </a:lnR>
                    <a:lnB w="9525">
                      <a:solidFill>
                        <a:srgbClr val="416250"/>
                      </a:solidFill>
                      <a:prstDash val="solid"/>
                    </a:lnB>
                    <a:solidFill>
                      <a:srgbClr val="11221C"/>
                    </a:solidFill>
                  </a:tcPr>
                </a:tc>
              </a:tr>
              <a:tr h="428625">
                <a:tc>
                  <a:txBody>
                    <a:bodyPr>
                      <a:noAutofit/>
                    </a:bodyPr>
                    <a:lstStyle/>
                    <a:p>
                      <a:r>
                        <a:rPr sz="1500" b="0">
                          <a:solidFill>
                            <a:srgbClr val="FFFFFF"/>
                          </a:solidFill>
                          <a:latin typeface="Arial"/>
                          <a:ea typeface="Arial"/>
                          <a:cs typeface="Arial"/>
                        </a:rPr>
                        <a:t>Availability and conflict checks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Avoid class, booking and return conflicts</a:t>
                      </a:r>
                    </a:p>
                  </a:txBody>
                  <a:tcPr marL="91440" marR="91440" marT="45720" marB="45720">
                    <a:lnR w="9525">
                      <a:solidFill>
                        <a:srgbClr val="416250"/>
                      </a:solidFill>
                      <a:prstDash val="solid"/>
                    </a:lnR>
                    <a:lnB w="9525">
                      <a:solidFill>
                        <a:srgbClr val="416250"/>
                      </a:solidFill>
                      <a:prstDash val="solid"/>
                    </a:lnB>
                    <a:solidFill>
                      <a:srgbClr val="11221C"/>
                    </a:solidFill>
                  </a:tcPr>
                </a:tc>
              </a:tr>
              <a:tr h="428625">
                <a:tc>
                  <a:txBody>
                    <a:bodyPr>
                      <a:noAutofit/>
                    </a:bodyPr>
                    <a:lstStyle/>
                    <a:p>
                      <a:r>
                        <a:rPr sz="1500" b="0">
                          <a:solidFill>
                            <a:srgbClr val="FFFFFF"/>
                          </a:solidFill>
                          <a:latin typeface="Arial"/>
                          <a:ea typeface="Arial"/>
                          <a:cs typeface="Arial"/>
                        </a:rPr>
                        <a:t>Private timetable access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Keep full schedules private</a:t>
                      </a:r>
                    </a:p>
                  </a:txBody>
                  <a:tcPr marL="91440" marR="91440" marT="45720" marB="45720">
                    <a:lnR w="9525">
                      <a:solidFill>
                        <a:srgbClr val="416250"/>
                      </a:solidFill>
                      <a:prstDash val="solid"/>
                    </a:lnR>
                    <a:lnB w="9525">
                      <a:solidFill>
                        <a:srgbClr val="416250"/>
                      </a:solidFill>
                      <a:prstDash val="solid"/>
                    </a:lnB>
                    <a:solidFill>
                      <a:srgbClr val="11221C"/>
                    </a:solidFill>
                  </a:tcPr>
                </a:tc>
              </a:tr>
            </a:tbl>
          </a:graphicData>
        </a:graphic>
      </p:graphicFrame>
      <p:sp>
        <p:nvSpPr>
          <p:cNvPr id="30" name="">
            <a:extLst xmlns:a="http://schemas.openxmlformats.org/drawingml/2006/main">
              <a:ext uri="{FF2B5EF4-FFF2-40B4-BE49-F238E27FC236}">
                <a16:creationId xmlns:a16="http://schemas.microsoft.com/office/drawing/2014/main" id="{37D11892-9FDD-4EDE-9218-88045298448F}"/>
              </a:ext>
            </a:extLst>
          </p:cNvPr>
          <p:cNvSpPr>
            <a:spLocks xmlns:a="http://schemas.openxmlformats.org/drawingml/2006/main" noGrp="1"/>
          </p:cNvSpPr>
          <p:nvPr/>
        </p:nvSpPr>
        <p:spPr>
          <a:xfrm xmlns:a="http://schemas.openxmlformats.org/drawingml/2006/main">
            <a:off x="8115300" y="3781425"/>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D6E58A"/>
                </a:solidFill>
                <a:latin typeface="Arial"/>
                <a:ea typeface="Arial"/>
                <a:cs typeface="Arial"/>
              </a:defRPr>
            </a:defPPr>
            <a:lvl1pPr>
              <a:defRPr sz="1875" b="1">
                <a:solidFill>
                  <a:srgbClr val="D6E58A"/>
                </a:solidFill>
                <a:latin typeface="Arial"/>
                <a:ea typeface="Arial"/>
                <a:cs typeface="Arial"/>
              </a:defRPr>
            </a:lvl1pPr>
            <a:lvl2pPr>
              <a:defRPr sz="1875" b="1">
                <a:solidFill>
                  <a:srgbClr val="D6E58A"/>
                </a:solidFill>
                <a:latin typeface="Arial"/>
                <a:ea typeface="Arial"/>
                <a:cs typeface="Arial"/>
              </a:defRPr>
            </a:lvl2pPr>
            <a:lvl3pPr>
              <a:defRPr sz="1875" b="1">
                <a:solidFill>
                  <a:srgbClr val="D6E58A"/>
                </a:solidFill>
                <a:latin typeface="Arial"/>
                <a:ea typeface="Arial"/>
                <a:cs typeface="Arial"/>
              </a:defRPr>
            </a:lvl3pPr>
            <a:lvl4pPr>
              <a:defRPr sz="1875" b="1">
                <a:solidFill>
                  <a:srgbClr val="D6E58A"/>
                </a:solidFill>
                <a:latin typeface="Arial"/>
                <a:ea typeface="Arial"/>
                <a:cs typeface="Arial"/>
              </a:defRPr>
            </a:lvl4pPr>
            <a:lvl5pPr>
              <a:defRPr sz="1875" b="1">
                <a:solidFill>
                  <a:srgbClr val="D6E58A"/>
                </a:solidFill>
                <a:latin typeface="Arial"/>
                <a:ea typeface="Arial"/>
                <a:cs typeface="Arial"/>
              </a:defRPr>
            </a:lvl5pPr>
            <a:lvl6pPr>
              <a:defRPr sz="1875" b="1">
                <a:solidFill>
                  <a:srgbClr val="D6E58A"/>
                </a:solidFill>
                <a:latin typeface="Arial"/>
                <a:ea typeface="Arial"/>
                <a:cs typeface="Arial"/>
              </a:defRPr>
            </a:lvl6pPr>
            <a:lvl7pPr>
              <a:defRPr sz="1875" b="1">
                <a:solidFill>
                  <a:srgbClr val="D6E58A"/>
                </a:solidFill>
                <a:latin typeface="Arial"/>
                <a:ea typeface="Arial"/>
                <a:cs typeface="Arial"/>
              </a:defRPr>
            </a:lvl7pPr>
            <a:lvl8pPr>
              <a:defRPr sz="1875" b="1">
                <a:solidFill>
                  <a:srgbClr val="D6E58A"/>
                </a:solidFill>
                <a:latin typeface="Arial"/>
                <a:ea typeface="Arial"/>
                <a:cs typeface="Arial"/>
              </a:defRPr>
            </a:lvl8pPr>
            <a:lvl9pPr>
              <a:defRPr sz="1875" b="1">
                <a:solidFill>
                  <a:srgbClr val="D6E58A"/>
                </a:solidFill>
                <a:latin typeface="Arial"/>
                <a:ea typeface="Arial"/>
                <a:cs typeface="Arial"/>
              </a:defRPr>
            </a:lvl9pPr>
          </a:lstStyle>
          <a:p xmlns:a="http://schemas.openxmlformats.org/drawingml/2006/main">
            <a:pPr>
              <a:defRPr sz="1875" b="1">
                <a:solidFill>
                  <a:srgbClr val="D6E58A"/>
                </a:solidFill>
                <a:latin typeface="Arial"/>
                <a:ea typeface="Arial"/>
                <a:cs typeface="Arial"/>
              </a:defRPr>
            </a:pPr>
            <a:r>
              <a:rPr sz="1875" b="1">
                <a:solidFill>
                  <a:srgbClr val="D6E58A"/>
                </a:solidFill>
                <a:latin typeface="Arial"/>
                <a:ea typeface="Arial"/>
                <a:cs typeface="Arial"/>
              </a:rPr>
              <a:t>Value enabled</a:t>
            </a:r>
          </a:p>
        </p:txBody>
      </p:sp>
      <p:sp>
        <p:nvSpPr>
          <p:cNvPr id="31" name="">
            <a:extLst xmlns:a="http://schemas.openxmlformats.org/drawingml/2006/main">
              <a:ext uri="{FF2B5EF4-FFF2-40B4-BE49-F238E27FC236}">
                <a16:creationId xmlns:a16="http://schemas.microsoft.com/office/drawing/2014/main" id="{37DDCAF0-8EAC-40B5-B462-70A510B8E15D}"/>
              </a:ext>
            </a:extLst>
          </p:cNvPr>
          <p:cNvSpPr>
            <a:spLocks xmlns:a="http://schemas.openxmlformats.org/drawingml/2006/main" noGrp="1"/>
          </p:cNvSpPr>
          <p:nvPr/>
        </p:nvSpPr>
        <p:spPr>
          <a:xfrm xmlns:a="http://schemas.openxmlformats.org/drawingml/2006/main">
            <a:off x="8115300" y="4229100"/>
            <a:ext cx="34671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A compatible item/date and a</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meeting both people can review.</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No single timetable template</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for every student.</a:t>
            </a:r>
          </a:p>
        </p:txBody>
      </p:sp>
      <p:sp>
        <p:nvSpPr>
          <p:cNvPr id="32" name="">
            <a:extLst xmlns:a="http://schemas.openxmlformats.org/drawingml/2006/main">
              <a:ext uri="{FF2B5EF4-FFF2-40B4-BE49-F238E27FC236}">
                <a16:creationId xmlns:a16="http://schemas.microsoft.com/office/drawing/2014/main" id="{AC9287AC-0353-4D72-9997-19D19CDB3205}"/>
              </a:ext>
            </a:extLst>
          </p:cNvPr>
          <p:cNvSpPr>
            <a:spLocks xmlns:a="http://schemas.openxmlformats.org/drawingml/2006/main" noGrp="1"/>
          </p:cNvSpPr>
          <p:nvPr/>
        </p:nvSpPr>
        <p:spPr>
          <a:xfrm xmlns:a="http://schemas.openxmlformats.org/drawingml/2006/main">
            <a:off x="8115300" y="5514975"/>
            <a:ext cx="346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Limits</a:t>
            </a:r>
          </a:p>
        </p:txBody>
      </p:sp>
      <p:sp>
        <p:nvSpPr>
          <p:cNvPr id="33" name="">
            <a:extLst xmlns:a="http://schemas.openxmlformats.org/drawingml/2006/main">
              <a:ext uri="{FF2B5EF4-FFF2-40B4-BE49-F238E27FC236}">
                <a16:creationId xmlns:a16="http://schemas.microsoft.com/office/drawing/2014/main" id="{FB31A3EE-3614-4890-BFB9-4C75C4198E26}"/>
              </a:ext>
            </a:extLst>
          </p:cNvPr>
          <p:cNvSpPr>
            <a:spLocks xmlns:a="http://schemas.openxmlformats.org/drawingml/2006/main" noGrp="1"/>
          </p:cNvSpPr>
          <p:nvPr/>
        </p:nvSpPr>
        <p:spPr>
          <a:xfrm xmlns:a="http://schemas.openxmlformats.org/drawingml/2006/main">
            <a:off x="8115300" y="5867400"/>
            <a:ext cx="3467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BDCEC5"/>
                </a:solidFill>
                <a:latin typeface="Arial"/>
                <a:ea typeface="Arial"/>
                <a:cs typeface="Arial"/>
              </a:defRPr>
            </a:defPPr>
            <a:lvl1pPr>
              <a:defRPr sz="1425" b="0">
                <a:solidFill>
                  <a:srgbClr val="BDCEC5"/>
                </a:solidFill>
                <a:latin typeface="Arial"/>
                <a:ea typeface="Arial"/>
                <a:cs typeface="Arial"/>
              </a:defRPr>
            </a:lvl1pPr>
            <a:lvl2pPr>
              <a:defRPr sz="1425" b="0">
                <a:solidFill>
                  <a:srgbClr val="BDCEC5"/>
                </a:solidFill>
                <a:latin typeface="Arial"/>
                <a:ea typeface="Arial"/>
                <a:cs typeface="Arial"/>
              </a:defRPr>
            </a:lvl2pPr>
            <a:lvl3pPr>
              <a:defRPr sz="1425" b="0">
                <a:solidFill>
                  <a:srgbClr val="BDCEC5"/>
                </a:solidFill>
                <a:latin typeface="Arial"/>
                <a:ea typeface="Arial"/>
                <a:cs typeface="Arial"/>
              </a:defRPr>
            </a:lvl3pPr>
            <a:lvl4pPr>
              <a:defRPr sz="1425" b="0">
                <a:solidFill>
                  <a:srgbClr val="BDCEC5"/>
                </a:solidFill>
                <a:latin typeface="Arial"/>
                <a:ea typeface="Arial"/>
                <a:cs typeface="Arial"/>
              </a:defRPr>
            </a:lvl4pPr>
            <a:lvl5pPr>
              <a:defRPr sz="1425" b="0">
                <a:solidFill>
                  <a:srgbClr val="BDCEC5"/>
                </a:solidFill>
                <a:latin typeface="Arial"/>
                <a:ea typeface="Arial"/>
                <a:cs typeface="Arial"/>
              </a:defRPr>
            </a:lvl5pPr>
            <a:lvl6pPr>
              <a:defRPr sz="1425" b="0">
                <a:solidFill>
                  <a:srgbClr val="BDCEC5"/>
                </a:solidFill>
                <a:latin typeface="Arial"/>
                <a:ea typeface="Arial"/>
                <a:cs typeface="Arial"/>
              </a:defRPr>
            </a:lvl6pPr>
            <a:lvl7pPr>
              <a:defRPr sz="1425" b="0">
                <a:solidFill>
                  <a:srgbClr val="BDCEC5"/>
                </a:solidFill>
                <a:latin typeface="Arial"/>
                <a:ea typeface="Arial"/>
                <a:cs typeface="Arial"/>
              </a:defRPr>
            </a:lvl7pPr>
            <a:lvl8pPr>
              <a:defRPr sz="1425" b="0">
                <a:solidFill>
                  <a:srgbClr val="BDCEC5"/>
                </a:solidFill>
                <a:latin typeface="Arial"/>
                <a:ea typeface="Arial"/>
                <a:cs typeface="Arial"/>
              </a:defRPr>
            </a:lvl8pPr>
            <a:lvl9pPr>
              <a:defRPr sz="1425" b="0">
                <a:solidFill>
                  <a:srgbClr val="BDCEC5"/>
                </a:solidFill>
                <a:latin typeface="Arial"/>
                <a:ea typeface="Arial"/>
                <a:cs typeface="Arial"/>
              </a:defRPr>
            </a:lvl9pPr>
          </a:lstStyle>
          <a:p xmlns:a="http://schemas.openxmlformats.org/drawingml/2006/main">
            <a:pPr>
              <a:defRPr sz="1425" b="0">
                <a:solidFill>
                  <a:srgbClr val="BDCEC5"/>
                </a:solidFill>
                <a:latin typeface="Arial"/>
                <a:ea typeface="Arial"/>
                <a:cs typeface="Arial"/>
              </a:defRPr>
            </a:pPr>
            <a:r>
              <a:rPr sz="1425" b="0">
                <a:solidFill>
                  <a:srgbClr val="BDCEC5"/>
                </a:solidFill>
                <a:latin typeface="Arial"/>
                <a:ea typeface="Arial"/>
                <a:cs typeface="Arial"/>
              </a:rPr>
              <a:t>OCR can fail. Suggestions use</a:t>
            </a:r>
          </a:p>
          <a:p xmlns:a="http://schemas.openxmlformats.org/drawingml/2006/main">
            <a:pPr>
              <a:defRPr sz="1425" b="0">
                <a:solidFill>
                  <a:srgbClr val="BDCEC5"/>
                </a:solidFill>
                <a:latin typeface="Arial"/>
                <a:ea typeface="Arial"/>
                <a:cs typeface="Arial"/>
              </a:defRPr>
            </a:pPr>
            <a:r>
              <a:rPr sz="1425" b="0">
                <a:solidFill>
                  <a:srgbClr val="BDCEC5"/>
                </a:solidFill>
                <a:latin typeface="Arial"/>
                <a:ea typeface="Arial"/>
                <a:cs typeface="Arial"/>
              </a:rPr>
              <a:t>heuristics, not predictive AI.</a:t>
            </a:r>
          </a:p>
          <a:p xmlns:a="http://schemas.openxmlformats.org/drawingml/2006/main">
            <a:pPr>
              <a:defRPr sz="1425" b="0">
                <a:solidFill>
                  <a:srgbClr val="BDCEC5"/>
                </a:solidFill>
                <a:latin typeface="Arial"/>
                <a:ea typeface="Arial"/>
                <a:cs typeface="Arial"/>
              </a:defRPr>
            </a:pPr>
            <a:r>
              <a:rPr sz="1425" b="0">
                <a:solidFill>
                  <a:srgbClr val="BDCEC5"/>
                </a:solidFill>
                <a:latin typeface="Arial"/>
                <a:ea typeface="Arial"/>
                <a:cs typeface="Arial"/>
              </a:rPr>
              <a:t>Manual times remain available.</a:t>
            </a:r>
          </a:p>
        </p:txBody>
      </p:sp>
      <p:sp>
        <p:nvSpPr>
          <p:cNvPr id="34" name="">
            <a:extLst xmlns:a="http://schemas.openxmlformats.org/drawingml/2006/main">
              <a:ext uri="{FF2B5EF4-FFF2-40B4-BE49-F238E27FC236}">
                <a16:creationId xmlns:a16="http://schemas.microsoft.com/office/drawing/2014/main" id="{12C919C1-E1F7-4EC5-96CD-72A925073742}"/>
              </a:ext>
            </a:extLst>
          </p:cNvPr>
          <p:cNvSpPr>
            <a:spLocks xmlns:a="http://schemas.openxmlformats.org/drawingml/2006/main" noGrp="1"/>
          </p:cNvSpPr>
          <p:nvPr/>
        </p:nvSpPr>
        <p:spPr>
          <a:xfrm xmlns:a="http://schemas.openxmlformats.org/drawingml/2006/main">
            <a:off x="609600" y="632460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DCEC5"/>
                </a:solidFill>
                <a:latin typeface="Arial"/>
                <a:ea typeface="Arial"/>
                <a:cs typeface="Arial"/>
              </a:defRPr>
            </a:defPPr>
            <a:lvl1pPr>
              <a:defRPr sz="1275" b="0">
                <a:solidFill>
                  <a:srgbClr val="BDCEC5"/>
                </a:solidFill>
                <a:latin typeface="Arial"/>
                <a:ea typeface="Arial"/>
                <a:cs typeface="Arial"/>
              </a:defRPr>
            </a:lvl1pPr>
            <a:lvl2pPr>
              <a:defRPr sz="1275" b="0">
                <a:solidFill>
                  <a:srgbClr val="BDCEC5"/>
                </a:solidFill>
                <a:latin typeface="Arial"/>
                <a:ea typeface="Arial"/>
                <a:cs typeface="Arial"/>
              </a:defRPr>
            </a:lvl2pPr>
            <a:lvl3pPr>
              <a:defRPr sz="1275" b="0">
                <a:solidFill>
                  <a:srgbClr val="BDCEC5"/>
                </a:solidFill>
                <a:latin typeface="Arial"/>
                <a:ea typeface="Arial"/>
                <a:cs typeface="Arial"/>
              </a:defRPr>
            </a:lvl3pPr>
            <a:lvl4pPr>
              <a:defRPr sz="1275" b="0">
                <a:solidFill>
                  <a:srgbClr val="BDCEC5"/>
                </a:solidFill>
                <a:latin typeface="Arial"/>
                <a:ea typeface="Arial"/>
                <a:cs typeface="Arial"/>
              </a:defRPr>
            </a:lvl4pPr>
            <a:lvl5pPr>
              <a:defRPr sz="1275" b="0">
                <a:solidFill>
                  <a:srgbClr val="BDCEC5"/>
                </a:solidFill>
                <a:latin typeface="Arial"/>
                <a:ea typeface="Arial"/>
                <a:cs typeface="Arial"/>
              </a:defRPr>
            </a:lvl5pPr>
            <a:lvl6pPr>
              <a:defRPr sz="1275" b="0">
                <a:solidFill>
                  <a:srgbClr val="BDCEC5"/>
                </a:solidFill>
                <a:latin typeface="Arial"/>
                <a:ea typeface="Arial"/>
                <a:cs typeface="Arial"/>
              </a:defRPr>
            </a:lvl6pPr>
            <a:lvl7pPr>
              <a:defRPr sz="1275" b="0">
                <a:solidFill>
                  <a:srgbClr val="BDCEC5"/>
                </a:solidFill>
                <a:latin typeface="Arial"/>
                <a:ea typeface="Arial"/>
                <a:cs typeface="Arial"/>
              </a:defRPr>
            </a:lvl7pPr>
            <a:lvl8pPr>
              <a:defRPr sz="1275" b="0">
                <a:solidFill>
                  <a:srgbClr val="BDCEC5"/>
                </a:solidFill>
                <a:latin typeface="Arial"/>
                <a:ea typeface="Arial"/>
                <a:cs typeface="Arial"/>
              </a:defRPr>
            </a:lvl8pPr>
            <a:lvl9pPr>
              <a:defRPr sz="1275" b="0">
                <a:solidFill>
                  <a:srgbClr val="BDCEC5"/>
                </a:solidFill>
                <a:latin typeface="Arial"/>
                <a:ea typeface="Arial"/>
                <a:cs typeface="Arial"/>
              </a:defRPr>
            </a:lvl9pPr>
          </a:lstStyle>
          <a:p xmlns:a="http://schemas.openxmlformats.org/drawingml/2006/main">
            <a:pPr>
              <a:defRPr sz="1275" b="0">
                <a:solidFill>
                  <a:srgbClr val="BDCEC5"/>
                </a:solidFill>
                <a:latin typeface="Arial"/>
                <a:ea typeface="Arial"/>
                <a:cs typeface="Arial"/>
              </a:defRPr>
            </a:pPr>
            <a:r>
              <a:rPr sz="1275" b="0">
                <a:solidFill>
                  <a:srgbClr val="BDCEC5"/>
                </a:solidFill>
                <a:latin typeface="Arial"/>
                <a:ea typeface="Arial"/>
                <a:cs typeface="Arial"/>
              </a:rPr>
              <a:t>Payments remain offline. No platform escrow, insurance or public-launch certification.</a:t>
            </a:r>
          </a:p>
        </p:txBody>
      </p:sp>
    </p:spTree>
    <p:extLst>
      <p:ext uri="{BB962C8B-B14F-4D97-AF65-F5344CB8AC3E}">
        <p14:creationId xmlns:p14="http://schemas.microsoft.com/office/powerpoint/2010/main" val="2022352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0C0642-2E57-4C41-8E74-88EF24703254}"/>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01CFC620-C8E0-4587-98A4-C0C5C8BC04DF}"/>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172B24"/>
                </a:solidFill>
                <a:latin typeface="Arial"/>
                <a:ea typeface="Arial"/>
                <a:cs typeface="Arial"/>
              </a:defRPr>
            </a:defPPr>
            <a:lvl1pPr>
              <a:defRPr sz="3600" b="1">
                <a:solidFill>
                  <a:srgbClr val="172B24"/>
                </a:solidFill>
                <a:latin typeface="Arial"/>
                <a:ea typeface="Arial"/>
                <a:cs typeface="Arial"/>
              </a:defRPr>
            </a:lvl1pPr>
            <a:lvl2pPr>
              <a:defRPr sz="3600" b="1">
                <a:solidFill>
                  <a:srgbClr val="172B24"/>
                </a:solidFill>
                <a:latin typeface="Arial"/>
                <a:ea typeface="Arial"/>
                <a:cs typeface="Arial"/>
              </a:defRPr>
            </a:lvl2pPr>
            <a:lvl3pPr>
              <a:defRPr sz="3600" b="1">
                <a:solidFill>
                  <a:srgbClr val="172B24"/>
                </a:solidFill>
                <a:latin typeface="Arial"/>
                <a:ea typeface="Arial"/>
                <a:cs typeface="Arial"/>
              </a:defRPr>
            </a:lvl3pPr>
            <a:lvl4pPr>
              <a:defRPr sz="3600" b="1">
                <a:solidFill>
                  <a:srgbClr val="172B24"/>
                </a:solidFill>
                <a:latin typeface="Arial"/>
                <a:ea typeface="Arial"/>
                <a:cs typeface="Arial"/>
              </a:defRPr>
            </a:lvl4pPr>
            <a:lvl5pPr>
              <a:defRPr sz="3600" b="1">
                <a:solidFill>
                  <a:srgbClr val="172B24"/>
                </a:solidFill>
                <a:latin typeface="Arial"/>
                <a:ea typeface="Arial"/>
                <a:cs typeface="Arial"/>
              </a:defRPr>
            </a:lvl5pPr>
            <a:lvl6pPr>
              <a:defRPr sz="3600" b="1">
                <a:solidFill>
                  <a:srgbClr val="172B24"/>
                </a:solidFill>
                <a:latin typeface="Arial"/>
                <a:ea typeface="Arial"/>
                <a:cs typeface="Arial"/>
              </a:defRPr>
            </a:lvl6pPr>
            <a:lvl7pPr>
              <a:defRPr sz="3600" b="1">
                <a:solidFill>
                  <a:srgbClr val="172B24"/>
                </a:solidFill>
                <a:latin typeface="Arial"/>
                <a:ea typeface="Arial"/>
                <a:cs typeface="Arial"/>
              </a:defRPr>
            </a:lvl7pPr>
            <a:lvl8pPr>
              <a:defRPr sz="3600" b="1">
                <a:solidFill>
                  <a:srgbClr val="172B24"/>
                </a:solidFill>
                <a:latin typeface="Arial"/>
                <a:ea typeface="Arial"/>
                <a:cs typeface="Arial"/>
              </a:defRPr>
            </a:lvl8pPr>
            <a:lvl9pPr>
              <a:defRPr sz="3600" b="1">
                <a:solidFill>
                  <a:srgbClr val="172B24"/>
                </a:solidFill>
                <a:latin typeface="Arial"/>
                <a:ea typeface="Arial"/>
                <a:cs typeface="Arial"/>
              </a:defRPr>
            </a:lvl9pPr>
          </a:lstStyle>
          <a:p xmlns:a="http://schemas.openxmlformats.org/drawingml/2006/main">
            <a:pPr>
              <a:defRPr sz="3600" b="1">
                <a:solidFill>
                  <a:srgbClr val="172B24"/>
                </a:solidFill>
                <a:latin typeface="Arial"/>
                <a:ea typeface="Arial"/>
                <a:cs typeface="Arial"/>
              </a:defRPr>
            </a:pPr>
            <a:r>
              <a:rPr sz="3600" b="1">
                <a:solidFill>
                  <a:srgbClr val="172B24"/>
                </a:solidFill>
                <a:latin typeface="Arial"/>
                <a:ea typeface="Arial"/>
                <a:cs typeface="Arial"/>
              </a:rPr>
              <a:t>Business Model</a:t>
            </a:r>
          </a:p>
        </p:txBody>
      </p:sp>
      <p:sp>
        <p:nvSpPr>
          <p:cNvPr id="3" name="">
            <a:extLst xmlns:a="http://schemas.openxmlformats.org/drawingml/2006/main">
              <a:ext uri="{FF2B5EF4-FFF2-40B4-BE49-F238E27FC236}">
                <a16:creationId xmlns:a16="http://schemas.microsoft.com/office/drawing/2014/main" id="{3EE21960-1C0F-43F1-8999-1CE14FE1B260}"/>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5 / 12</a:t>
            </a:r>
          </a:p>
        </p:txBody>
      </p:sp>
      <p:sp>
        <p:nvSpPr>
          <p:cNvPr id="4" name="">
            <a:extLst xmlns:a="http://schemas.openxmlformats.org/drawingml/2006/main">
              <a:ext uri="{FF2B5EF4-FFF2-40B4-BE49-F238E27FC236}">
                <a16:creationId xmlns:a16="http://schemas.microsoft.com/office/drawing/2014/main" id="{AAD7DB19-927E-4F60-AAEE-770FCEBAC332}"/>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5C6A63"/>
                </a:solidFill>
                <a:latin typeface="Arial"/>
                <a:ea typeface="Arial"/>
                <a:cs typeface="Arial"/>
              </a:defRPr>
            </a:defPPr>
            <a:lvl1pPr>
              <a:defRPr sz="900" b="0">
                <a:solidFill>
                  <a:srgbClr val="5C6A63"/>
                </a:solidFill>
                <a:latin typeface="Arial"/>
                <a:ea typeface="Arial"/>
                <a:cs typeface="Arial"/>
              </a:defRPr>
            </a:lvl1pPr>
            <a:lvl2pPr>
              <a:defRPr sz="900" b="0">
                <a:solidFill>
                  <a:srgbClr val="5C6A63"/>
                </a:solidFill>
                <a:latin typeface="Arial"/>
                <a:ea typeface="Arial"/>
                <a:cs typeface="Arial"/>
              </a:defRPr>
            </a:lvl2pPr>
            <a:lvl3pPr>
              <a:defRPr sz="900" b="0">
                <a:solidFill>
                  <a:srgbClr val="5C6A63"/>
                </a:solidFill>
                <a:latin typeface="Arial"/>
                <a:ea typeface="Arial"/>
                <a:cs typeface="Arial"/>
              </a:defRPr>
            </a:lvl3pPr>
            <a:lvl4pPr>
              <a:defRPr sz="900" b="0">
                <a:solidFill>
                  <a:srgbClr val="5C6A63"/>
                </a:solidFill>
                <a:latin typeface="Arial"/>
                <a:ea typeface="Arial"/>
                <a:cs typeface="Arial"/>
              </a:defRPr>
            </a:lvl4pPr>
            <a:lvl5pPr>
              <a:defRPr sz="900" b="0">
                <a:solidFill>
                  <a:srgbClr val="5C6A63"/>
                </a:solidFill>
                <a:latin typeface="Arial"/>
                <a:ea typeface="Arial"/>
                <a:cs typeface="Arial"/>
              </a:defRPr>
            </a:lvl5pPr>
            <a:lvl6pPr>
              <a:defRPr sz="900" b="0">
                <a:solidFill>
                  <a:srgbClr val="5C6A63"/>
                </a:solidFill>
                <a:latin typeface="Arial"/>
                <a:ea typeface="Arial"/>
                <a:cs typeface="Arial"/>
              </a:defRPr>
            </a:lvl6pPr>
            <a:lvl7pPr>
              <a:defRPr sz="900" b="0">
                <a:solidFill>
                  <a:srgbClr val="5C6A63"/>
                </a:solidFill>
                <a:latin typeface="Arial"/>
                <a:ea typeface="Arial"/>
                <a:cs typeface="Arial"/>
              </a:defRPr>
            </a:lvl7pPr>
            <a:lvl8pPr>
              <a:defRPr sz="900" b="0">
                <a:solidFill>
                  <a:srgbClr val="5C6A63"/>
                </a:solidFill>
                <a:latin typeface="Arial"/>
                <a:ea typeface="Arial"/>
                <a:cs typeface="Arial"/>
              </a:defRPr>
            </a:lvl8pPr>
            <a:lvl9pPr>
              <a:defRPr sz="900" b="0">
                <a:solidFill>
                  <a:srgbClr val="5C6A63"/>
                </a:solidFill>
                <a:latin typeface="Arial"/>
                <a:ea typeface="Arial"/>
                <a:cs typeface="Arial"/>
              </a:defRPr>
            </a:lvl9pPr>
          </a:lstStyle>
          <a:p xmlns:a="http://schemas.openxmlformats.org/drawingml/2006/main">
            <a:pPr>
              <a:defRPr sz="900" b="0">
                <a:solidFill>
                  <a:srgbClr val="5C6A63"/>
                </a:solidFill>
                <a:latin typeface="Arial"/>
                <a:ea typeface="Arial"/>
                <a:cs typeface="Arial"/>
              </a:defRPr>
            </a:pPr>
            <a:r>
              <a:rPr sz="900" b="0">
                <a:solidFill>
                  <a:srgbClr val="5C6A63"/>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A04CE750-AB2F-44BD-B35E-E868F970255C}"/>
              </a:ext>
            </a:extLst>
          </p:cNvPr>
          <p:cNvGraphicFramePr/>
          <p:nvPr/>
        </p:nvGraphicFramePr>
        <p:xfrm>
          <a:off xmlns:a="http://schemas.openxmlformats.org/drawingml/2006/main" x="609600" y="1743075"/>
          <a:ext xmlns:a="http://schemas.openxmlformats.org/drawingml/2006/main" cx="10972800" cy="2914650"/>
        </p:xfrm>
        <a:graphic xmlns:a="http://schemas.openxmlformats.org/drawingml/2006/main">
          <a:graphicData uri="http://schemas.openxmlformats.org/drawingml/2006/table">
            <a:tbl>
              <a:tblPr/>
              <a:tblGrid>
                <a:gridCol w="2047875"/>
                <a:gridCol w="2047875"/>
                <a:gridCol w="2781300"/>
                <a:gridCol w="2047875"/>
                <a:gridCol w="2047875"/>
              </a:tblGrid>
              <a:tr h="1123950">
                <a:tc rowSpan="2">
                  <a:txBody>
                    <a:bodyPr>
                      <a:noAutofit/>
                    </a:bodyPr>
                    <a:lstStyle/>
                    <a:p>
                      <a:r>
                        <a:rPr sz="1500" b="1">
                          <a:solidFill>
                            <a:srgbClr val="172B24"/>
                          </a:solidFill>
                          <a:latin typeface="Arial"/>
                          <a:ea typeface="Arial"/>
                          <a:cs typeface="Arial"/>
                        </a:rPr>
                        <a:t>Partners (proposed)</a:t>
                      </a:r>
                    </a:p>
                    <a:p>
                      <a:r>
                        <a:rPr sz="1500">
                          <a:solidFill>
                            <a:srgbClr val="172B24"/>
                          </a:solidFill>
                          <a:latin typeface="Arial"/>
                          <a:ea typeface="Arial"/>
                          <a:cs typeface="Arial"/>
                        </a:rPr>
                        <a:t>Class contacts</a:t>
                      </a:r>
                    </a:p>
                    <a:p>
                      <a:r>
                        <a:rPr sz="1500">
                          <a:solidFill>
                            <a:srgbClr val="172B24"/>
                          </a:solidFill>
                          <a:latin typeface="Arial"/>
                          <a:ea typeface="Arial"/>
                          <a:cs typeface="Arial"/>
                        </a:rPr>
                        <a:t>Student societies</a:t>
                      </a:r>
                    </a:p>
                    <a:p>
                      <a:r>
                        <a:rPr sz="1500">
                          <a:solidFill>
                            <a:srgbClr val="172B24"/>
                          </a:solidFill>
                          <a:latin typeface="Arial"/>
                          <a:ea typeface="Arial"/>
                          <a:cs typeface="Arial"/>
                        </a:rPr>
                        <a:t>Hosting and email</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a:txBody>
                    <a:bodyPr>
                      <a:noAutofit/>
                    </a:bodyPr>
                    <a:lstStyle/>
                    <a:p>
                      <a:r>
                        <a:rPr sz="1500" b="1">
                          <a:solidFill>
                            <a:srgbClr val="172B24"/>
                          </a:solidFill>
                          <a:latin typeface="Arial"/>
                          <a:ea typeface="Arial"/>
                          <a:cs typeface="Arial"/>
                        </a:rPr>
                        <a:t>Activities</a:t>
                      </a:r>
                    </a:p>
                    <a:p>
                      <a:r>
                        <a:rPr sz="1500">
                          <a:solidFill>
                            <a:srgbClr val="172B24"/>
                          </a:solidFill>
                          <a:latin typeface="Arial"/>
                          <a:ea typeface="Arial"/>
                          <a:cs typeface="Arial"/>
                        </a:rPr>
                        <a:t>Moderation</a:t>
                      </a:r>
                    </a:p>
                    <a:p>
                      <a:r>
                        <a:rPr sz="1500">
                          <a:solidFill>
                            <a:srgbClr val="172B24"/>
                          </a:solidFill>
                          <a:latin typeface="Arial"/>
                          <a:ea typeface="Arial"/>
                          <a:cs typeface="Arial"/>
                        </a:rPr>
                        <a:t>Maintenance</a:t>
                      </a:r>
                    </a:p>
                    <a:p>
                      <a:r>
                        <a:rPr sz="1500">
                          <a:solidFill>
                            <a:srgbClr val="172B24"/>
                          </a:solidFill>
                          <a:latin typeface="Arial"/>
                          <a:ea typeface="Arial"/>
                          <a:cs typeface="Arial"/>
                        </a:rPr>
                        <a:t>Pilot support</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rowSpan="2">
                  <a:txBody>
                    <a:bodyPr>
                      <a:noAutofit/>
                    </a:bodyPr>
                    <a:lstStyle/>
                    <a:p>
                      <a:r>
                        <a:rPr sz="1500" b="1">
                          <a:solidFill>
                            <a:srgbClr val="FFFFFF"/>
                          </a:solidFill>
                          <a:latin typeface="Arial"/>
                          <a:ea typeface="Arial"/>
                          <a:cs typeface="Arial"/>
                        </a:rPr>
                        <a:t>Value proposition</a:t>
                      </a:r>
                    </a:p>
                    <a:p>
                      <a:r>
                        <a:rPr sz="1500">
                          <a:solidFill>
                            <a:srgbClr val="FFFFFF"/>
                          </a:solidFill>
                          <a:latin typeface="Arial"/>
                          <a:ea typeface="Arial"/>
                          <a:cs typeface="Arial"/>
                        </a:rPr>
                        <a:t>An item for your dates</a:t>
                      </a:r>
                    </a:p>
                    <a:p>
                      <a:r>
                        <a:rPr sz="1500">
                          <a:solidFill>
                            <a:srgbClr val="FFFFFF"/>
                          </a:solidFill>
                          <a:latin typeface="Arial"/>
                          <a:ea typeface="Arial"/>
                          <a:cs typeface="Arial"/>
                        </a:rPr>
                        <a:t>Clear fees and return</a:t>
                      </a:r>
                    </a:p>
                    <a:p>
                      <a:r>
                        <a:rPr sz="1500">
                          <a:solidFill>
                            <a:srgbClr val="FFFFFF"/>
                          </a:solidFill>
                          <a:latin typeface="Arial"/>
                          <a:ea typeface="Arial"/>
                          <a:cs typeface="Arial"/>
                        </a:rPr>
                        <a:t>Public handoff</a:t>
                      </a:r>
                    </a:p>
                    <a:p>
                      <a:r>
                        <a:rPr sz="1500">
                          <a:solidFill>
                            <a:srgbClr val="FFFFFF"/>
                          </a:solidFill>
                          <a:latin typeface="Arial"/>
                          <a:ea typeface="Arial"/>
                          <a:cs typeface="Arial"/>
                        </a:rPr>
                        <a:t>Optional location</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172B24"/>
                          </a:solidFill>
                          <a:latin typeface="Arial"/>
                          <a:ea typeface="Arial"/>
                          <a:cs typeface="Arial"/>
                        </a:rPr>
                        <a:t>Relationships</a:t>
                      </a:r>
                    </a:p>
                    <a:p>
                      <a:r>
                        <a:rPr sz="1500">
                          <a:solidFill>
                            <a:srgbClr val="172B24"/>
                          </a:solidFill>
                          <a:latin typeface="Arial"/>
                          <a:ea typeface="Arial"/>
                          <a:cs typeface="Arial"/>
                        </a:rPr>
                        <a:t>Manual support</a:t>
                      </a:r>
                    </a:p>
                    <a:p>
                      <a:r>
                        <a:rPr sz="1500">
                          <a:solidFill>
                            <a:srgbClr val="172B24"/>
                          </a:solidFill>
                          <a:latin typeface="Arial"/>
                          <a:ea typeface="Arial"/>
                          <a:cs typeface="Arial"/>
                        </a:rPr>
                        <a:t>Explicit confirmation</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rowSpan="2">
                  <a:txBody>
                    <a:bodyPr>
                      <a:noAutofit/>
                    </a:bodyPr>
                    <a:lstStyle/>
                    <a:p>
                      <a:r>
                        <a:rPr sz="1500" b="1">
                          <a:solidFill>
                            <a:srgbClr val="172B24"/>
                          </a:solidFill>
                          <a:latin typeface="Arial"/>
                          <a:ea typeface="Arial"/>
                          <a:cs typeface="Arial"/>
                        </a:rPr>
                        <a:t>Segments</a:t>
                      </a:r>
                    </a:p>
                    <a:p>
                      <a:r>
                        <a:rPr sz="1500">
                          <a:solidFill>
                            <a:srgbClr val="172B24"/>
                          </a:solidFill>
                          <a:latin typeface="Arial"/>
                          <a:ea typeface="Arial"/>
                          <a:cs typeface="Arial"/>
                        </a:rPr>
                        <a:t>Occasional requesters</a:t>
                      </a:r>
                    </a:p>
                    <a:p>
                      <a:r>
                        <a:rPr sz="1500">
                          <a:solidFill>
                            <a:srgbClr val="172B24"/>
                          </a:solidFill>
                          <a:latin typeface="Arial"/>
                          <a:ea typeface="Arial"/>
                          <a:cs typeface="Arial"/>
                        </a:rPr>
                        <a:t>Willing item owners</a:t>
                      </a:r>
                    </a:p>
                    <a:p>
                      <a:r>
                        <a:rPr sz="1500">
                          <a:solidFill>
                            <a:srgbClr val="172B24"/>
                          </a:solidFill>
                          <a:latin typeface="Arial"/>
                          <a:ea typeface="Arial"/>
                          <a:cs typeface="Arial"/>
                        </a:rPr>
                        <a:t>DTS pilot first</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r>
              <a:tr h="990600">
                <a:tc vMerge="1">
                  <a:txBody>
                    <a:bodyPr/>
                    <a:lstStyle/>
                    <a:p>
                      <a:r>
                        <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tcPr>
                </a:tc>
                <a:tc>
                  <a:txBody>
                    <a:bodyPr>
                      <a:noAutofit/>
                    </a:bodyPr>
                    <a:lstStyle/>
                    <a:p>
                      <a:r>
                        <a:rPr sz="1500" b="1">
                          <a:solidFill>
                            <a:srgbClr val="172B24"/>
                          </a:solidFill>
                          <a:latin typeface="Arial"/>
                          <a:ea typeface="Arial"/>
                          <a:cs typeface="Arial"/>
                        </a:rPr>
                        <a:t>Resources</a:t>
                      </a:r>
                    </a:p>
                    <a:p>
                      <a:r>
                        <a:rPr sz="1500">
                          <a:solidFill>
                            <a:srgbClr val="172B24"/>
                          </a:solidFill>
                          <a:latin typeface="Arial"/>
                          <a:ea typeface="Arial"/>
                          <a:cs typeface="Arial"/>
                        </a:rPr>
                        <a:t>Relevant supply</a:t>
                      </a:r>
                    </a:p>
                    <a:p>
                      <a:r>
                        <a:rPr sz="1500">
                          <a:solidFill>
                            <a:srgbClr val="172B24"/>
                          </a:solidFill>
                          <a:latin typeface="Arial"/>
                          <a:ea typeface="Arial"/>
                          <a:cs typeface="Arial"/>
                        </a:rPr>
                        <a:t>Code and operators</a:t>
                      </a:r>
                    </a:p>
                  </a:txBody>
                  <a:tcPr marL="91440" marR="91440" marT="45720" marB="45720">
                    <a:lnR w="9525">
                      <a:solidFill>
                        <a:srgbClr val="D5DFD8"/>
                      </a:solidFill>
                      <a:prstDash val="solid"/>
                    </a:lnR>
                    <a:lnB w="9525">
                      <a:solidFill>
                        <a:srgbClr val="D5DFD8"/>
                      </a:solidFill>
                      <a:prstDash val="solid"/>
                    </a:lnB>
                    <a:solidFill>
                      <a:srgbClr val="F6F8F6"/>
                    </a:solidFill>
                  </a:tcPr>
                </a:tc>
                <a:tc vMerge="1">
                  <a:txBody>
                    <a:bodyPr/>
                    <a:lstStyle/>
                    <a:p>
                      <a:r>
                        <a:t/>
                      </a:r>
                    </a:p>
                  </a:txBody>
                  <a:tcPr marL="91440" marR="91440" marT="45720" marB="45720">
                    <a:lnR w="9525">
                      <a:solidFill>
                        <a:srgbClr val="D5DFD8"/>
                      </a:solidFill>
                      <a:prstDash val="solid"/>
                    </a:lnR>
                    <a:lnB w="9525">
                      <a:solidFill>
                        <a:srgbClr val="D5DFD8"/>
                      </a:solidFill>
                      <a:prstDash val="solid"/>
                    </a:lnB>
                  </a:tcPr>
                </a:tc>
                <a:tc>
                  <a:txBody>
                    <a:bodyPr>
                      <a:noAutofit/>
                    </a:bodyPr>
                    <a:lstStyle/>
                    <a:p>
                      <a:r>
                        <a:rPr sz="1500" b="1">
                          <a:solidFill>
                            <a:srgbClr val="172B24"/>
                          </a:solidFill>
                          <a:latin typeface="Arial"/>
                          <a:ea typeface="Arial"/>
                          <a:cs typeface="Arial"/>
                        </a:rPr>
                        <a:t>Channels</a:t>
                      </a:r>
                    </a:p>
                    <a:p>
                      <a:r>
                        <a:rPr sz="1500">
                          <a:solidFill>
                            <a:srgbClr val="172B24"/>
                          </a:solidFill>
                          <a:latin typeface="Arial"/>
                          <a:ea typeface="Arial"/>
                          <a:cs typeface="Arial"/>
                        </a:rPr>
                        <a:t>Eight DTS classes</a:t>
                      </a:r>
                    </a:p>
                    <a:p>
                      <a:r>
                        <a:rPr sz="1500">
                          <a:solidFill>
                            <a:srgbClr val="172B24"/>
                          </a:solidFill>
                          <a:latin typeface="Arial"/>
                          <a:ea typeface="Arial"/>
                          <a:cs typeface="Arial"/>
                        </a:rPr>
                        <a:t>Permitted referrals</a:t>
                      </a:r>
                    </a:p>
                  </a:txBody>
                  <a:tcPr marL="91440" marR="91440" marT="45720" marB="45720">
                    <a:lnR w="9525">
                      <a:solidFill>
                        <a:srgbClr val="D5DFD8"/>
                      </a:solidFill>
                      <a:prstDash val="solid"/>
                    </a:lnR>
                    <a:lnB w="9525">
                      <a:solidFill>
                        <a:srgbClr val="D5DFD8"/>
                      </a:solidFill>
                      <a:prstDash val="solid"/>
                    </a:lnB>
                    <a:solidFill>
                      <a:srgbClr val="F6F8F6"/>
                    </a:solidFill>
                  </a:tcPr>
                </a:tc>
                <a:tc vMerge="1">
                  <a:txBody>
                    <a:bodyPr/>
                    <a:lstStyle/>
                    <a:p>
                      <a:r>
                        <a:t/>
                      </a:r>
                    </a:p>
                  </a:txBody>
                  <a:tcPr marL="91440" marR="91440" marT="45720" marB="45720">
                    <a:lnR w="9525">
                      <a:solidFill>
                        <a:srgbClr val="D5DFD8"/>
                      </a:solidFill>
                      <a:prstDash val="solid"/>
                    </a:lnR>
                    <a:lnB w="9525">
                      <a:solidFill>
                        <a:srgbClr val="D5DFD8"/>
                      </a:solidFill>
                      <a:prstDash val="solid"/>
                    </a:lnB>
                  </a:tcPr>
                </a:tc>
              </a:tr>
              <a:tr h="800100">
                <a:tc gridSpan="3">
                  <a:txBody>
                    <a:bodyPr>
                      <a:noAutofit/>
                    </a:bodyPr>
                    <a:lstStyle/>
                    <a:p>
                      <a:r>
                        <a:rPr sz="1500" b="1">
                          <a:solidFill>
                            <a:srgbClr val="172B24"/>
                          </a:solidFill>
                          <a:latin typeface="Arial"/>
                          <a:ea typeface="Arial"/>
                          <a:cs typeface="Arial"/>
                        </a:rPr>
                        <a:t>Costs</a:t>
                      </a:r>
                    </a:p>
                    <a:p>
                      <a:r>
                        <a:rPr sz="1500">
                          <a:solidFill>
                            <a:srgbClr val="172B24"/>
                          </a:solidFill>
                          <a:latin typeface="Arial"/>
                          <a:ea typeface="Arial"/>
                          <a:cs typeface="Arial"/>
                        </a:rPr>
                        <a:t>CNY180 cash for four weeks. Team time separate.</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6F8F6"/>
                    </a:solidFill>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c gridSpan="2">
                  <a:txBody>
                    <a:bodyPr>
                      <a:noAutofit/>
                    </a:bodyPr>
                    <a:lstStyle/>
                    <a:p>
                      <a:r>
                        <a:rPr sz="1500" b="1">
                          <a:solidFill>
                            <a:srgbClr val="172B24"/>
                          </a:solidFill>
                          <a:latin typeface="Arial"/>
                          <a:ea typeface="Arial"/>
                          <a:cs typeface="Arial"/>
                        </a:rPr>
                        <a:t>Revenue</a:t>
                      </a:r>
                    </a:p>
                    <a:p>
                      <a:r>
                        <a:rPr sz="1500">
                          <a:solidFill>
                            <a:srgbClr val="172B24"/>
                          </a:solidFill>
                          <a:latin typeface="Arial"/>
                          <a:ea typeface="Arial"/>
                          <a:cs typeface="Arial"/>
                        </a:rPr>
                        <a:t>Pilot fee CNY0. Later fee requires validation.</a:t>
                      </a:r>
                    </a:p>
                  </a:txBody>
                  <a:tcPr marL="91440" marR="91440" marT="45720" marB="45720">
                    <a:lnR w="9525">
                      <a:solidFill>
                        <a:srgbClr val="D5DFD8"/>
                      </a:solidFill>
                      <a:prstDash val="solid"/>
                    </a:lnR>
                    <a:lnB w="9525">
                      <a:solidFill>
                        <a:srgbClr val="D5DFD8"/>
                      </a:solidFill>
                      <a:prstDash val="solid"/>
                    </a:lnB>
                    <a:solidFill>
                      <a:srgbClr val="F6F8F6"/>
                    </a:solidFill>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r>
            </a:tbl>
          </a:graphicData>
        </a:graphic>
      </p:graphicFrame>
      <p:graphicFrame>
        <p:nvGraphicFramePr>
          <p:cNvPr id="6" name="Chart">
            <a:extLst xmlns:a="http://schemas.openxmlformats.org/drawingml/2006/main">
              <a:ext uri="{FF2B5EF4-FFF2-40B4-BE49-F238E27FC236}">
                <a16:creationId xmlns:a16="http://schemas.microsoft.com/office/drawing/2014/main" id="{B50BBC7B-9881-4AA6-B400-086902298D63}"/>
              </a:ext>
            </a:extLst>
          </p:cNvPr>
          <p:cNvGraphicFramePr/>
          <p:nvPr/>
        </p:nvGraphicFramePr>
        <p:xfrm>
          <a:off xmlns:a="http://schemas.openxmlformats.org/drawingml/2006/main" x="609600" y="4905375"/>
          <a:ext xmlns:a="http://schemas.openxmlformats.org/drawingml/2006/main" cx="5143500" cy="1485900"/>
        </p:xfrm>
        <a:graphic xmlns:a="http://schemas.openxmlformats.org/drawingml/2006/main">
          <a:graphicData uri="http://schemas.openxmlformats.org/drawingml/2006/chart">
            <c:chart xmlns:r="http://schemas.openxmlformats.org/officeDocument/2006/relationships" xmlns:c="http://schemas.openxmlformats.org/drawingml/2006/chart" r:id="R7cdf496fc79548a2"/>
          </a:graphicData>
        </a:graphic>
      </p:graphicFrame>
      <p:sp>
        <p:nvSpPr>
          <p:cNvPr id="7" name="">
            <a:extLst xmlns:a="http://schemas.openxmlformats.org/drawingml/2006/main">
              <a:ext uri="{FF2B5EF4-FFF2-40B4-BE49-F238E27FC236}">
                <a16:creationId xmlns:a16="http://schemas.microsoft.com/office/drawing/2014/main" id="{A4ECDF9D-4AE1-4199-82D9-F81C57631D3B}"/>
              </a:ext>
            </a:extLst>
          </p:cNvPr>
          <p:cNvSpPr>
            <a:spLocks xmlns:a="http://schemas.openxmlformats.org/drawingml/2006/main" noGrp="1"/>
          </p:cNvSpPr>
          <p:nvPr/>
        </p:nvSpPr>
        <p:spPr>
          <a:xfrm xmlns:a="http://schemas.openxmlformats.org/drawingml/2006/main">
            <a:off x="6467475" y="4924425"/>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72B24"/>
                </a:solidFill>
                <a:latin typeface="Arial"/>
                <a:ea typeface="Arial"/>
                <a:cs typeface="Arial"/>
              </a:defRPr>
            </a:defPPr>
            <a:lvl1pPr>
              <a:defRPr sz="3300" b="1">
                <a:solidFill>
                  <a:srgbClr val="172B24"/>
                </a:solidFill>
                <a:latin typeface="Arial"/>
                <a:ea typeface="Arial"/>
                <a:cs typeface="Arial"/>
              </a:defRPr>
            </a:lvl1pPr>
            <a:lvl2pPr>
              <a:defRPr sz="3300" b="1">
                <a:solidFill>
                  <a:srgbClr val="172B24"/>
                </a:solidFill>
                <a:latin typeface="Arial"/>
                <a:ea typeface="Arial"/>
                <a:cs typeface="Arial"/>
              </a:defRPr>
            </a:lvl2pPr>
            <a:lvl3pPr>
              <a:defRPr sz="3300" b="1">
                <a:solidFill>
                  <a:srgbClr val="172B24"/>
                </a:solidFill>
                <a:latin typeface="Arial"/>
                <a:ea typeface="Arial"/>
                <a:cs typeface="Arial"/>
              </a:defRPr>
            </a:lvl3pPr>
            <a:lvl4pPr>
              <a:defRPr sz="3300" b="1">
                <a:solidFill>
                  <a:srgbClr val="172B24"/>
                </a:solidFill>
                <a:latin typeface="Arial"/>
                <a:ea typeface="Arial"/>
                <a:cs typeface="Arial"/>
              </a:defRPr>
            </a:lvl4pPr>
            <a:lvl5pPr>
              <a:defRPr sz="3300" b="1">
                <a:solidFill>
                  <a:srgbClr val="172B24"/>
                </a:solidFill>
                <a:latin typeface="Arial"/>
                <a:ea typeface="Arial"/>
                <a:cs typeface="Arial"/>
              </a:defRPr>
            </a:lvl5pPr>
            <a:lvl6pPr>
              <a:defRPr sz="3300" b="1">
                <a:solidFill>
                  <a:srgbClr val="172B24"/>
                </a:solidFill>
                <a:latin typeface="Arial"/>
                <a:ea typeface="Arial"/>
                <a:cs typeface="Arial"/>
              </a:defRPr>
            </a:lvl6pPr>
            <a:lvl7pPr>
              <a:defRPr sz="3300" b="1">
                <a:solidFill>
                  <a:srgbClr val="172B24"/>
                </a:solidFill>
                <a:latin typeface="Arial"/>
                <a:ea typeface="Arial"/>
                <a:cs typeface="Arial"/>
              </a:defRPr>
            </a:lvl7pPr>
            <a:lvl8pPr>
              <a:defRPr sz="3300" b="1">
                <a:solidFill>
                  <a:srgbClr val="172B24"/>
                </a:solidFill>
                <a:latin typeface="Arial"/>
                <a:ea typeface="Arial"/>
                <a:cs typeface="Arial"/>
              </a:defRPr>
            </a:lvl8pPr>
            <a:lvl9pPr>
              <a:defRPr sz="3300" b="1">
                <a:solidFill>
                  <a:srgbClr val="172B24"/>
                </a:solidFill>
                <a:latin typeface="Arial"/>
                <a:ea typeface="Arial"/>
                <a:cs typeface="Arial"/>
              </a:defRPr>
            </a:lvl9pPr>
          </a:lstStyle>
          <a:p xmlns:a="http://schemas.openxmlformats.org/drawingml/2006/main">
            <a:pPr>
              <a:defRPr sz="3300" b="1">
                <a:solidFill>
                  <a:srgbClr val="172B24"/>
                </a:solidFill>
                <a:latin typeface="Arial"/>
                <a:ea typeface="Arial"/>
                <a:cs typeface="Arial"/>
              </a:defRPr>
            </a:pPr>
            <a:r>
              <a:rPr sz="3300" b="1">
                <a:solidFill>
                  <a:srgbClr val="172B24"/>
                </a:solidFill>
                <a:latin typeface="Arial"/>
                <a:ea typeface="Arial"/>
                <a:cs typeface="Arial"/>
              </a:rPr>
              <a:t>CNY20</a:t>
            </a:r>
          </a:p>
        </p:txBody>
      </p:sp>
      <p:sp>
        <p:nvSpPr>
          <p:cNvPr id="8" name="">
            <a:extLst xmlns:a="http://schemas.openxmlformats.org/drawingml/2006/main">
              <a:ext uri="{FF2B5EF4-FFF2-40B4-BE49-F238E27FC236}">
                <a16:creationId xmlns:a16="http://schemas.microsoft.com/office/drawing/2014/main" id="{931D49E2-0687-448E-BE54-1426188F96B8}"/>
              </a:ext>
            </a:extLst>
          </p:cNvPr>
          <p:cNvSpPr>
            <a:spLocks xmlns:a="http://schemas.openxmlformats.org/drawingml/2006/main" noGrp="1"/>
          </p:cNvSpPr>
          <p:nvPr/>
        </p:nvSpPr>
        <p:spPr>
          <a:xfrm xmlns:a="http://schemas.openxmlformats.org/drawingml/2006/main">
            <a:off x="6467475" y="5495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Planned paid GMV</a:t>
            </a:r>
          </a:p>
        </p:txBody>
      </p:sp>
      <p:sp>
        <p:nvSpPr>
          <p:cNvPr id="9" name="">
            <a:extLst xmlns:a="http://schemas.openxmlformats.org/drawingml/2006/main">
              <a:ext uri="{FF2B5EF4-FFF2-40B4-BE49-F238E27FC236}">
                <a16:creationId xmlns:a16="http://schemas.microsoft.com/office/drawing/2014/main" id="{76E927FE-EE38-45B8-BC39-FEC11AC50D50}"/>
              </a:ext>
            </a:extLst>
          </p:cNvPr>
          <p:cNvSpPr>
            <a:spLocks xmlns:a="http://schemas.openxmlformats.org/drawingml/2006/main" noGrp="1"/>
          </p:cNvSpPr>
          <p:nvPr/>
        </p:nvSpPr>
        <p:spPr>
          <a:xfrm xmlns:a="http://schemas.openxmlformats.org/drawingml/2006/main">
            <a:off x="9296400" y="4924425"/>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24634D"/>
                </a:solidFill>
                <a:latin typeface="Arial"/>
                <a:ea typeface="Arial"/>
                <a:cs typeface="Arial"/>
              </a:defRPr>
            </a:defPPr>
            <a:lvl1pPr>
              <a:defRPr sz="3300" b="1">
                <a:solidFill>
                  <a:srgbClr val="24634D"/>
                </a:solidFill>
                <a:latin typeface="Arial"/>
                <a:ea typeface="Arial"/>
                <a:cs typeface="Arial"/>
              </a:defRPr>
            </a:lvl1pPr>
            <a:lvl2pPr>
              <a:defRPr sz="3300" b="1">
                <a:solidFill>
                  <a:srgbClr val="24634D"/>
                </a:solidFill>
                <a:latin typeface="Arial"/>
                <a:ea typeface="Arial"/>
                <a:cs typeface="Arial"/>
              </a:defRPr>
            </a:lvl2pPr>
            <a:lvl3pPr>
              <a:defRPr sz="3300" b="1">
                <a:solidFill>
                  <a:srgbClr val="24634D"/>
                </a:solidFill>
                <a:latin typeface="Arial"/>
                <a:ea typeface="Arial"/>
                <a:cs typeface="Arial"/>
              </a:defRPr>
            </a:lvl3pPr>
            <a:lvl4pPr>
              <a:defRPr sz="3300" b="1">
                <a:solidFill>
                  <a:srgbClr val="24634D"/>
                </a:solidFill>
                <a:latin typeface="Arial"/>
                <a:ea typeface="Arial"/>
                <a:cs typeface="Arial"/>
              </a:defRPr>
            </a:lvl4pPr>
            <a:lvl5pPr>
              <a:defRPr sz="3300" b="1">
                <a:solidFill>
                  <a:srgbClr val="24634D"/>
                </a:solidFill>
                <a:latin typeface="Arial"/>
                <a:ea typeface="Arial"/>
                <a:cs typeface="Arial"/>
              </a:defRPr>
            </a:lvl5pPr>
            <a:lvl6pPr>
              <a:defRPr sz="3300" b="1">
                <a:solidFill>
                  <a:srgbClr val="24634D"/>
                </a:solidFill>
                <a:latin typeface="Arial"/>
                <a:ea typeface="Arial"/>
                <a:cs typeface="Arial"/>
              </a:defRPr>
            </a:lvl6pPr>
            <a:lvl7pPr>
              <a:defRPr sz="3300" b="1">
                <a:solidFill>
                  <a:srgbClr val="24634D"/>
                </a:solidFill>
                <a:latin typeface="Arial"/>
                <a:ea typeface="Arial"/>
                <a:cs typeface="Arial"/>
              </a:defRPr>
            </a:lvl7pPr>
            <a:lvl8pPr>
              <a:defRPr sz="3300" b="1">
                <a:solidFill>
                  <a:srgbClr val="24634D"/>
                </a:solidFill>
                <a:latin typeface="Arial"/>
                <a:ea typeface="Arial"/>
                <a:cs typeface="Arial"/>
              </a:defRPr>
            </a:lvl8pPr>
            <a:lvl9pPr>
              <a:defRPr sz="3300" b="1">
                <a:solidFill>
                  <a:srgbClr val="24634D"/>
                </a:solidFill>
                <a:latin typeface="Arial"/>
                <a:ea typeface="Arial"/>
                <a:cs typeface="Arial"/>
              </a:defRPr>
            </a:lvl9pPr>
          </a:lstStyle>
          <a:p xmlns:a="http://schemas.openxmlformats.org/drawingml/2006/main">
            <a:pPr>
              <a:defRPr sz="3300" b="1">
                <a:solidFill>
                  <a:srgbClr val="24634D"/>
                </a:solidFill>
                <a:latin typeface="Arial"/>
                <a:ea typeface="Arial"/>
                <a:cs typeface="Arial"/>
              </a:defRPr>
            </a:pPr>
            <a:r>
              <a:rPr sz="3300" b="1">
                <a:solidFill>
                  <a:srgbClr val="24634D"/>
                </a:solidFill>
                <a:latin typeface="Arial"/>
                <a:ea typeface="Arial"/>
                <a:cs typeface="Arial"/>
              </a:rPr>
              <a:t>CNY0</a:t>
            </a:r>
          </a:p>
        </p:txBody>
      </p:sp>
      <p:sp>
        <p:nvSpPr>
          <p:cNvPr id="10" name="">
            <a:extLst xmlns:a="http://schemas.openxmlformats.org/drawingml/2006/main">
              <a:ext uri="{FF2B5EF4-FFF2-40B4-BE49-F238E27FC236}">
                <a16:creationId xmlns:a16="http://schemas.microsoft.com/office/drawing/2014/main" id="{DED9D8CC-8015-4A79-A49C-94F973A87E8D}"/>
              </a:ext>
            </a:extLst>
          </p:cNvPr>
          <p:cNvSpPr>
            <a:spLocks xmlns:a="http://schemas.openxmlformats.org/drawingml/2006/main" noGrp="1"/>
          </p:cNvSpPr>
          <p:nvPr/>
        </p:nvSpPr>
        <p:spPr>
          <a:xfrm xmlns:a="http://schemas.openxmlformats.org/drawingml/2006/main">
            <a:off x="9296400" y="5495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Pilot fee revenue</a:t>
            </a:r>
          </a:p>
        </p:txBody>
      </p:sp>
      <p:sp>
        <p:nvSpPr>
          <p:cNvPr id="11" name="">
            <a:extLst xmlns:a="http://schemas.openxmlformats.org/drawingml/2006/main">
              <a:ext uri="{FF2B5EF4-FFF2-40B4-BE49-F238E27FC236}">
                <a16:creationId xmlns:a16="http://schemas.microsoft.com/office/drawing/2014/main" id="{94D9898C-4DF3-4CAF-9345-59E8E0DA1FD2}"/>
              </a:ext>
            </a:extLst>
          </p:cNvPr>
          <p:cNvSpPr>
            <a:spLocks xmlns:a="http://schemas.openxmlformats.org/drawingml/2006/main" noGrp="1"/>
          </p:cNvSpPr>
          <p:nvPr/>
        </p:nvSpPr>
        <p:spPr>
          <a:xfrm xmlns:a="http://schemas.openxmlformats.org/drawingml/2006/main">
            <a:off x="6467475" y="58674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C26D55"/>
                </a:solidFill>
                <a:latin typeface="Arial"/>
                <a:ea typeface="Arial"/>
                <a:cs typeface="Arial"/>
              </a:defRPr>
            </a:defPPr>
            <a:lvl1pPr>
              <a:defRPr sz="2550" b="1">
                <a:solidFill>
                  <a:srgbClr val="C26D55"/>
                </a:solidFill>
                <a:latin typeface="Arial"/>
                <a:ea typeface="Arial"/>
                <a:cs typeface="Arial"/>
              </a:defRPr>
            </a:lvl1pPr>
            <a:lvl2pPr>
              <a:defRPr sz="2550" b="1">
                <a:solidFill>
                  <a:srgbClr val="C26D55"/>
                </a:solidFill>
                <a:latin typeface="Arial"/>
                <a:ea typeface="Arial"/>
                <a:cs typeface="Arial"/>
              </a:defRPr>
            </a:lvl2pPr>
            <a:lvl3pPr>
              <a:defRPr sz="2550" b="1">
                <a:solidFill>
                  <a:srgbClr val="C26D55"/>
                </a:solidFill>
                <a:latin typeface="Arial"/>
                <a:ea typeface="Arial"/>
                <a:cs typeface="Arial"/>
              </a:defRPr>
            </a:lvl3pPr>
            <a:lvl4pPr>
              <a:defRPr sz="2550" b="1">
                <a:solidFill>
                  <a:srgbClr val="C26D55"/>
                </a:solidFill>
                <a:latin typeface="Arial"/>
                <a:ea typeface="Arial"/>
                <a:cs typeface="Arial"/>
              </a:defRPr>
            </a:lvl4pPr>
            <a:lvl5pPr>
              <a:defRPr sz="2550" b="1">
                <a:solidFill>
                  <a:srgbClr val="C26D55"/>
                </a:solidFill>
                <a:latin typeface="Arial"/>
                <a:ea typeface="Arial"/>
                <a:cs typeface="Arial"/>
              </a:defRPr>
            </a:lvl5pPr>
            <a:lvl6pPr>
              <a:defRPr sz="2550" b="1">
                <a:solidFill>
                  <a:srgbClr val="C26D55"/>
                </a:solidFill>
                <a:latin typeface="Arial"/>
                <a:ea typeface="Arial"/>
                <a:cs typeface="Arial"/>
              </a:defRPr>
            </a:lvl6pPr>
            <a:lvl7pPr>
              <a:defRPr sz="2550" b="1">
                <a:solidFill>
                  <a:srgbClr val="C26D55"/>
                </a:solidFill>
                <a:latin typeface="Arial"/>
                <a:ea typeface="Arial"/>
                <a:cs typeface="Arial"/>
              </a:defRPr>
            </a:lvl7pPr>
            <a:lvl8pPr>
              <a:defRPr sz="2550" b="1">
                <a:solidFill>
                  <a:srgbClr val="C26D55"/>
                </a:solidFill>
                <a:latin typeface="Arial"/>
                <a:ea typeface="Arial"/>
                <a:cs typeface="Arial"/>
              </a:defRPr>
            </a:lvl8pPr>
            <a:lvl9pPr>
              <a:defRPr sz="2550" b="1">
                <a:solidFill>
                  <a:srgbClr val="C26D55"/>
                </a:solidFill>
                <a:latin typeface="Arial"/>
                <a:ea typeface="Arial"/>
                <a:cs typeface="Arial"/>
              </a:defRPr>
            </a:lvl9pPr>
          </a:lstStyle>
          <a:p xmlns:a="http://schemas.openxmlformats.org/drawingml/2006/main">
            <a:pPr>
              <a:defRPr sz="2550" b="1">
                <a:solidFill>
                  <a:srgbClr val="C26D55"/>
                </a:solidFill>
                <a:latin typeface="Arial"/>
                <a:ea typeface="Arial"/>
                <a:cs typeface="Arial"/>
              </a:defRPr>
            </a:pPr>
            <a:r>
              <a:rPr sz="2550" b="1">
                <a:solidFill>
                  <a:srgbClr val="C26D55"/>
                </a:solidFill>
                <a:latin typeface="Arial"/>
                <a:ea typeface="Arial"/>
                <a:cs typeface="Arial"/>
              </a:rPr>
              <a:t>-CNY180</a:t>
            </a:r>
          </a:p>
        </p:txBody>
      </p:sp>
      <p:sp>
        <p:nvSpPr>
          <p:cNvPr id="12" name="">
            <a:extLst xmlns:a="http://schemas.openxmlformats.org/drawingml/2006/main">
              <a:ext uri="{FF2B5EF4-FFF2-40B4-BE49-F238E27FC236}">
                <a16:creationId xmlns:a16="http://schemas.microsoft.com/office/drawing/2014/main" id="{3B70E5E4-5933-4D5F-9B9B-CFD0C5806FB9}"/>
              </a:ext>
            </a:extLst>
          </p:cNvPr>
          <p:cNvSpPr>
            <a:spLocks xmlns:a="http://schemas.openxmlformats.org/drawingml/2006/main" noGrp="1"/>
          </p:cNvSpPr>
          <p:nvPr/>
        </p:nvSpPr>
        <p:spPr>
          <a:xfrm xmlns:a="http://schemas.openxmlformats.org/drawingml/2006/main">
            <a:off x="6467475" y="62960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Pilot cash result</a:t>
            </a:r>
          </a:p>
        </p:txBody>
      </p:sp>
      <p:sp>
        <p:nvSpPr>
          <p:cNvPr id="13" name="">
            <a:extLst xmlns:a="http://schemas.openxmlformats.org/drawingml/2006/main">
              <a:ext uri="{FF2B5EF4-FFF2-40B4-BE49-F238E27FC236}">
                <a16:creationId xmlns:a16="http://schemas.microsoft.com/office/drawing/2014/main" id="{A8D19CF4-7FEB-4D67-AFBA-4A497489B121}"/>
              </a:ext>
            </a:extLst>
          </p:cNvPr>
          <p:cNvSpPr>
            <a:spLocks xmlns:a="http://schemas.openxmlformats.org/drawingml/2006/main" noGrp="1"/>
          </p:cNvSpPr>
          <p:nvPr/>
        </p:nvSpPr>
        <p:spPr>
          <a:xfrm xmlns:a="http://schemas.openxmlformats.org/drawingml/2006/main">
            <a:off x="9296400" y="58674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172B24"/>
                </a:solidFill>
                <a:latin typeface="Arial"/>
                <a:ea typeface="Arial"/>
                <a:cs typeface="Arial"/>
              </a:defRPr>
            </a:defPPr>
            <a:lvl1pPr>
              <a:defRPr sz="2550" b="1">
                <a:solidFill>
                  <a:srgbClr val="172B24"/>
                </a:solidFill>
                <a:latin typeface="Arial"/>
                <a:ea typeface="Arial"/>
                <a:cs typeface="Arial"/>
              </a:defRPr>
            </a:lvl1pPr>
            <a:lvl2pPr>
              <a:defRPr sz="2550" b="1">
                <a:solidFill>
                  <a:srgbClr val="172B24"/>
                </a:solidFill>
                <a:latin typeface="Arial"/>
                <a:ea typeface="Arial"/>
                <a:cs typeface="Arial"/>
              </a:defRPr>
            </a:lvl2pPr>
            <a:lvl3pPr>
              <a:defRPr sz="2550" b="1">
                <a:solidFill>
                  <a:srgbClr val="172B24"/>
                </a:solidFill>
                <a:latin typeface="Arial"/>
                <a:ea typeface="Arial"/>
                <a:cs typeface="Arial"/>
              </a:defRPr>
            </a:lvl3pPr>
            <a:lvl4pPr>
              <a:defRPr sz="2550" b="1">
                <a:solidFill>
                  <a:srgbClr val="172B24"/>
                </a:solidFill>
                <a:latin typeface="Arial"/>
                <a:ea typeface="Arial"/>
                <a:cs typeface="Arial"/>
              </a:defRPr>
            </a:lvl4pPr>
            <a:lvl5pPr>
              <a:defRPr sz="2550" b="1">
                <a:solidFill>
                  <a:srgbClr val="172B24"/>
                </a:solidFill>
                <a:latin typeface="Arial"/>
                <a:ea typeface="Arial"/>
                <a:cs typeface="Arial"/>
              </a:defRPr>
            </a:lvl5pPr>
            <a:lvl6pPr>
              <a:defRPr sz="2550" b="1">
                <a:solidFill>
                  <a:srgbClr val="172B24"/>
                </a:solidFill>
                <a:latin typeface="Arial"/>
                <a:ea typeface="Arial"/>
                <a:cs typeface="Arial"/>
              </a:defRPr>
            </a:lvl6pPr>
            <a:lvl7pPr>
              <a:defRPr sz="2550" b="1">
                <a:solidFill>
                  <a:srgbClr val="172B24"/>
                </a:solidFill>
                <a:latin typeface="Arial"/>
                <a:ea typeface="Arial"/>
                <a:cs typeface="Arial"/>
              </a:defRPr>
            </a:lvl7pPr>
            <a:lvl8pPr>
              <a:defRPr sz="2550" b="1">
                <a:solidFill>
                  <a:srgbClr val="172B24"/>
                </a:solidFill>
                <a:latin typeface="Arial"/>
                <a:ea typeface="Arial"/>
                <a:cs typeface="Arial"/>
              </a:defRPr>
            </a:lvl8pPr>
            <a:lvl9pPr>
              <a:defRPr sz="2550" b="1">
                <a:solidFill>
                  <a:srgbClr val="172B24"/>
                </a:solidFill>
                <a:latin typeface="Arial"/>
                <a:ea typeface="Arial"/>
                <a:cs typeface="Arial"/>
              </a:defRPr>
            </a:lvl9pPr>
          </a:lstStyle>
          <a:p xmlns:a="http://schemas.openxmlformats.org/drawingml/2006/main">
            <a:pPr>
              <a:defRPr sz="2550" b="1">
                <a:solidFill>
                  <a:srgbClr val="172B24"/>
                </a:solidFill>
                <a:latin typeface="Arial"/>
                <a:ea typeface="Arial"/>
                <a:cs typeface="Arial"/>
              </a:defRPr>
            </a:pPr>
            <a:r>
              <a:rPr sz="2550" b="1">
                <a:solidFill>
                  <a:srgbClr val="172B24"/>
                </a:solidFill>
                <a:latin typeface="Arial"/>
                <a:ea typeface="Arial"/>
                <a:cs typeface="Arial"/>
              </a:rPr>
              <a:t>CNY1</a:t>
            </a:r>
          </a:p>
        </p:txBody>
      </p:sp>
      <p:sp>
        <p:nvSpPr>
          <p:cNvPr id="14" name="">
            <a:extLst xmlns:a="http://schemas.openxmlformats.org/drawingml/2006/main">
              <a:ext uri="{FF2B5EF4-FFF2-40B4-BE49-F238E27FC236}">
                <a16:creationId xmlns:a16="http://schemas.microsoft.com/office/drawing/2014/main" id="{8C09B982-1C24-4D3B-9EC7-36F6D1F58A85}"/>
              </a:ext>
            </a:extLst>
          </p:cNvPr>
          <p:cNvSpPr>
            <a:spLocks xmlns:a="http://schemas.openxmlformats.org/drawingml/2006/main" noGrp="1"/>
          </p:cNvSpPr>
          <p:nvPr/>
        </p:nvSpPr>
        <p:spPr>
          <a:xfrm xmlns:a="http://schemas.openxmlformats.org/drawingml/2006/main">
            <a:off x="9296400" y="62960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Later 5% fee, before costs</a:t>
            </a:r>
          </a:p>
        </p:txBody>
      </p:sp>
    </p:spTree>
    <p:extLst>
      <p:ext uri="{BB962C8B-B14F-4D97-AF65-F5344CB8AC3E}">
        <p14:creationId xmlns:p14="http://schemas.microsoft.com/office/powerpoint/2010/main" val="1783469017"/>
      </p:ext>
    </p:extLst>
  </p:cSld>
</p:sld>
</file>

<file path=ppt/slides/slide6.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BC3208-7132-4866-BA8D-9C2194D93F9D}"/>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3DFFC241-3250-472A-975E-5240EDF8F11C}"/>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Team</a:t>
            </a:r>
          </a:p>
        </p:txBody>
      </p:sp>
      <p:sp>
        <p:nvSpPr>
          <p:cNvPr id="3" name="">
            <a:extLst xmlns:a="http://schemas.openxmlformats.org/drawingml/2006/main">
              <a:ext uri="{FF2B5EF4-FFF2-40B4-BE49-F238E27FC236}">
                <a16:creationId xmlns:a16="http://schemas.microsoft.com/office/drawing/2014/main" id="{50C0D8BC-3D7F-498D-BBED-E287BAC83185}"/>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6 / 12</a:t>
            </a:r>
          </a:p>
        </p:txBody>
      </p:sp>
      <p:sp>
        <p:nvSpPr>
          <p:cNvPr id="4" name="">
            <a:extLst xmlns:a="http://schemas.openxmlformats.org/drawingml/2006/main">
              <a:ext uri="{FF2B5EF4-FFF2-40B4-BE49-F238E27FC236}">
                <a16:creationId xmlns:a16="http://schemas.microsoft.com/office/drawing/2014/main" id="{E16C0420-53A8-4E71-A864-0B0FE8A0D623}"/>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BDCEC5"/>
                </a:solidFill>
                <a:latin typeface="Arial"/>
                <a:ea typeface="Arial"/>
                <a:cs typeface="Arial"/>
              </a:defRPr>
            </a:defPPr>
            <a:lvl1pPr>
              <a:defRPr sz="900" b="0">
                <a:solidFill>
                  <a:srgbClr val="BDCEC5"/>
                </a:solidFill>
                <a:latin typeface="Arial"/>
                <a:ea typeface="Arial"/>
                <a:cs typeface="Arial"/>
              </a:defRPr>
            </a:lvl1pPr>
            <a:lvl2pPr>
              <a:defRPr sz="900" b="0">
                <a:solidFill>
                  <a:srgbClr val="BDCEC5"/>
                </a:solidFill>
                <a:latin typeface="Arial"/>
                <a:ea typeface="Arial"/>
                <a:cs typeface="Arial"/>
              </a:defRPr>
            </a:lvl2pPr>
            <a:lvl3pPr>
              <a:defRPr sz="900" b="0">
                <a:solidFill>
                  <a:srgbClr val="BDCEC5"/>
                </a:solidFill>
                <a:latin typeface="Arial"/>
                <a:ea typeface="Arial"/>
                <a:cs typeface="Arial"/>
              </a:defRPr>
            </a:lvl3pPr>
            <a:lvl4pPr>
              <a:defRPr sz="900" b="0">
                <a:solidFill>
                  <a:srgbClr val="BDCEC5"/>
                </a:solidFill>
                <a:latin typeface="Arial"/>
                <a:ea typeface="Arial"/>
                <a:cs typeface="Arial"/>
              </a:defRPr>
            </a:lvl4pPr>
            <a:lvl5pPr>
              <a:defRPr sz="900" b="0">
                <a:solidFill>
                  <a:srgbClr val="BDCEC5"/>
                </a:solidFill>
                <a:latin typeface="Arial"/>
                <a:ea typeface="Arial"/>
                <a:cs typeface="Arial"/>
              </a:defRPr>
            </a:lvl5pPr>
            <a:lvl6pPr>
              <a:defRPr sz="900" b="0">
                <a:solidFill>
                  <a:srgbClr val="BDCEC5"/>
                </a:solidFill>
                <a:latin typeface="Arial"/>
                <a:ea typeface="Arial"/>
                <a:cs typeface="Arial"/>
              </a:defRPr>
            </a:lvl6pPr>
            <a:lvl7pPr>
              <a:defRPr sz="900" b="0">
                <a:solidFill>
                  <a:srgbClr val="BDCEC5"/>
                </a:solidFill>
                <a:latin typeface="Arial"/>
                <a:ea typeface="Arial"/>
                <a:cs typeface="Arial"/>
              </a:defRPr>
            </a:lvl7pPr>
            <a:lvl8pPr>
              <a:defRPr sz="900" b="0">
                <a:solidFill>
                  <a:srgbClr val="BDCEC5"/>
                </a:solidFill>
                <a:latin typeface="Arial"/>
                <a:ea typeface="Arial"/>
                <a:cs typeface="Arial"/>
              </a:defRPr>
            </a:lvl8pPr>
            <a:lvl9pPr>
              <a:defRPr sz="900" b="0">
                <a:solidFill>
                  <a:srgbClr val="BDCEC5"/>
                </a:solidFill>
                <a:latin typeface="Arial"/>
                <a:ea typeface="Arial"/>
                <a:cs typeface="Arial"/>
              </a:defRPr>
            </a:lvl9pPr>
          </a:lstStyle>
          <a:p xmlns:a="http://schemas.openxmlformats.org/drawingml/2006/main">
            <a:pPr>
              <a:defRPr sz="900" b="0">
                <a:solidFill>
                  <a:srgbClr val="BDCEC5"/>
                </a:solidFill>
                <a:latin typeface="Arial"/>
                <a:ea typeface="Arial"/>
                <a:cs typeface="Arial"/>
              </a:defRPr>
            </a:pPr>
            <a:r>
              <a:rPr sz="900" b="0">
                <a:solidFill>
                  <a:srgbClr val="BDCEC5"/>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28248145-7409-4277-A640-23CCA9448114}"/>
              </a:ext>
            </a:extLst>
          </p:cNvPr>
          <p:cNvGraphicFramePr/>
          <p:nvPr/>
        </p:nvGraphicFramePr>
        <p:xfrm>
          <a:off xmlns:a="http://schemas.openxmlformats.org/drawingml/2006/main" x="609600" y="1790700"/>
          <a:ext xmlns:a="http://schemas.openxmlformats.org/drawingml/2006/main" cx="10972800" cy="3124200"/>
        </p:xfrm>
        <a:graphic xmlns:a="http://schemas.openxmlformats.org/drawingml/2006/main">
          <a:graphicData uri="http://schemas.openxmlformats.org/drawingml/2006/table">
            <a:tbl>
              <a:tblPr/>
              <a:tblGrid>
                <a:gridCol w="2400300"/>
                <a:gridCol w="4143375"/>
                <a:gridCol w="4429125"/>
              </a:tblGrid>
              <a:tr h="390525">
                <a:tc>
                  <a:txBody>
                    <a:bodyPr>
                      <a:noAutofit/>
                    </a:bodyPr>
                    <a:lstStyle/>
                    <a:p>
                      <a:r>
                        <a:rPr sz="1500" b="1">
                          <a:solidFill>
                            <a:srgbClr val="FFFFFF"/>
                          </a:solidFill>
                          <a:latin typeface="Arial"/>
                          <a:ea typeface="Arial"/>
                          <a:cs typeface="Arial"/>
                        </a:rPr>
                        <a:t>Member</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500" b="1">
                          <a:solidFill>
                            <a:srgbClr val="FFFFFF"/>
                          </a:solidFill>
                          <a:latin typeface="Arial"/>
                          <a:ea typeface="Arial"/>
                          <a:cs typeface="Arial"/>
                        </a:rPr>
                        <a:t>Responsibility / capability area</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500" b="1">
                          <a:solidFill>
                            <a:srgbClr val="FFFFFF"/>
                          </a:solidFill>
                          <a:latin typeface="Arial"/>
                          <a:ea typeface="Arial"/>
                          <a:cs typeface="Arial"/>
                        </a:rPr>
                        <a:t>Assigned output</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r>
              <a:tr h="390525">
                <a:tc>
                  <a:txBody>
                    <a:bodyPr>
                      <a:noAutofit/>
                    </a:bodyPr>
                    <a:lstStyle/>
                    <a:p>
                      <a:r>
                        <a:rPr sz="1725" b="1">
                          <a:solidFill>
                            <a:srgbClr val="FFFFFF"/>
                          </a:solidFill>
                          <a:latin typeface="PingFang SC"/>
                          <a:ea typeface="PingFang SC"/>
                          <a:cs typeface="PingFang SC"/>
                        </a:rPr>
                        <a:t>郭宇璇 (Rita)</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Software delivery and coordination</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Code, acceptance scope, release approval</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汪睿</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Analysis and presentation</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BMC, financial model and pitch narrative</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毛相宜</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Interviews and requirements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Consented records and traceable insights</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黄俊杰</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Recruitment and personas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Sampling rationale, persona and access</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李元龙</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User testing and statistics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Task outcomes, denominators and checks</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黄禹轩</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Data handling and weekly submission</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Evidence register, files and receipts</a:t>
                      </a:r>
                    </a:p>
                  </a:txBody>
                  <a:tcPr marL="91440" marR="91440" marT="45720" marB="45720">
                    <a:lnR w="9525">
                      <a:solidFill>
                        <a:srgbClr val="416250"/>
                      </a:solidFill>
                      <a:prstDash val="solid"/>
                    </a:lnR>
                    <a:lnB w="9525">
                      <a:solidFill>
                        <a:srgbClr val="416250"/>
                      </a:solidFill>
                      <a:prstDash val="solid"/>
                    </a:lnB>
                    <a:solidFill>
                      <a:srgbClr val="11221C"/>
                    </a:solidFill>
                  </a:tcPr>
                </a:tc>
              </a:tr>
              <a:tr h="390525">
                <a:tc>
                  <a:txBody>
                    <a:bodyPr>
                      <a:noAutofit/>
                    </a:bodyPr>
                    <a:lstStyle/>
                    <a:p>
                      <a:r>
                        <a:rPr sz="1725" b="1">
                          <a:solidFill>
                            <a:srgbClr val="FFFFFF"/>
                          </a:solidFill>
                          <a:latin typeface="PingFang SC"/>
                          <a:ea typeface="PingFang SC"/>
                          <a:cs typeface="PingFang SC"/>
                        </a:rPr>
                        <a:t>汤鋆秋</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Iteration and retesting</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500" b="0">
                          <a:solidFill>
                            <a:srgbClr val="FFFFFF"/>
                          </a:solidFill>
                          <a:latin typeface="Arial"/>
                          <a:ea typeface="Arial"/>
                          <a:cs typeface="Arial"/>
                        </a:rPr>
                        <a:t>Decision log, prioritisation and retests</a:t>
                      </a:r>
                    </a:p>
                  </a:txBody>
                  <a:tcPr marL="91440" marR="91440" marT="45720" marB="45720">
                    <a:lnR w="9525">
                      <a:solidFill>
                        <a:srgbClr val="416250"/>
                      </a:solidFill>
                      <a:prstDash val="solid"/>
                    </a:lnR>
                    <a:lnB w="9525">
                      <a:solidFill>
                        <a:srgbClr val="416250"/>
                      </a:solidFill>
                      <a:prstDash val="solid"/>
                    </a:lnB>
                    <a:solidFill>
                      <a:srgbClr val="11221C"/>
                    </a:solidFill>
                  </a:tcPr>
                </a:tc>
              </a:tr>
            </a:tbl>
          </a:graphicData>
        </a:graphic>
      </p:graphicFrame>
      <p:sp>
        <p:nvSpPr>
          <p:cNvPr id="6" name="">
            <a:extLst xmlns:a="http://schemas.openxmlformats.org/drawingml/2006/main">
              <a:ext uri="{FF2B5EF4-FFF2-40B4-BE49-F238E27FC236}">
                <a16:creationId xmlns:a16="http://schemas.microsoft.com/office/drawing/2014/main" id="{76BA6AC2-9BD9-4AC0-95CE-B012F2611C56}"/>
              </a:ext>
            </a:extLst>
          </p:cNvPr>
          <p:cNvSpPr>
            <a:spLocks xmlns:a="http://schemas.openxmlformats.org/drawingml/2006/main" noGrp="1"/>
          </p:cNvSpPr>
          <p:nvPr/>
        </p:nvSpPr>
        <p:spPr>
          <a:xfrm xmlns:a="http://schemas.openxmlformats.org/drawingml/2006/main">
            <a:off x="609600" y="52387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W6 / 19–25 OCT</a:t>
            </a:r>
          </a:p>
        </p:txBody>
      </p:sp>
      <p:sp>
        <p:nvSpPr>
          <p:cNvPr id="7" name="">
            <a:extLst xmlns:a="http://schemas.openxmlformats.org/drawingml/2006/main">
              <a:ext uri="{FF2B5EF4-FFF2-40B4-BE49-F238E27FC236}">
                <a16:creationId xmlns:a16="http://schemas.microsoft.com/office/drawing/2014/main" id="{F3F32001-1C10-4661-A1A4-028A8A19E5D9}"/>
              </a:ext>
            </a:extLst>
          </p:cNvPr>
          <p:cNvSpPr>
            <a:spLocks xmlns:a="http://schemas.openxmlformats.org/drawingml/2006/main" noGrp="1"/>
          </p:cNvSpPr>
          <p:nvPr/>
        </p:nvSpPr>
        <p:spPr>
          <a:xfrm xmlns:a="http://schemas.openxmlformats.org/drawingml/2006/main">
            <a:off x="609600" y="56673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Three insights, persona and journey.</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Link raw records and consent.</a:t>
            </a:r>
          </a:p>
        </p:txBody>
      </p:sp>
      <p:sp>
        <p:nvSpPr>
          <p:cNvPr id="8" name="">
            <a:extLst xmlns:a="http://schemas.openxmlformats.org/drawingml/2006/main">
              <a:ext uri="{FF2B5EF4-FFF2-40B4-BE49-F238E27FC236}">
                <a16:creationId xmlns:a16="http://schemas.microsoft.com/office/drawing/2014/main" id="{B4E0D0A4-A0EC-4CAF-8968-7C5E994C4072}"/>
              </a:ext>
            </a:extLst>
          </p:cNvPr>
          <p:cNvSpPr>
            <a:spLocks xmlns:a="http://schemas.openxmlformats.org/drawingml/2006/main" noGrp="1"/>
          </p:cNvSpPr>
          <p:nvPr/>
        </p:nvSpPr>
        <p:spPr>
          <a:xfrm xmlns:a="http://schemas.openxmlformats.org/drawingml/2006/main">
            <a:off x="4362450" y="52387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W7 / 26 OCT–1 NOV</a:t>
            </a:r>
          </a:p>
        </p:txBody>
      </p:sp>
      <p:sp>
        <p:nvSpPr>
          <p:cNvPr id="9" name="">
            <a:extLst xmlns:a="http://schemas.openxmlformats.org/drawingml/2006/main">
              <a:ext uri="{FF2B5EF4-FFF2-40B4-BE49-F238E27FC236}">
                <a16:creationId xmlns:a16="http://schemas.microsoft.com/office/drawing/2014/main" id="{A259850B-2F37-40F1-B812-F9D2CA4C99AD}"/>
              </a:ext>
            </a:extLst>
          </p:cNvPr>
          <p:cNvSpPr>
            <a:spLocks xmlns:a="http://schemas.openxmlformats.org/drawingml/2006/main" noGrp="1"/>
          </p:cNvSpPr>
          <p:nvPr/>
        </p:nvSpPr>
        <p:spPr>
          <a:xfrm xmlns:a="http://schemas.openxmlformats.org/drawingml/2006/main">
            <a:off x="4362450" y="56673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Review concepts and member skills.</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Confirm the six-slide argument.</a:t>
            </a:r>
          </a:p>
        </p:txBody>
      </p:sp>
      <p:sp>
        <p:nvSpPr>
          <p:cNvPr id="10" name="">
            <a:extLst xmlns:a="http://schemas.openxmlformats.org/drawingml/2006/main">
              <a:ext uri="{FF2B5EF4-FFF2-40B4-BE49-F238E27FC236}">
                <a16:creationId xmlns:a16="http://schemas.microsoft.com/office/drawing/2014/main" id="{28B64DBC-CF04-47E7-BC2B-02DF882ABDB8}"/>
              </a:ext>
            </a:extLst>
          </p:cNvPr>
          <p:cNvSpPr>
            <a:spLocks xmlns:a="http://schemas.openxmlformats.org/drawingml/2006/main" noGrp="1"/>
          </p:cNvSpPr>
          <p:nvPr/>
        </p:nvSpPr>
        <p:spPr>
          <a:xfrm xmlns:a="http://schemas.openxmlformats.org/drawingml/2006/main">
            <a:off x="8115300" y="52387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W8 / 2–6 NOV</a:t>
            </a:r>
          </a:p>
        </p:txBody>
      </p:sp>
      <p:sp>
        <p:nvSpPr>
          <p:cNvPr id="11" name="">
            <a:extLst xmlns:a="http://schemas.openxmlformats.org/drawingml/2006/main">
              <a:ext uri="{FF2B5EF4-FFF2-40B4-BE49-F238E27FC236}">
                <a16:creationId xmlns:a16="http://schemas.microsoft.com/office/drawing/2014/main" id="{7DCD883F-7642-4D02-BF10-7633CFB44D84}"/>
              </a:ext>
            </a:extLst>
          </p:cNvPr>
          <p:cNvSpPr>
            <a:spLocks xmlns:a="http://schemas.openxmlformats.org/drawingml/2006/main" noGrp="1"/>
          </p:cNvSpPr>
          <p:nvPr/>
        </p:nvSpPr>
        <p:spPr>
          <a:xfrm xmlns:a="http://schemas.openxmlformats.org/drawingml/2006/main">
            <a:off x="8115300" y="56673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Check BMC and AI declaration.</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Submit A1 through both routes.</a:t>
            </a:r>
          </a:p>
        </p:txBody>
      </p:sp>
      <p:sp>
        <p:nvSpPr>
          <p:cNvPr id="12" name="">
            <a:extLst xmlns:a="http://schemas.openxmlformats.org/drawingml/2006/main">
              <a:ext uri="{FF2B5EF4-FFF2-40B4-BE49-F238E27FC236}">
                <a16:creationId xmlns:a16="http://schemas.microsoft.com/office/drawing/2014/main" id="{7FA4D1C3-510F-4B2F-ACC7-F2C87CD4578C}"/>
              </a:ext>
            </a:extLst>
          </p:cNvPr>
          <p:cNvSpPr>
            <a:spLocks xmlns:a="http://schemas.openxmlformats.org/drawingml/2006/main" noGrp="1"/>
          </p:cNvSpPr>
          <p:nvPr/>
        </p:nvSpPr>
        <p:spPr>
          <a:xfrm xmlns:a="http://schemas.openxmlformats.org/drawingml/2006/main">
            <a:off x="609600" y="6419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BDCEC5"/>
                </a:solidFill>
                <a:latin typeface="Arial"/>
                <a:ea typeface="Arial"/>
                <a:cs typeface="Arial"/>
              </a:defRPr>
            </a:defPPr>
            <a:lvl1pPr>
              <a:defRPr sz="1125" b="0">
                <a:solidFill>
                  <a:srgbClr val="BDCEC5"/>
                </a:solidFill>
                <a:latin typeface="Arial"/>
                <a:ea typeface="Arial"/>
                <a:cs typeface="Arial"/>
              </a:defRPr>
            </a:lvl1pPr>
            <a:lvl2pPr>
              <a:defRPr sz="1125" b="0">
                <a:solidFill>
                  <a:srgbClr val="BDCEC5"/>
                </a:solidFill>
                <a:latin typeface="Arial"/>
                <a:ea typeface="Arial"/>
                <a:cs typeface="Arial"/>
              </a:defRPr>
            </a:lvl2pPr>
            <a:lvl3pPr>
              <a:defRPr sz="1125" b="0">
                <a:solidFill>
                  <a:srgbClr val="BDCEC5"/>
                </a:solidFill>
                <a:latin typeface="Arial"/>
                <a:ea typeface="Arial"/>
                <a:cs typeface="Arial"/>
              </a:defRPr>
            </a:lvl3pPr>
            <a:lvl4pPr>
              <a:defRPr sz="1125" b="0">
                <a:solidFill>
                  <a:srgbClr val="BDCEC5"/>
                </a:solidFill>
                <a:latin typeface="Arial"/>
                <a:ea typeface="Arial"/>
                <a:cs typeface="Arial"/>
              </a:defRPr>
            </a:lvl4pPr>
            <a:lvl5pPr>
              <a:defRPr sz="1125" b="0">
                <a:solidFill>
                  <a:srgbClr val="BDCEC5"/>
                </a:solidFill>
                <a:latin typeface="Arial"/>
                <a:ea typeface="Arial"/>
                <a:cs typeface="Arial"/>
              </a:defRPr>
            </a:lvl5pPr>
            <a:lvl6pPr>
              <a:defRPr sz="1125" b="0">
                <a:solidFill>
                  <a:srgbClr val="BDCEC5"/>
                </a:solidFill>
                <a:latin typeface="Arial"/>
                <a:ea typeface="Arial"/>
                <a:cs typeface="Arial"/>
              </a:defRPr>
            </a:lvl6pPr>
            <a:lvl7pPr>
              <a:defRPr sz="1125" b="0">
                <a:solidFill>
                  <a:srgbClr val="BDCEC5"/>
                </a:solidFill>
                <a:latin typeface="Arial"/>
                <a:ea typeface="Arial"/>
                <a:cs typeface="Arial"/>
              </a:defRPr>
            </a:lvl7pPr>
            <a:lvl8pPr>
              <a:defRPr sz="1125" b="0">
                <a:solidFill>
                  <a:srgbClr val="BDCEC5"/>
                </a:solidFill>
                <a:latin typeface="Arial"/>
                <a:ea typeface="Arial"/>
                <a:cs typeface="Arial"/>
              </a:defRPr>
            </a:lvl8pPr>
            <a:lvl9pPr>
              <a:defRPr sz="1125" b="0">
                <a:solidFill>
                  <a:srgbClr val="BDCEC5"/>
                </a:solidFill>
                <a:latin typeface="Arial"/>
                <a:ea typeface="Arial"/>
                <a:cs typeface="Arial"/>
              </a:defRPr>
            </a:lvl9pPr>
          </a:lstStyle>
          <a:p xmlns:a="http://schemas.openxmlformats.org/drawingml/2006/main">
            <a:pPr>
              <a:defRPr sz="1125" b="0">
                <a:solidFill>
                  <a:srgbClr val="BDCEC5"/>
                </a:solidFill>
                <a:latin typeface="Arial"/>
                <a:ea typeface="Arial"/>
                <a:cs typeface="Arial"/>
              </a:defRPr>
            </a:pPr>
            <a:r>
              <a:rPr sz="1125" b="0">
                <a:solidFill>
                  <a:srgbClr val="BDCEC5"/>
                </a:solidFill>
                <a:latin typeface="Arial"/>
                <a:ea typeface="Arial"/>
                <a:cs typeface="Arial"/>
              </a:rPr>
              <a:t>Capability areas follow agreed roles, not verified credentials. Member backgrounds and contribution evidence need confirmation.</a:t>
            </a:r>
          </a:p>
        </p:txBody>
      </p:sp>
    </p:spTree>
    <p:extLst>
      <p:ext uri="{BB962C8B-B14F-4D97-AF65-F5344CB8AC3E}">
        <p14:creationId xmlns:p14="http://schemas.microsoft.com/office/powerpoint/2010/main" val="4716833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7B44AE-E02D-4C81-A3C9-FFAC71CBAA18}"/>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96516BE7-7BC9-4F0A-98B9-9545A38D3BFD}"/>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172B24"/>
                </a:solidFill>
                <a:latin typeface="Arial"/>
                <a:ea typeface="Arial"/>
                <a:cs typeface="Arial"/>
              </a:defRPr>
            </a:defPPr>
            <a:lvl1pPr>
              <a:defRPr sz="3600" b="1">
                <a:solidFill>
                  <a:srgbClr val="172B24"/>
                </a:solidFill>
                <a:latin typeface="Arial"/>
                <a:ea typeface="Arial"/>
                <a:cs typeface="Arial"/>
              </a:defRPr>
            </a:lvl1pPr>
            <a:lvl2pPr>
              <a:defRPr sz="3600" b="1">
                <a:solidFill>
                  <a:srgbClr val="172B24"/>
                </a:solidFill>
                <a:latin typeface="Arial"/>
                <a:ea typeface="Arial"/>
                <a:cs typeface="Arial"/>
              </a:defRPr>
            </a:lvl2pPr>
            <a:lvl3pPr>
              <a:defRPr sz="3600" b="1">
                <a:solidFill>
                  <a:srgbClr val="172B24"/>
                </a:solidFill>
                <a:latin typeface="Arial"/>
                <a:ea typeface="Arial"/>
                <a:cs typeface="Arial"/>
              </a:defRPr>
            </a:lvl3pPr>
            <a:lvl4pPr>
              <a:defRPr sz="3600" b="1">
                <a:solidFill>
                  <a:srgbClr val="172B24"/>
                </a:solidFill>
                <a:latin typeface="Arial"/>
                <a:ea typeface="Arial"/>
                <a:cs typeface="Arial"/>
              </a:defRPr>
            </a:lvl4pPr>
            <a:lvl5pPr>
              <a:defRPr sz="3600" b="1">
                <a:solidFill>
                  <a:srgbClr val="172B24"/>
                </a:solidFill>
                <a:latin typeface="Arial"/>
                <a:ea typeface="Arial"/>
                <a:cs typeface="Arial"/>
              </a:defRPr>
            </a:lvl5pPr>
            <a:lvl6pPr>
              <a:defRPr sz="3600" b="1">
                <a:solidFill>
                  <a:srgbClr val="172B24"/>
                </a:solidFill>
                <a:latin typeface="Arial"/>
                <a:ea typeface="Arial"/>
                <a:cs typeface="Arial"/>
              </a:defRPr>
            </a:lvl6pPr>
            <a:lvl7pPr>
              <a:defRPr sz="3600" b="1">
                <a:solidFill>
                  <a:srgbClr val="172B24"/>
                </a:solidFill>
                <a:latin typeface="Arial"/>
                <a:ea typeface="Arial"/>
                <a:cs typeface="Arial"/>
              </a:defRPr>
            </a:lvl7pPr>
            <a:lvl8pPr>
              <a:defRPr sz="3600" b="1">
                <a:solidFill>
                  <a:srgbClr val="172B24"/>
                </a:solidFill>
                <a:latin typeface="Arial"/>
                <a:ea typeface="Arial"/>
                <a:cs typeface="Arial"/>
              </a:defRPr>
            </a:lvl8pPr>
            <a:lvl9pPr>
              <a:defRPr sz="3600" b="1">
                <a:solidFill>
                  <a:srgbClr val="172B24"/>
                </a:solidFill>
                <a:latin typeface="Arial"/>
                <a:ea typeface="Arial"/>
                <a:cs typeface="Arial"/>
              </a:defRPr>
            </a:lvl9pPr>
          </a:lstStyle>
          <a:p xmlns:a="http://schemas.openxmlformats.org/drawingml/2006/main">
            <a:pPr>
              <a:defRPr sz="3600" b="1">
                <a:solidFill>
                  <a:srgbClr val="172B24"/>
                </a:solidFill>
                <a:latin typeface="Arial"/>
                <a:ea typeface="Arial"/>
                <a:cs typeface="Arial"/>
              </a:defRPr>
            </a:pPr>
            <a:r>
              <a:rPr sz="3600" b="1">
                <a:solidFill>
                  <a:srgbClr val="172B24"/>
                </a:solidFill>
                <a:latin typeface="Arial"/>
                <a:ea typeface="Arial"/>
                <a:cs typeface="Arial"/>
              </a:rPr>
              <a:t>Progress &amp; Roadmap</a:t>
            </a:r>
          </a:p>
        </p:txBody>
      </p:sp>
      <p:sp>
        <p:nvSpPr>
          <p:cNvPr id="3" name="">
            <a:extLst xmlns:a="http://schemas.openxmlformats.org/drawingml/2006/main">
              <a:ext uri="{FF2B5EF4-FFF2-40B4-BE49-F238E27FC236}">
                <a16:creationId xmlns:a16="http://schemas.microsoft.com/office/drawing/2014/main" id="{362145B1-B7A9-4BD5-8151-E1AD5CD3741F}"/>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7 / 12</a:t>
            </a:r>
          </a:p>
        </p:txBody>
      </p:sp>
      <p:sp>
        <p:nvSpPr>
          <p:cNvPr id="4" name="">
            <a:extLst xmlns:a="http://schemas.openxmlformats.org/drawingml/2006/main">
              <a:ext uri="{FF2B5EF4-FFF2-40B4-BE49-F238E27FC236}">
                <a16:creationId xmlns:a16="http://schemas.microsoft.com/office/drawing/2014/main" id="{0A88BC74-6DFA-4AFA-916E-8D95B508AB5A}"/>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5C6A63"/>
                </a:solidFill>
                <a:latin typeface="Arial"/>
                <a:ea typeface="Arial"/>
                <a:cs typeface="Arial"/>
              </a:defRPr>
            </a:defPPr>
            <a:lvl1pPr>
              <a:defRPr sz="900" b="0">
                <a:solidFill>
                  <a:srgbClr val="5C6A63"/>
                </a:solidFill>
                <a:latin typeface="Arial"/>
                <a:ea typeface="Arial"/>
                <a:cs typeface="Arial"/>
              </a:defRPr>
            </a:lvl1pPr>
            <a:lvl2pPr>
              <a:defRPr sz="900" b="0">
                <a:solidFill>
                  <a:srgbClr val="5C6A63"/>
                </a:solidFill>
                <a:latin typeface="Arial"/>
                <a:ea typeface="Arial"/>
                <a:cs typeface="Arial"/>
              </a:defRPr>
            </a:lvl2pPr>
            <a:lvl3pPr>
              <a:defRPr sz="900" b="0">
                <a:solidFill>
                  <a:srgbClr val="5C6A63"/>
                </a:solidFill>
                <a:latin typeface="Arial"/>
                <a:ea typeface="Arial"/>
                <a:cs typeface="Arial"/>
              </a:defRPr>
            </a:lvl3pPr>
            <a:lvl4pPr>
              <a:defRPr sz="900" b="0">
                <a:solidFill>
                  <a:srgbClr val="5C6A63"/>
                </a:solidFill>
                <a:latin typeface="Arial"/>
                <a:ea typeface="Arial"/>
                <a:cs typeface="Arial"/>
              </a:defRPr>
            </a:lvl4pPr>
            <a:lvl5pPr>
              <a:defRPr sz="900" b="0">
                <a:solidFill>
                  <a:srgbClr val="5C6A63"/>
                </a:solidFill>
                <a:latin typeface="Arial"/>
                <a:ea typeface="Arial"/>
                <a:cs typeface="Arial"/>
              </a:defRPr>
            </a:lvl5pPr>
            <a:lvl6pPr>
              <a:defRPr sz="900" b="0">
                <a:solidFill>
                  <a:srgbClr val="5C6A63"/>
                </a:solidFill>
                <a:latin typeface="Arial"/>
                <a:ea typeface="Arial"/>
                <a:cs typeface="Arial"/>
              </a:defRPr>
            </a:lvl6pPr>
            <a:lvl7pPr>
              <a:defRPr sz="900" b="0">
                <a:solidFill>
                  <a:srgbClr val="5C6A63"/>
                </a:solidFill>
                <a:latin typeface="Arial"/>
                <a:ea typeface="Arial"/>
                <a:cs typeface="Arial"/>
              </a:defRPr>
            </a:lvl7pPr>
            <a:lvl8pPr>
              <a:defRPr sz="900" b="0">
                <a:solidFill>
                  <a:srgbClr val="5C6A63"/>
                </a:solidFill>
                <a:latin typeface="Arial"/>
                <a:ea typeface="Arial"/>
                <a:cs typeface="Arial"/>
              </a:defRPr>
            </a:lvl8pPr>
            <a:lvl9pPr>
              <a:defRPr sz="900" b="0">
                <a:solidFill>
                  <a:srgbClr val="5C6A63"/>
                </a:solidFill>
                <a:latin typeface="Arial"/>
                <a:ea typeface="Arial"/>
                <a:cs typeface="Arial"/>
              </a:defRPr>
            </a:lvl9pPr>
          </a:lstStyle>
          <a:p xmlns:a="http://schemas.openxmlformats.org/drawingml/2006/main">
            <a:pPr>
              <a:defRPr sz="900" b="0">
                <a:solidFill>
                  <a:srgbClr val="5C6A63"/>
                </a:solidFill>
                <a:latin typeface="Arial"/>
                <a:ea typeface="Arial"/>
                <a:cs typeface="Arial"/>
              </a:defRPr>
            </a:pPr>
            <a:r>
              <a:rPr sz="900" b="0">
                <a:solidFill>
                  <a:srgbClr val="5C6A63"/>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0F466E3D-42CD-4499-914C-34CD7A012EEC}"/>
              </a:ext>
            </a:extLst>
          </p:cNvPr>
          <p:cNvGraphicFramePr/>
          <p:nvPr/>
        </p:nvGraphicFramePr>
        <p:xfrm>
          <a:off xmlns:a="http://schemas.openxmlformats.org/drawingml/2006/main" x="609600" y="1809750"/>
          <a:ext xmlns:a="http://schemas.openxmlformats.org/drawingml/2006/main" cx="10972800" cy="2628900"/>
        </p:xfrm>
        <a:graphic xmlns:a="http://schemas.openxmlformats.org/drawingml/2006/main">
          <a:graphicData uri="http://schemas.openxmlformats.org/drawingml/2006/table">
            <a:tbl>
              <a:tblPr/>
              <a:tblGrid>
                <a:gridCol w="3333750"/>
                <a:gridCol w="4095750"/>
                <a:gridCol w="3543300"/>
              </a:tblGrid>
              <a:tr h="523875">
                <a:tc>
                  <a:txBody>
                    <a:bodyPr>
                      <a:noAutofit/>
                    </a:bodyPr>
                    <a:lstStyle/>
                    <a:p>
                      <a:r>
                        <a:rPr sz="1650" b="1">
                          <a:solidFill>
                            <a:srgbClr val="FFFFFF"/>
                          </a:solidFill>
                          <a:latin typeface="Arial"/>
                          <a:ea typeface="Arial"/>
                          <a:cs typeface="Arial"/>
                        </a:rPr>
                        <a:t>Milestone</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650" b="1">
                          <a:solidFill>
                            <a:srgbClr val="FFFFFF"/>
                          </a:solidFill>
                          <a:latin typeface="Arial"/>
                          <a:ea typeface="Arial"/>
                          <a:cs typeface="Arial"/>
                        </a:rPr>
                        <a:t>Status as of 20 Oct 2026</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650" b="1">
                          <a:solidFill>
                            <a:srgbClr val="FFFFFF"/>
                          </a:solidFill>
                          <a:latin typeface="Arial"/>
                          <a:ea typeface="Arial"/>
                          <a:cs typeface="Arial"/>
                        </a:rPr>
                        <a:t>Next evidence</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r>
              <a:tr h="523875">
                <a:tc>
                  <a:txBody>
                    <a:bodyPr>
                      <a:noAutofit/>
                    </a:bodyPr>
                    <a:lstStyle/>
                    <a:p>
                      <a:r>
                        <a:rPr sz="1650" b="0">
                          <a:solidFill>
                            <a:srgbClr val="172B24"/>
                          </a:solidFill>
                          <a:latin typeface="Arial"/>
                          <a:ea typeface="Arial"/>
                          <a:cs typeface="Arial"/>
                        </a:rPr>
                        <a:t>Working request and booking flow</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Implemented, scoped engineering acceptance</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Real users completing their own tasks</a:t>
                      </a:r>
                    </a:p>
                  </a:txBody>
                  <a:tcPr marL="91440" marR="91440" marT="45720" marB="45720">
                    <a:lnR w="9525">
                      <a:solidFill>
                        <a:srgbClr val="D5DFD8"/>
                      </a:solidFill>
                      <a:prstDash val="solid"/>
                    </a:lnR>
                    <a:lnB w="9525">
                      <a:solidFill>
                        <a:srgbClr val="D5DFD8"/>
                      </a:solidFill>
                      <a:prstDash val="solid"/>
                    </a:lnB>
                    <a:solidFill>
                      <a:srgbClr val="FFFFFF"/>
                    </a:solidFill>
                  </a:tcPr>
                </a:tc>
              </a:tr>
              <a:tr h="523875">
                <a:tc>
                  <a:txBody>
                    <a:bodyPr>
                      <a:noAutofit/>
                    </a:bodyPr>
                    <a:lstStyle/>
                    <a:p>
                      <a:r>
                        <a:rPr sz="1650" b="0">
                          <a:solidFill>
                            <a:srgbClr val="172B24"/>
                          </a:solidFill>
                          <a:latin typeface="Arial"/>
                          <a:ea typeface="Arial"/>
                          <a:cs typeface="Arial"/>
                        </a:rPr>
                        <a:t>Private timetable matching</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Reviewed imports and synthetic QA exercised</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Varied consented timetable formats</a:t>
                      </a:r>
                    </a:p>
                  </a:txBody>
                  <a:tcPr marL="91440" marR="91440" marT="45720" marB="45720">
                    <a:lnR w="9525">
                      <a:solidFill>
                        <a:srgbClr val="D5DFD8"/>
                      </a:solidFill>
                      <a:prstDash val="solid"/>
                    </a:lnR>
                    <a:lnB w="9525">
                      <a:solidFill>
                        <a:srgbClr val="D5DFD8"/>
                      </a:solidFill>
                      <a:prstDash val="solid"/>
                    </a:lnB>
                    <a:solidFill>
                      <a:srgbClr val="FFFFFF"/>
                    </a:solidFill>
                  </a:tcPr>
                </a:tc>
              </a:tr>
              <a:tr h="523875">
                <a:tc>
                  <a:txBody>
                    <a:bodyPr>
                      <a:noAutofit/>
                    </a:bodyPr>
                    <a:lstStyle/>
                    <a:p>
                      <a:r>
                        <a:rPr sz="1650" b="0">
                          <a:solidFill>
                            <a:srgbClr val="172B24"/>
                          </a:solidFill>
                          <a:latin typeface="Arial"/>
                          <a:ea typeface="Arial"/>
                          <a:cs typeface="Arial"/>
                        </a:rPr>
                        <a:t>Demand and reliable supply</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Qualitative summaries, no measured adoption</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Recruitment permission, willing owners</a:t>
                      </a:r>
                    </a:p>
                  </a:txBody>
                  <a:tcPr marL="91440" marR="91440" marT="45720" marB="45720">
                    <a:lnR w="9525">
                      <a:solidFill>
                        <a:srgbClr val="D5DFD8"/>
                      </a:solidFill>
                      <a:prstDash val="solid"/>
                    </a:lnR>
                    <a:lnB w="9525">
                      <a:solidFill>
                        <a:srgbClr val="D5DFD8"/>
                      </a:solidFill>
                      <a:prstDash val="solid"/>
                    </a:lnB>
                    <a:solidFill>
                      <a:srgbClr val="FFFFFF"/>
                    </a:solidFill>
                  </a:tcPr>
                </a:tc>
              </a:tr>
              <a:tr h="523875">
                <a:tc>
                  <a:txBody>
                    <a:bodyPr>
                      <a:noAutofit/>
                    </a:bodyPr>
                    <a:lstStyle/>
                    <a:p>
                      <a:r>
                        <a:rPr sz="1650" b="0">
                          <a:solidFill>
                            <a:srgbClr val="172B24"/>
                          </a:solidFill>
                          <a:latin typeface="Arial"/>
                          <a:ea typeface="Arial"/>
                          <a:cs typeface="Arial"/>
                        </a:rPr>
                        <a:t>Public operation</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Not accepted for a public launch</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650" b="0">
                          <a:solidFill>
                            <a:srgbClr val="172B24"/>
                          </a:solidFill>
                          <a:latin typeface="Arial"/>
                          <a:ea typeface="Arial"/>
                          <a:cs typeface="Arial"/>
                        </a:rPr>
                        <a:t>Live email, devices, recovery and moderator</a:t>
                      </a:r>
                    </a:p>
                  </a:txBody>
                  <a:tcPr marL="91440" marR="91440" marT="45720" marB="45720">
                    <a:lnR w="9525">
                      <a:solidFill>
                        <a:srgbClr val="D5DFD8"/>
                      </a:solidFill>
                      <a:prstDash val="solid"/>
                    </a:lnR>
                    <a:lnB w="9525">
                      <a:solidFill>
                        <a:srgbClr val="D5DFD8"/>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034382D-3798-4C1A-ABFC-8CD7F2E2C4C8}"/>
              </a:ext>
            </a:extLst>
          </p:cNvPr>
          <p:cNvSpPr>
            <a:spLocks xmlns:a="http://schemas.openxmlformats.org/drawingml/2006/main" noGrp="1"/>
          </p:cNvSpPr>
          <p:nvPr/>
        </p:nvSpPr>
        <p:spPr>
          <a:xfrm xmlns:a="http://schemas.openxmlformats.org/drawingml/2006/main">
            <a:off x="609600" y="48387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24634D"/>
                </a:solidFill>
                <a:latin typeface="Arial"/>
                <a:ea typeface="Arial"/>
                <a:cs typeface="Arial"/>
              </a:defRPr>
            </a:defPPr>
            <a:lvl1pPr>
              <a:defRPr sz="1950" b="1">
                <a:solidFill>
                  <a:srgbClr val="24634D"/>
                </a:solidFill>
                <a:latin typeface="Arial"/>
                <a:ea typeface="Arial"/>
                <a:cs typeface="Arial"/>
              </a:defRPr>
            </a:lvl1pPr>
            <a:lvl2pPr>
              <a:defRPr sz="1950" b="1">
                <a:solidFill>
                  <a:srgbClr val="24634D"/>
                </a:solidFill>
                <a:latin typeface="Arial"/>
                <a:ea typeface="Arial"/>
                <a:cs typeface="Arial"/>
              </a:defRPr>
            </a:lvl2pPr>
            <a:lvl3pPr>
              <a:defRPr sz="1950" b="1">
                <a:solidFill>
                  <a:srgbClr val="24634D"/>
                </a:solidFill>
                <a:latin typeface="Arial"/>
                <a:ea typeface="Arial"/>
                <a:cs typeface="Arial"/>
              </a:defRPr>
            </a:lvl3pPr>
            <a:lvl4pPr>
              <a:defRPr sz="1950" b="1">
                <a:solidFill>
                  <a:srgbClr val="24634D"/>
                </a:solidFill>
                <a:latin typeface="Arial"/>
                <a:ea typeface="Arial"/>
                <a:cs typeface="Arial"/>
              </a:defRPr>
            </a:lvl4pPr>
            <a:lvl5pPr>
              <a:defRPr sz="1950" b="1">
                <a:solidFill>
                  <a:srgbClr val="24634D"/>
                </a:solidFill>
                <a:latin typeface="Arial"/>
                <a:ea typeface="Arial"/>
                <a:cs typeface="Arial"/>
              </a:defRPr>
            </a:lvl5pPr>
            <a:lvl6pPr>
              <a:defRPr sz="1950" b="1">
                <a:solidFill>
                  <a:srgbClr val="24634D"/>
                </a:solidFill>
                <a:latin typeface="Arial"/>
                <a:ea typeface="Arial"/>
                <a:cs typeface="Arial"/>
              </a:defRPr>
            </a:lvl6pPr>
            <a:lvl7pPr>
              <a:defRPr sz="1950" b="1">
                <a:solidFill>
                  <a:srgbClr val="24634D"/>
                </a:solidFill>
                <a:latin typeface="Arial"/>
                <a:ea typeface="Arial"/>
                <a:cs typeface="Arial"/>
              </a:defRPr>
            </a:lvl7pPr>
            <a:lvl8pPr>
              <a:defRPr sz="1950" b="1">
                <a:solidFill>
                  <a:srgbClr val="24634D"/>
                </a:solidFill>
                <a:latin typeface="Arial"/>
                <a:ea typeface="Arial"/>
                <a:cs typeface="Arial"/>
              </a:defRPr>
            </a:lvl8pPr>
            <a:lvl9pPr>
              <a:defRPr sz="1950" b="1">
                <a:solidFill>
                  <a:srgbClr val="24634D"/>
                </a:solidFill>
                <a:latin typeface="Arial"/>
                <a:ea typeface="Arial"/>
                <a:cs typeface="Arial"/>
              </a:defRPr>
            </a:lvl9pPr>
          </a:lstStyle>
          <a:p xmlns:a="http://schemas.openxmlformats.org/drawingml/2006/main">
            <a:pPr>
              <a:defRPr sz="1950" b="1">
                <a:solidFill>
                  <a:srgbClr val="24634D"/>
                </a:solidFill>
                <a:latin typeface="Arial"/>
                <a:ea typeface="Arial"/>
                <a:cs typeface="Arial"/>
              </a:defRPr>
            </a:pPr>
            <a:r>
              <a:rPr sz="1950" b="1">
                <a:solidFill>
                  <a:srgbClr val="24634D"/>
                </a:solidFill>
                <a:latin typeface="Arial"/>
                <a:ea typeface="Arial"/>
                <a:cs typeface="Arial"/>
              </a:rPr>
              <a:t>Next gates</a:t>
            </a:r>
          </a:p>
        </p:txBody>
      </p:sp>
      <p:sp>
        <p:nvSpPr>
          <p:cNvPr id="7" name="">
            <a:extLst xmlns:a="http://schemas.openxmlformats.org/drawingml/2006/main">
              <a:ext uri="{FF2B5EF4-FFF2-40B4-BE49-F238E27FC236}">
                <a16:creationId xmlns:a16="http://schemas.microsoft.com/office/drawing/2014/main" id="{E84213D6-9CA3-4248-83D7-8D01C4ABB40F}"/>
              </a:ext>
            </a:extLst>
          </p:cNvPr>
          <p:cNvSpPr>
            <a:spLocks xmlns:a="http://schemas.openxmlformats.org/drawingml/2006/main" noGrp="1"/>
          </p:cNvSpPr>
          <p:nvPr/>
        </p:nvSpPr>
        <p:spPr>
          <a:xfrm xmlns:a="http://schemas.openxmlformats.org/drawingml/2006/main">
            <a:off x="609600" y="5314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72B24"/>
                </a:solidFill>
                <a:latin typeface="Arial"/>
                <a:ea typeface="Arial"/>
                <a:cs typeface="Arial"/>
              </a:defRPr>
            </a:defPPr>
            <a:lvl1pPr>
              <a:defRPr sz="1875" b="0">
                <a:solidFill>
                  <a:srgbClr val="172B24"/>
                </a:solidFill>
                <a:latin typeface="Arial"/>
                <a:ea typeface="Arial"/>
                <a:cs typeface="Arial"/>
              </a:defRPr>
            </a:lvl1pPr>
            <a:lvl2pPr>
              <a:defRPr sz="1875" b="0">
                <a:solidFill>
                  <a:srgbClr val="172B24"/>
                </a:solidFill>
                <a:latin typeface="Arial"/>
                <a:ea typeface="Arial"/>
                <a:cs typeface="Arial"/>
              </a:defRPr>
            </a:lvl2pPr>
            <a:lvl3pPr>
              <a:defRPr sz="1875" b="0">
                <a:solidFill>
                  <a:srgbClr val="172B24"/>
                </a:solidFill>
                <a:latin typeface="Arial"/>
                <a:ea typeface="Arial"/>
                <a:cs typeface="Arial"/>
              </a:defRPr>
            </a:lvl3pPr>
            <a:lvl4pPr>
              <a:defRPr sz="1875" b="0">
                <a:solidFill>
                  <a:srgbClr val="172B24"/>
                </a:solidFill>
                <a:latin typeface="Arial"/>
                <a:ea typeface="Arial"/>
                <a:cs typeface="Arial"/>
              </a:defRPr>
            </a:lvl4pPr>
            <a:lvl5pPr>
              <a:defRPr sz="1875" b="0">
                <a:solidFill>
                  <a:srgbClr val="172B24"/>
                </a:solidFill>
                <a:latin typeface="Arial"/>
                <a:ea typeface="Arial"/>
                <a:cs typeface="Arial"/>
              </a:defRPr>
            </a:lvl5pPr>
            <a:lvl6pPr>
              <a:defRPr sz="1875" b="0">
                <a:solidFill>
                  <a:srgbClr val="172B24"/>
                </a:solidFill>
                <a:latin typeface="Arial"/>
                <a:ea typeface="Arial"/>
                <a:cs typeface="Arial"/>
              </a:defRPr>
            </a:lvl6pPr>
            <a:lvl7pPr>
              <a:defRPr sz="1875" b="0">
                <a:solidFill>
                  <a:srgbClr val="172B24"/>
                </a:solidFill>
                <a:latin typeface="Arial"/>
                <a:ea typeface="Arial"/>
                <a:cs typeface="Arial"/>
              </a:defRPr>
            </a:lvl7pPr>
            <a:lvl8pPr>
              <a:defRPr sz="1875" b="0">
                <a:solidFill>
                  <a:srgbClr val="172B24"/>
                </a:solidFill>
                <a:latin typeface="Arial"/>
                <a:ea typeface="Arial"/>
                <a:cs typeface="Arial"/>
              </a:defRPr>
            </a:lvl8pPr>
            <a:lvl9pPr>
              <a:defRPr sz="1875" b="0">
                <a:solidFill>
                  <a:srgbClr val="172B24"/>
                </a:solidFill>
                <a:latin typeface="Arial"/>
                <a:ea typeface="Arial"/>
                <a:cs typeface="Arial"/>
              </a:defRPr>
            </a:lvl9pPr>
          </a:lstStyle>
          <a:p xmlns:a="http://schemas.openxmlformats.org/drawingml/2006/main">
            <a:pPr>
              <a:defRPr sz="1875" b="0">
                <a:solidFill>
                  <a:srgbClr val="172B24"/>
                </a:solidFill>
                <a:latin typeface="Arial"/>
                <a:ea typeface="Arial"/>
                <a:cs typeface="Arial"/>
              </a:defRPr>
            </a:pPr>
            <a:r>
              <a:rPr sz="1875" b="0">
                <a:solidFill>
                  <a:srgbClr val="172B24"/>
                </a:solidFill>
                <a:latin typeface="Arial"/>
                <a:ea typeface="Arial"/>
                <a:cs typeface="Arial"/>
              </a:rPr>
              <a:t>Nov: real task observations and retests. December: evidence-led video and dual receipts.</a:t>
            </a:r>
          </a:p>
          <a:p xmlns:a="http://schemas.openxmlformats.org/drawingml/2006/main">
            <a:pPr>
              <a:defRPr sz="1875" b="0">
                <a:solidFill>
                  <a:srgbClr val="172B24"/>
                </a:solidFill>
                <a:latin typeface="Arial"/>
                <a:ea typeface="Arial"/>
                <a:cs typeface="Arial"/>
              </a:defRPr>
            </a:pPr>
            <a:r>
              <a:rPr sz="1875" b="0">
                <a:solidFill>
                  <a:srgbClr val="172B24"/>
                </a:solidFill>
                <a:latin typeface="Arial"/>
                <a:ea typeface="Arial"/>
                <a:cs typeface="Arial"/>
              </a:rPr>
              <a:t>February–March: refresh financials, risk controls, impact measures and the live demonstration.</a:t>
            </a:r>
          </a:p>
        </p:txBody>
      </p:sp>
    </p:spTree>
    <p:extLst>
      <p:ext uri="{BB962C8B-B14F-4D97-AF65-F5344CB8AC3E}">
        <p14:creationId xmlns:p14="http://schemas.microsoft.com/office/powerpoint/2010/main" val="189595642"/>
      </p:ext>
    </p:extLst>
  </p:cSld>
</p:sld>
</file>

<file path=ppt/slides/slide8.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188F96-F455-4821-8070-6E441DCF210F}"/>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BD72CF2C-5523-4CE9-87CD-DFBF76B3F33E}"/>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Sustainable Competitive Advantage</a:t>
            </a:r>
          </a:p>
        </p:txBody>
      </p:sp>
      <p:sp>
        <p:nvSpPr>
          <p:cNvPr id="3" name="">
            <a:extLst xmlns:a="http://schemas.openxmlformats.org/drawingml/2006/main">
              <a:ext uri="{FF2B5EF4-FFF2-40B4-BE49-F238E27FC236}">
                <a16:creationId xmlns:a16="http://schemas.microsoft.com/office/drawing/2014/main" id="{78B9F8B7-0584-454E-B79F-DD99F5CE203B}"/>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8 / 12</a:t>
            </a:r>
          </a:p>
        </p:txBody>
      </p:sp>
      <p:sp>
        <p:nvSpPr>
          <p:cNvPr id="4" name="">
            <a:extLst xmlns:a="http://schemas.openxmlformats.org/drawingml/2006/main">
              <a:ext uri="{FF2B5EF4-FFF2-40B4-BE49-F238E27FC236}">
                <a16:creationId xmlns:a16="http://schemas.microsoft.com/office/drawing/2014/main" id="{A4B2D244-6933-468C-A6D9-2F561AFF0FF5}"/>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BDCEC5"/>
                </a:solidFill>
                <a:latin typeface="Arial"/>
                <a:ea typeface="Arial"/>
                <a:cs typeface="Arial"/>
              </a:defRPr>
            </a:defPPr>
            <a:lvl1pPr>
              <a:defRPr sz="900" b="0">
                <a:solidFill>
                  <a:srgbClr val="BDCEC5"/>
                </a:solidFill>
                <a:latin typeface="Arial"/>
                <a:ea typeface="Arial"/>
                <a:cs typeface="Arial"/>
              </a:defRPr>
            </a:lvl1pPr>
            <a:lvl2pPr>
              <a:defRPr sz="900" b="0">
                <a:solidFill>
                  <a:srgbClr val="BDCEC5"/>
                </a:solidFill>
                <a:latin typeface="Arial"/>
                <a:ea typeface="Arial"/>
                <a:cs typeface="Arial"/>
              </a:defRPr>
            </a:lvl2pPr>
            <a:lvl3pPr>
              <a:defRPr sz="900" b="0">
                <a:solidFill>
                  <a:srgbClr val="BDCEC5"/>
                </a:solidFill>
                <a:latin typeface="Arial"/>
                <a:ea typeface="Arial"/>
                <a:cs typeface="Arial"/>
              </a:defRPr>
            </a:lvl3pPr>
            <a:lvl4pPr>
              <a:defRPr sz="900" b="0">
                <a:solidFill>
                  <a:srgbClr val="BDCEC5"/>
                </a:solidFill>
                <a:latin typeface="Arial"/>
                <a:ea typeface="Arial"/>
                <a:cs typeface="Arial"/>
              </a:defRPr>
            </a:lvl4pPr>
            <a:lvl5pPr>
              <a:defRPr sz="900" b="0">
                <a:solidFill>
                  <a:srgbClr val="BDCEC5"/>
                </a:solidFill>
                <a:latin typeface="Arial"/>
                <a:ea typeface="Arial"/>
                <a:cs typeface="Arial"/>
              </a:defRPr>
            </a:lvl5pPr>
            <a:lvl6pPr>
              <a:defRPr sz="900" b="0">
                <a:solidFill>
                  <a:srgbClr val="BDCEC5"/>
                </a:solidFill>
                <a:latin typeface="Arial"/>
                <a:ea typeface="Arial"/>
                <a:cs typeface="Arial"/>
              </a:defRPr>
            </a:lvl6pPr>
            <a:lvl7pPr>
              <a:defRPr sz="900" b="0">
                <a:solidFill>
                  <a:srgbClr val="BDCEC5"/>
                </a:solidFill>
                <a:latin typeface="Arial"/>
                <a:ea typeface="Arial"/>
                <a:cs typeface="Arial"/>
              </a:defRPr>
            </a:lvl7pPr>
            <a:lvl8pPr>
              <a:defRPr sz="900" b="0">
                <a:solidFill>
                  <a:srgbClr val="BDCEC5"/>
                </a:solidFill>
                <a:latin typeface="Arial"/>
                <a:ea typeface="Arial"/>
                <a:cs typeface="Arial"/>
              </a:defRPr>
            </a:lvl8pPr>
            <a:lvl9pPr>
              <a:defRPr sz="900" b="0">
                <a:solidFill>
                  <a:srgbClr val="BDCEC5"/>
                </a:solidFill>
                <a:latin typeface="Arial"/>
                <a:ea typeface="Arial"/>
                <a:cs typeface="Arial"/>
              </a:defRPr>
            </a:lvl9pPr>
          </a:lstStyle>
          <a:p xmlns:a="http://schemas.openxmlformats.org/drawingml/2006/main">
            <a:pPr>
              <a:defRPr sz="900" b="0">
                <a:solidFill>
                  <a:srgbClr val="BDCEC5"/>
                </a:solidFill>
                <a:latin typeface="Arial"/>
                <a:ea typeface="Arial"/>
                <a:cs typeface="Arial"/>
              </a:defRPr>
            </a:pPr>
            <a:r>
              <a:rPr sz="900" b="0">
                <a:solidFill>
                  <a:srgbClr val="BDCEC5"/>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1E60B6CA-503A-4A40-872D-3DDBDABD1610}"/>
              </a:ext>
            </a:extLst>
          </p:cNvPr>
          <p:cNvGraphicFramePr/>
          <p:nvPr/>
        </p:nvGraphicFramePr>
        <p:xfrm>
          <a:off xmlns:a="http://schemas.openxmlformats.org/drawingml/2006/main" x="609600" y="1809750"/>
          <a:ext xmlns:a="http://schemas.openxmlformats.org/drawingml/2006/main" cx="10972800" cy="2667000"/>
        </p:xfrm>
        <a:graphic xmlns:a="http://schemas.openxmlformats.org/drawingml/2006/main">
          <a:graphicData uri="http://schemas.openxmlformats.org/drawingml/2006/table">
            <a:tbl>
              <a:tblPr/>
              <a:tblGrid>
                <a:gridCol w="3476625"/>
                <a:gridCol w="3667125"/>
                <a:gridCol w="3829050"/>
              </a:tblGrid>
              <a:tr h="533400">
                <a:tc>
                  <a:txBody>
                    <a:bodyPr>
                      <a:noAutofit/>
                    </a:bodyPr>
                    <a:lstStyle/>
                    <a:p>
                      <a:r>
                        <a:rPr sz="1650" b="1">
                          <a:solidFill>
                            <a:srgbClr val="FFFFFF"/>
                          </a:solidFill>
                          <a:latin typeface="Arial"/>
                          <a:ea typeface="Arial"/>
                          <a:cs typeface="Arial"/>
                        </a:rPr>
                        <a:t>Current asset or proposition</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650" b="1">
                          <a:solidFill>
                            <a:srgbClr val="FFFFFF"/>
                          </a:solidFill>
                          <a:latin typeface="Arial"/>
                          <a:ea typeface="Arial"/>
                          <a:cs typeface="Arial"/>
                        </a:rPr>
                        <a:t>What is established</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650" b="1">
                          <a:solidFill>
                            <a:srgbClr val="FFFFFF"/>
                          </a:solidFill>
                          <a:latin typeface="Arial"/>
                          <a:ea typeface="Arial"/>
                          <a:cs typeface="Arial"/>
                        </a:rPr>
                        <a:t>What could strengthen it</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r>
              <a:tr h="533400">
                <a:tc>
                  <a:txBody>
                    <a:bodyPr>
                      <a:noAutofit/>
                    </a:bodyPr>
                    <a:lstStyle/>
                    <a:p>
                      <a:r>
                        <a:rPr sz="1650" b="0">
                          <a:solidFill>
                            <a:srgbClr val="FFFFFF"/>
                          </a:solidFill>
                          <a:latin typeface="Arial"/>
                          <a:ea typeface="Arial"/>
                          <a:cs typeface="Arial"/>
                        </a:rPr>
                        <a:t>Date-aware peer workflow</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Working code, low copying barrier</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A measured task benefit over alternatives</a:t>
                      </a:r>
                    </a:p>
                  </a:txBody>
                  <a:tcPr marL="91440" marR="91440" marT="45720" marB="45720">
                    <a:lnR w="9525">
                      <a:solidFill>
                        <a:srgbClr val="416250"/>
                      </a:solidFill>
                      <a:prstDash val="solid"/>
                    </a:lnR>
                    <a:lnB w="9525">
                      <a:solidFill>
                        <a:srgbClr val="416250"/>
                      </a:solidFill>
                      <a:prstDash val="solid"/>
                    </a:lnB>
                    <a:solidFill>
                      <a:srgbClr val="11221C"/>
                    </a:solidFill>
                  </a:tcPr>
                </a:tc>
              </a:tr>
              <a:tr h="533400">
                <a:tc>
                  <a:txBody>
                    <a:bodyPr>
                      <a:noAutofit/>
                    </a:bodyPr>
                    <a:lstStyle/>
                    <a:p>
                      <a:r>
                        <a:rPr sz="1650" b="0">
                          <a:solidFill>
                            <a:srgbClr val="FFFFFF"/>
                          </a:solidFill>
                          <a:latin typeface="Arial"/>
                          <a:ea typeface="Arial"/>
                          <a:cs typeface="Arial"/>
                        </a:rPr>
                        <a:t>Campus operating knowledge</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Public handoff design, proposed support</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Reliable owner coverage and tested SOPs</a:t>
                      </a:r>
                    </a:p>
                  </a:txBody>
                  <a:tcPr marL="91440" marR="91440" marT="45720" marB="45720">
                    <a:lnR w="9525">
                      <a:solidFill>
                        <a:srgbClr val="416250"/>
                      </a:solidFill>
                      <a:prstDash val="solid"/>
                    </a:lnR>
                    <a:lnB w="9525">
                      <a:solidFill>
                        <a:srgbClr val="416250"/>
                      </a:solidFill>
                      <a:prstDash val="solid"/>
                    </a:lnB>
                    <a:solidFill>
                      <a:srgbClr val="11221C"/>
                    </a:solidFill>
                  </a:tcPr>
                </a:tc>
              </a:tr>
              <a:tr h="533400">
                <a:tc>
                  <a:txBody>
                    <a:bodyPr>
                      <a:noAutofit/>
                    </a:bodyPr>
                    <a:lstStyle/>
                    <a:p>
                      <a:r>
                        <a:rPr sz="1650" b="0">
                          <a:solidFill>
                            <a:srgbClr val="FFFFFF"/>
                          </a:solidFill>
                          <a:latin typeface="Arial"/>
                          <a:ea typeface="Arial"/>
                          <a:cs typeface="Arial"/>
                        </a:rPr>
                        <a:t>Privacy choices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Optional map and reviewed private timetable</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Observed understanding and safe operation</a:t>
                      </a:r>
                    </a:p>
                  </a:txBody>
                  <a:tcPr marL="91440" marR="91440" marT="45720" marB="45720">
                    <a:lnR w="9525">
                      <a:solidFill>
                        <a:srgbClr val="416250"/>
                      </a:solidFill>
                      <a:prstDash val="solid"/>
                    </a:lnR>
                    <a:lnB w="9525">
                      <a:solidFill>
                        <a:srgbClr val="416250"/>
                      </a:solidFill>
                      <a:prstDash val="solid"/>
                    </a:lnB>
                    <a:solidFill>
                      <a:srgbClr val="11221C"/>
                    </a:solidFill>
                  </a:tcPr>
                </a:tc>
              </a:tr>
              <a:tr h="533400">
                <a:tc>
                  <a:txBody>
                    <a:bodyPr>
                      <a:noAutofit/>
                    </a:bodyPr>
                    <a:lstStyle/>
                    <a:p>
                      <a:r>
                        <a:rPr sz="1650" b="0">
                          <a:solidFill>
                            <a:srgbClr val="FFFFFF"/>
                          </a:solidFill>
                          <a:latin typeface="Arial"/>
                          <a:ea typeface="Arial"/>
                          <a:cs typeface="Arial"/>
                        </a:rPr>
                        <a:t>Brand and service reputation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Consistent U Use identity</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Repeat usefulness and accountable resolution</a:t>
                      </a:r>
                    </a:p>
                  </a:txBody>
                  <a:tcPr marL="91440" marR="91440" marT="45720" marB="45720">
                    <a:lnR w="9525">
                      <a:solidFill>
                        <a:srgbClr val="416250"/>
                      </a:solidFill>
                      <a:prstDash val="solid"/>
                    </a:lnR>
                    <a:lnB w="9525">
                      <a:solidFill>
                        <a:srgbClr val="416250"/>
                      </a:solidFill>
                      <a:prstDash val="solid"/>
                    </a:lnB>
                    <a:solidFill>
                      <a:srgbClr val="11221C"/>
                    </a:solidFill>
                  </a:tcPr>
                </a:tc>
              </a:tr>
            </a:tbl>
          </a:graphicData>
        </a:graphic>
      </p:graphicFrame>
      <p:sp>
        <p:nvSpPr>
          <p:cNvPr id="6" name="">
            <a:extLst xmlns:a="http://schemas.openxmlformats.org/drawingml/2006/main">
              <a:ext uri="{FF2B5EF4-FFF2-40B4-BE49-F238E27FC236}">
                <a16:creationId xmlns:a16="http://schemas.microsoft.com/office/drawing/2014/main" id="{165B263F-A272-4313-9053-D532689D2644}"/>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D6E58A"/>
                </a:solidFill>
                <a:latin typeface="Arial"/>
                <a:ea typeface="Arial"/>
                <a:cs typeface="Arial"/>
              </a:defRPr>
            </a:defPPr>
            <a:lvl1pPr>
              <a:defRPr sz="2100" b="1">
                <a:solidFill>
                  <a:srgbClr val="D6E58A"/>
                </a:solidFill>
                <a:latin typeface="Arial"/>
                <a:ea typeface="Arial"/>
                <a:cs typeface="Arial"/>
              </a:defRPr>
            </a:lvl1pPr>
            <a:lvl2pPr>
              <a:defRPr sz="2100" b="1">
                <a:solidFill>
                  <a:srgbClr val="D6E58A"/>
                </a:solidFill>
                <a:latin typeface="Arial"/>
                <a:ea typeface="Arial"/>
                <a:cs typeface="Arial"/>
              </a:defRPr>
            </a:lvl2pPr>
            <a:lvl3pPr>
              <a:defRPr sz="2100" b="1">
                <a:solidFill>
                  <a:srgbClr val="D6E58A"/>
                </a:solidFill>
                <a:latin typeface="Arial"/>
                <a:ea typeface="Arial"/>
                <a:cs typeface="Arial"/>
              </a:defRPr>
            </a:lvl3pPr>
            <a:lvl4pPr>
              <a:defRPr sz="2100" b="1">
                <a:solidFill>
                  <a:srgbClr val="D6E58A"/>
                </a:solidFill>
                <a:latin typeface="Arial"/>
                <a:ea typeface="Arial"/>
                <a:cs typeface="Arial"/>
              </a:defRPr>
            </a:lvl4pPr>
            <a:lvl5pPr>
              <a:defRPr sz="2100" b="1">
                <a:solidFill>
                  <a:srgbClr val="D6E58A"/>
                </a:solidFill>
                <a:latin typeface="Arial"/>
                <a:ea typeface="Arial"/>
                <a:cs typeface="Arial"/>
              </a:defRPr>
            </a:lvl5pPr>
            <a:lvl6pPr>
              <a:defRPr sz="2100" b="1">
                <a:solidFill>
                  <a:srgbClr val="D6E58A"/>
                </a:solidFill>
                <a:latin typeface="Arial"/>
                <a:ea typeface="Arial"/>
                <a:cs typeface="Arial"/>
              </a:defRPr>
            </a:lvl6pPr>
            <a:lvl7pPr>
              <a:defRPr sz="2100" b="1">
                <a:solidFill>
                  <a:srgbClr val="D6E58A"/>
                </a:solidFill>
                <a:latin typeface="Arial"/>
                <a:ea typeface="Arial"/>
                <a:cs typeface="Arial"/>
              </a:defRPr>
            </a:lvl7pPr>
            <a:lvl8pPr>
              <a:defRPr sz="2100" b="1">
                <a:solidFill>
                  <a:srgbClr val="D6E58A"/>
                </a:solidFill>
                <a:latin typeface="Arial"/>
                <a:ea typeface="Arial"/>
                <a:cs typeface="Arial"/>
              </a:defRPr>
            </a:lvl8pPr>
            <a:lvl9pPr>
              <a:defRPr sz="2100" b="1">
                <a:solidFill>
                  <a:srgbClr val="D6E58A"/>
                </a:solidFill>
                <a:latin typeface="Arial"/>
                <a:ea typeface="Arial"/>
                <a:cs typeface="Arial"/>
              </a:defRPr>
            </a:lvl9pPr>
          </a:lstStyle>
          <a:p xmlns:a="http://schemas.openxmlformats.org/drawingml/2006/main">
            <a:pPr>
              <a:defRPr sz="2100" b="1">
                <a:solidFill>
                  <a:srgbClr val="D6E58A"/>
                </a:solidFill>
                <a:latin typeface="Arial"/>
                <a:ea typeface="Arial"/>
                <a:cs typeface="Arial"/>
              </a:defRPr>
            </a:pPr>
            <a:r>
              <a:rPr sz="2100" b="1">
                <a:solidFill>
                  <a:srgbClr val="D6E58A"/>
                </a:solidFill>
                <a:latin typeface="Arial"/>
                <a:ea typeface="Arial"/>
                <a:cs typeface="Arial"/>
              </a:rPr>
              <a:t>No patent, exclusive partnership or proven network effect is claimed.</a:t>
            </a:r>
          </a:p>
        </p:txBody>
      </p:sp>
      <p:sp>
        <p:nvSpPr>
          <p:cNvPr id="7" name="">
            <a:extLst xmlns:a="http://schemas.openxmlformats.org/drawingml/2006/main">
              <a:ext uri="{FF2B5EF4-FFF2-40B4-BE49-F238E27FC236}">
                <a16:creationId xmlns:a16="http://schemas.microsoft.com/office/drawing/2014/main" id="{B954A4A1-714E-4D64-B0E5-D2DC30E96202}"/>
              </a:ext>
            </a:extLst>
          </p:cNvPr>
          <p:cNvSpPr>
            <a:spLocks xmlns:a="http://schemas.openxmlformats.org/drawingml/2006/main" noGrp="1"/>
          </p:cNvSpPr>
          <p:nvPr/>
        </p:nvSpPr>
        <p:spPr>
          <a:xfrm xmlns:a="http://schemas.openxmlformats.org/drawingml/2006/main">
            <a:off x="609600" y="54959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Five task dimensions: dates, mutual free time, explicit handoff/return, disclosure control,</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and campus support. Benchmark outcomes and cost before claiming a defensible advantage.</a:t>
            </a:r>
          </a:p>
        </p:txBody>
      </p:sp>
    </p:spTree>
    <p:extLst>
      <p:ext uri="{BB962C8B-B14F-4D97-AF65-F5344CB8AC3E}">
        <p14:creationId xmlns:p14="http://schemas.microsoft.com/office/powerpoint/2010/main" val="6264536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CE095C-EFAE-4F53-AB50-17E5FFDDD372}"/>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FF2C4636-B0BF-4BC9-9BF6-283A6B796971}"/>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172B24"/>
                </a:solidFill>
                <a:latin typeface="Arial"/>
                <a:ea typeface="Arial"/>
                <a:cs typeface="Arial"/>
              </a:defRPr>
            </a:defPPr>
            <a:lvl1pPr>
              <a:defRPr sz="3600" b="1">
                <a:solidFill>
                  <a:srgbClr val="172B24"/>
                </a:solidFill>
                <a:latin typeface="Arial"/>
                <a:ea typeface="Arial"/>
                <a:cs typeface="Arial"/>
              </a:defRPr>
            </a:lvl1pPr>
            <a:lvl2pPr>
              <a:defRPr sz="3600" b="1">
                <a:solidFill>
                  <a:srgbClr val="172B24"/>
                </a:solidFill>
                <a:latin typeface="Arial"/>
                <a:ea typeface="Arial"/>
                <a:cs typeface="Arial"/>
              </a:defRPr>
            </a:lvl2pPr>
            <a:lvl3pPr>
              <a:defRPr sz="3600" b="1">
                <a:solidFill>
                  <a:srgbClr val="172B24"/>
                </a:solidFill>
                <a:latin typeface="Arial"/>
                <a:ea typeface="Arial"/>
                <a:cs typeface="Arial"/>
              </a:defRPr>
            </a:lvl3pPr>
            <a:lvl4pPr>
              <a:defRPr sz="3600" b="1">
                <a:solidFill>
                  <a:srgbClr val="172B24"/>
                </a:solidFill>
                <a:latin typeface="Arial"/>
                <a:ea typeface="Arial"/>
                <a:cs typeface="Arial"/>
              </a:defRPr>
            </a:lvl4pPr>
            <a:lvl5pPr>
              <a:defRPr sz="3600" b="1">
                <a:solidFill>
                  <a:srgbClr val="172B24"/>
                </a:solidFill>
                <a:latin typeface="Arial"/>
                <a:ea typeface="Arial"/>
                <a:cs typeface="Arial"/>
              </a:defRPr>
            </a:lvl5pPr>
            <a:lvl6pPr>
              <a:defRPr sz="3600" b="1">
                <a:solidFill>
                  <a:srgbClr val="172B24"/>
                </a:solidFill>
                <a:latin typeface="Arial"/>
                <a:ea typeface="Arial"/>
                <a:cs typeface="Arial"/>
              </a:defRPr>
            </a:lvl6pPr>
            <a:lvl7pPr>
              <a:defRPr sz="3600" b="1">
                <a:solidFill>
                  <a:srgbClr val="172B24"/>
                </a:solidFill>
                <a:latin typeface="Arial"/>
                <a:ea typeface="Arial"/>
                <a:cs typeface="Arial"/>
              </a:defRPr>
            </a:lvl7pPr>
            <a:lvl8pPr>
              <a:defRPr sz="3600" b="1">
                <a:solidFill>
                  <a:srgbClr val="172B24"/>
                </a:solidFill>
                <a:latin typeface="Arial"/>
                <a:ea typeface="Arial"/>
                <a:cs typeface="Arial"/>
              </a:defRPr>
            </a:lvl8pPr>
            <a:lvl9pPr>
              <a:defRPr sz="3600" b="1">
                <a:solidFill>
                  <a:srgbClr val="172B24"/>
                </a:solidFill>
                <a:latin typeface="Arial"/>
                <a:ea typeface="Arial"/>
                <a:cs typeface="Arial"/>
              </a:defRPr>
            </a:lvl9pPr>
          </a:lstStyle>
          <a:p xmlns:a="http://schemas.openxmlformats.org/drawingml/2006/main">
            <a:pPr>
              <a:defRPr sz="3600" b="1">
                <a:solidFill>
                  <a:srgbClr val="172B24"/>
                </a:solidFill>
                <a:latin typeface="Arial"/>
                <a:ea typeface="Arial"/>
                <a:cs typeface="Arial"/>
              </a:defRPr>
            </a:pPr>
            <a:r>
              <a:rPr sz="3600" b="1">
                <a:solidFill>
                  <a:srgbClr val="172B24"/>
                </a:solidFill>
                <a:latin typeface="Arial"/>
                <a:ea typeface="Arial"/>
                <a:cs typeface="Arial"/>
              </a:rPr>
              <a:t>Risk Assessment &amp; Controls</a:t>
            </a:r>
          </a:p>
        </p:txBody>
      </p:sp>
      <p:sp>
        <p:nvSpPr>
          <p:cNvPr id="3" name="">
            <a:extLst xmlns:a="http://schemas.openxmlformats.org/drawingml/2006/main">
              <a:ext uri="{FF2B5EF4-FFF2-40B4-BE49-F238E27FC236}">
                <a16:creationId xmlns:a16="http://schemas.microsoft.com/office/drawing/2014/main" id="{001E8A05-4FAD-4293-9FF2-507C326FE6DB}"/>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9 / 12</a:t>
            </a:r>
          </a:p>
        </p:txBody>
      </p:sp>
      <p:sp>
        <p:nvSpPr>
          <p:cNvPr id="4" name="">
            <a:extLst xmlns:a="http://schemas.openxmlformats.org/drawingml/2006/main">
              <a:ext uri="{FF2B5EF4-FFF2-40B4-BE49-F238E27FC236}">
                <a16:creationId xmlns:a16="http://schemas.microsoft.com/office/drawing/2014/main" id="{8B7F3165-4754-480E-A8B7-74B3DE8CFC99}"/>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5C6A63"/>
                </a:solidFill>
                <a:latin typeface="Arial"/>
                <a:ea typeface="Arial"/>
                <a:cs typeface="Arial"/>
              </a:defRPr>
            </a:defPPr>
            <a:lvl1pPr>
              <a:defRPr sz="900" b="0">
                <a:solidFill>
                  <a:srgbClr val="5C6A63"/>
                </a:solidFill>
                <a:latin typeface="Arial"/>
                <a:ea typeface="Arial"/>
                <a:cs typeface="Arial"/>
              </a:defRPr>
            </a:lvl1pPr>
            <a:lvl2pPr>
              <a:defRPr sz="900" b="0">
                <a:solidFill>
                  <a:srgbClr val="5C6A63"/>
                </a:solidFill>
                <a:latin typeface="Arial"/>
                <a:ea typeface="Arial"/>
                <a:cs typeface="Arial"/>
              </a:defRPr>
            </a:lvl2pPr>
            <a:lvl3pPr>
              <a:defRPr sz="900" b="0">
                <a:solidFill>
                  <a:srgbClr val="5C6A63"/>
                </a:solidFill>
                <a:latin typeface="Arial"/>
                <a:ea typeface="Arial"/>
                <a:cs typeface="Arial"/>
              </a:defRPr>
            </a:lvl3pPr>
            <a:lvl4pPr>
              <a:defRPr sz="900" b="0">
                <a:solidFill>
                  <a:srgbClr val="5C6A63"/>
                </a:solidFill>
                <a:latin typeface="Arial"/>
                <a:ea typeface="Arial"/>
                <a:cs typeface="Arial"/>
              </a:defRPr>
            </a:lvl4pPr>
            <a:lvl5pPr>
              <a:defRPr sz="900" b="0">
                <a:solidFill>
                  <a:srgbClr val="5C6A63"/>
                </a:solidFill>
                <a:latin typeface="Arial"/>
                <a:ea typeface="Arial"/>
                <a:cs typeface="Arial"/>
              </a:defRPr>
            </a:lvl5pPr>
            <a:lvl6pPr>
              <a:defRPr sz="900" b="0">
                <a:solidFill>
                  <a:srgbClr val="5C6A63"/>
                </a:solidFill>
                <a:latin typeface="Arial"/>
                <a:ea typeface="Arial"/>
                <a:cs typeface="Arial"/>
              </a:defRPr>
            </a:lvl6pPr>
            <a:lvl7pPr>
              <a:defRPr sz="900" b="0">
                <a:solidFill>
                  <a:srgbClr val="5C6A63"/>
                </a:solidFill>
                <a:latin typeface="Arial"/>
                <a:ea typeface="Arial"/>
                <a:cs typeface="Arial"/>
              </a:defRPr>
            </a:lvl7pPr>
            <a:lvl8pPr>
              <a:defRPr sz="900" b="0">
                <a:solidFill>
                  <a:srgbClr val="5C6A63"/>
                </a:solidFill>
                <a:latin typeface="Arial"/>
                <a:ea typeface="Arial"/>
                <a:cs typeface="Arial"/>
              </a:defRPr>
            </a:lvl8pPr>
            <a:lvl9pPr>
              <a:defRPr sz="900" b="0">
                <a:solidFill>
                  <a:srgbClr val="5C6A63"/>
                </a:solidFill>
                <a:latin typeface="Arial"/>
                <a:ea typeface="Arial"/>
                <a:cs typeface="Arial"/>
              </a:defRPr>
            </a:lvl9pPr>
          </a:lstStyle>
          <a:p xmlns:a="http://schemas.openxmlformats.org/drawingml/2006/main">
            <a:pPr>
              <a:defRPr sz="900" b="0">
                <a:solidFill>
                  <a:srgbClr val="5C6A63"/>
                </a:solidFill>
                <a:latin typeface="Arial"/>
                <a:ea typeface="Arial"/>
                <a:cs typeface="Arial"/>
              </a:defRPr>
            </a:pPr>
            <a:r>
              <a:rPr sz="900" b="0">
                <a:solidFill>
                  <a:srgbClr val="5C6A63"/>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13142270-90C0-4881-8DCD-407C0AE0077B}"/>
              </a:ext>
            </a:extLst>
          </p:cNvPr>
          <p:cNvGraphicFramePr/>
          <p:nvPr/>
        </p:nvGraphicFramePr>
        <p:xfrm>
          <a:off xmlns:a="http://schemas.openxmlformats.org/drawingml/2006/main" x="609600" y="1809750"/>
          <a:ext xmlns:a="http://schemas.openxmlformats.org/drawingml/2006/main" cx="10972800" cy="3657600"/>
        </p:xfrm>
        <a:graphic xmlns:a="http://schemas.openxmlformats.org/drawingml/2006/main">
          <a:graphicData uri="http://schemas.openxmlformats.org/drawingml/2006/table">
            <a:tbl>
              <a:tblPr/>
              <a:tblGrid>
                <a:gridCol w="3143250"/>
                <a:gridCol w="3143250"/>
                <a:gridCol w="4686300"/>
              </a:tblGrid>
              <a:tr h="609600">
                <a:tc>
                  <a:txBody>
                    <a:bodyPr>
                      <a:noAutofit/>
                    </a:bodyPr>
                    <a:lstStyle/>
                    <a:p>
                      <a:r>
                        <a:rPr sz="1500" b="1">
                          <a:solidFill>
                            <a:srgbClr val="FFFFFF"/>
                          </a:solidFill>
                          <a:latin typeface="Arial"/>
                          <a:ea typeface="Arial"/>
                          <a:cs typeface="Arial"/>
                        </a:rPr>
                        <a:t>Risk / qualitative priority</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FFFFFF"/>
                          </a:solidFill>
                          <a:latin typeface="Arial"/>
                          <a:ea typeface="Arial"/>
                          <a:cs typeface="Arial"/>
                        </a:rPr>
                        <a:t>Trigger</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FFFFFF"/>
                          </a:solidFill>
                          <a:latin typeface="PingFang SC"/>
                          <a:ea typeface="PingFang SC"/>
                          <a:cs typeface="PingFang SC"/>
                        </a:rPr>
                        <a:t>Control and accountable owner</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r>
              <a:tr h="609600">
                <a:tc>
                  <a:txBody>
                    <a:bodyPr>
                      <a:noAutofit/>
                    </a:bodyPr>
                    <a:lstStyle/>
                    <a:p>
                      <a:r>
                        <a:rPr sz="1500" b="0">
                          <a:solidFill>
                            <a:srgbClr val="172B24"/>
                          </a:solidFill>
                          <a:latin typeface="Arial"/>
                          <a:ea typeface="Arial"/>
                          <a:cs typeface="Arial"/>
                        </a:rPr>
                        <a:t>Weak supply / high impact</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No eligible owner or repeated no-response</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PingFang SC"/>
                          <a:ea typeface="PingFang SC"/>
                          <a:cs typeface="PingFang SC"/>
                        </a:rPr>
                        <a:t>Recruit dated supply; simplify to bulletin. 黄俊杰 / 汤鋆秋</a:t>
                      </a:r>
                    </a:p>
                  </a:txBody>
                  <a:tcPr marL="91440" marR="91440" marT="45720" marB="45720">
                    <a:lnR w="9525">
                      <a:solidFill>
                        <a:srgbClr val="D5DFD8"/>
                      </a:solidFill>
                      <a:prstDash val="solid"/>
                    </a:lnR>
                    <a:lnB w="9525">
                      <a:solidFill>
                        <a:srgbClr val="D5DFD8"/>
                      </a:solidFill>
                      <a:prstDash val="solid"/>
                    </a:lnB>
                    <a:solidFill>
                      <a:srgbClr val="FFFFFF"/>
                    </a:solidFill>
                  </a:tcPr>
                </a:tc>
              </a:tr>
              <a:tr h="609600">
                <a:tc>
                  <a:txBody>
                    <a:bodyPr>
                      <a:noAutofit/>
                    </a:bodyPr>
                    <a:lstStyle/>
                    <a:p>
                      <a:r>
                        <a:rPr sz="1500" b="0">
                          <a:solidFill>
                            <a:srgbClr val="172B24"/>
                          </a:solidFill>
                          <a:latin typeface="Arial"/>
                          <a:ea typeface="Arial"/>
                          <a:cs typeface="Arial"/>
                        </a:rPr>
                        <a:t>Privacy / high impact</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Unintended identity, timetable or location exposure</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PingFang SC"/>
                          <a:ea typeface="PingFang SC"/>
                          <a:cs typeface="PingFang SC"/>
                        </a:rPr>
                        <a:t>Stop exposure, investigate, minimise data. Rita</a:t>
                      </a:r>
                    </a:p>
                  </a:txBody>
                  <a:tcPr marL="91440" marR="91440" marT="45720" marB="45720">
                    <a:lnR w="9525">
                      <a:solidFill>
                        <a:srgbClr val="D5DFD8"/>
                      </a:solidFill>
                      <a:prstDash val="solid"/>
                    </a:lnR>
                    <a:lnB w="9525">
                      <a:solidFill>
                        <a:srgbClr val="D5DFD8"/>
                      </a:solidFill>
                      <a:prstDash val="solid"/>
                    </a:lnB>
                    <a:solidFill>
                      <a:srgbClr val="FFFFFF"/>
                    </a:solidFill>
                  </a:tcPr>
                </a:tc>
              </a:tr>
              <a:tr h="609600">
                <a:tc>
                  <a:txBody>
                    <a:bodyPr>
                      <a:noAutofit/>
                    </a:bodyPr>
                    <a:lstStyle/>
                    <a:p>
                      <a:r>
                        <a:rPr sz="1500" b="0">
                          <a:solidFill>
                            <a:srgbClr val="172B24"/>
                          </a:solidFill>
                          <a:latin typeface="Arial"/>
                          <a:ea typeface="Arial"/>
                          <a:cs typeface="Arial"/>
                        </a:rPr>
                        <a:t>OCR or scheduling / medium-high</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Reviewed class or suggestion fails a real task</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PingFang SC"/>
                          <a:ea typeface="PingFang SC"/>
                          <a:cs typeface="PingFang SC"/>
                        </a:rPr>
                        <a:t>Manual entry, log and retest. 李元龙 / Rita</a:t>
                      </a:r>
                    </a:p>
                  </a:txBody>
                  <a:tcPr marL="91440" marR="91440" marT="45720" marB="45720">
                    <a:lnR w="9525">
                      <a:solidFill>
                        <a:srgbClr val="D5DFD8"/>
                      </a:solidFill>
                      <a:prstDash val="solid"/>
                    </a:lnR>
                    <a:lnB w="9525">
                      <a:solidFill>
                        <a:srgbClr val="D5DFD8"/>
                      </a:solidFill>
                      <a:prstDash val="solid"/>
                    </a:lnB>
                    <a:solidFill>
                      <a:srgbClr val="FFFFFF"/>
                    </a:solidFill>
                  </a:tcPr>
                </a:tc>
              </a:tr>
              <a:tr h="609600">
                <a:tc>
                  <a:txBody>
                    <a:bodyPr>
                      <a:noAutofit/>
                    </a:bodyPr>
                    <a:lstStyle/>
                    <a:p>
                      <a:r>
                        <a:rPr sz="1500" b="0">
                          <a:solidFill>
                            <a:srgbClr val="172B24"/>
                          </a:solidFill>
                          <a:latin typeface="Arial"/>
                          <a:ea typeface="Arial"/>
                          <a:cs typeface="Arial"/>
                        </a:rPr>
                        <a:t>Cash viability / high</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Negative contribution or no credible break-even demand</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PingFang SC"/>
                          <a:ea typeface="PingFang SC"/>
                          <a:cs typeface="PingFang SC"/>
                        </a:rPr>
                        <a:t>Cap spend and test price/cost. 汪睿</a:t>
                      </a:r>
                    </a:p>
                  </a:txBody>
                  <a:tcPr marL="91440" marR="91440" marT="45720" marB="45720">
                    <a:lnR w="9525">
                      <a:solidFill>
                        <a:srgbClr val="D5DFD8"/>
                      </a:solidFill>
                      <a:prstDash val="solid"/>
                    </a:lnR>
                    <a:lnB w="9525">
                      <a:solidFill>
                        <a:srgbClr val="D5DFD8"/>
                      </a:solidFill>
                      <a:prstDash val="solid"/>
                    </a:lnB>
                    <a:solidFill>
                      <a:srgbClr val="FFFFFF"/>
                    </a:solidFill>
                  </a:tcPr>
                </a:tc>
              </a:tr>
              <a:tr h="609600">
                <a:tc>
                  <a:txBody>
                    <a:bodyPr>
                      <a:noAutofit/>
                    </a:bodyPr>
                    <a:lstStyle/>
                    <a:p>
                      <a:r>
                        <a:rPr sz="1500" b="0">
                          <a:solidFill>
                            <a:srgbClr val="172B24"/>
                          </a:solidFill>
                          <a:latin typeface="Arial"/>
                          <a:ea typeface="Arial"/>
                          <a:cs typeface="Arial"/>
                        </a:rPr>
                        <a:t>Operations / high</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Arial"/>
                          <a:ea typeface="Arial"/>
                          <a:cs typeface="Arial"/>
                        </a:rPr>
                        <a:t>Unresolved dispute, unavailable moderator or restore failure</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500" b="0">
                          <a:solidFill>
                            <a:srgbClr val="172B24"/>
                          </a:solidFill>
                          <a:latin typeface="PingFang SC"/>
                          <a:ea typeface="PingFang SC"/>
                          <a:cs typeface="PingFang SC"/>
                        </a:rPr>
                        <a:t>Pause new trades, use escalation and backups. Rita / 汤鋆秋</a:t>
                      </a:r>
                    </a:p>
                  </a:txBody>
                  <a:tcPr marL="91440" marR="91440" marT="45720" marB="45720">
                    <a:lnR w="9525">
                      <a:solidFill>
                        <a:srgbClr val="D5DFD8"/>
                      </a:solidFill>
                      <a:prstDash val="solid"/>
                    </a:lnR>
                    <a:lnB w="9525">
                      <a:solidFill>
                        <a:srgbClr val="D5DFD8"/>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CC6548F-D38C-428B-8D5A-183FE8577150}"/>
              </a:ext>
            </a:extLst>
          </p:cNvPr>
          <p:cNvSpPr>
            <a:spLocks xmlns:a="http://schemas.openxmlformats.org/drawingml/2006/main" noGrp="1"/>
          </p:cNvSpPr>
          <p:nvPr/>
        </p:nvSpPr>
        <p:spPr>
          <a:xfrm xmlns:a="http://schemas.openxmlformats.org/drawingml/2006/main">
            <a:off x="609600" y="58483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C6A63"/>
                </a:solidFill>
                <a:latin typeface="Arial"/>
                <a:ea typeface="Arial"/>
                <a:cs typeface="Arial"/>
              </a:defRPr>
            </a:defPPr>
            <a:lvl1pPr>
              <a:defRPr sz="1725" b="0">
                <a:solidFill>
                  <a:srgbClr val="5C6A63"/>
                </a:solidFill>
                <a:latin typeface="Arial"/>
                <a:ea typeface="Arial"/>
                <a:cs typeface="Arial"/>
              </a:defRPr>
            </a:lvl1pPr>
            <a:lvl2pPr>
              <a:defRPr sz="1725" b="0">
                <a:solidFill>
                  <a:srgbClr val="5C6A63"/>
                </a:solidFill>
                <a:latin typeface="Arial"/>
                <a:ea typeface="Arial"/>
                <a:cs typeface="Arial"/>
              </a:defRPr>
            </a:lvl2pPr>
            <a:lvl3pPr>
              <a:defRPr sz="1725" b="0">
                <a:solidFill>
                  <a:srgbClr val="5C6A63"/>
                </a:solidFill>
                <a:latin typeface="Arial"/>
                <a:ea typeface="Arial"/>
                <a:cs typeface="Arial"/>
              </a:defRPr>
            </a:lvl3pPr>
            <a:lvl4pPr>
              <a:defRPr sz="1725" b="0">
                <a:solidFill>
                  <a:srgbClr val="5C6A63"/>
                </a:solidFill>
                <a:latin typeface="Arial"/>
                <a:ea typeface="Arial"/>
                <a:cs typeface="Arial"/>
              </a:defRPr>
            </a:lvl4pPr>
            <a:lvl5pPr>
              <a:defRPr sz="1725" b="0">
                <a:solidFill>
                  <a:srgbClr val="5C6A63"/>
                </a:solidFill>
                <a:latin typeface="Arial"/>
                <a:ea typeface="Arial"/>
                <a:cs typeface="Arial"/>
              </a:defRPr>
            </a:lvl5pPr>
            <a:lvl6pPr>
              <a:defRPr sz="1725" b="0">
                <a:solidFill>
                  <a:srgbClr val="5C6A63"/>
                </a:solidFill>
                <a:latin typeface="Arial"/>
                <a:ea typeface="Arial"/>
                <a:cs typeface="Arial"/>
              </a:defRPr>
            </a:lvl6pPr>
            <a:lvl7pPr>
              <a:defRPr sz="1725" b="0">
                <a:solidFill>
                  <a:srgbClr val="5C6A63"/>
                </a:solidFill>
                <a:latin typeface="Arial"/>
                <a:ea typeface="Arial"/>
                <a:cs typeface="Arial"/>
              </a:defRPr>
            </a:lvl7pPr>
            <a:lvl8pPr>
              <a:defRPr sz="1725" b="0">
                <a:solidFill>
                  <a:srgbClr val="5C6A63"/>
                </a:solidFill>
                <a:latin typeface="Arial"/>
                <a:ea typeface="Arial"/>
                <a:cs typeface="Arial"/>
              </a:defRPr>
            </a:lvl8pPr>
            <a:lvl9pPr>
              <a:defRPr sz="1725" b="0">
                <a:solidFill>
                  <a:srgbClr val="5C6A63"/>
                </a:solidFill>
                <a:latin typeface="Arial"/>
                <a:ea typeface="Arial"/>
                <a:cs typeface="Arial"/>
              </a:defRPr>
            </a:lvl9pPr>
          </a:lstStyle>
          <a:p xmlns:a="http://schemas.openxmlformats.org/drawingml/2006/main">
            <a:pPr>
              <a:defRPr sz="1725" b="0">
                <a:solidFill>
                  <a:srgbClr val="5C6A63"/>
                </a:solidFill>
                <a:latin typeface="Arial"/>
                <a:ea typeface="Arial"/>
                <a:cs typeface="Arial"/>
              </a:defRPr>
            </a:pPr>
            <a:r>
              <a:rPr sz="1725" b="0">
                <a:solidFill>
                  <a:srgbClr val="5C6A63"/>
                </a:solidFill>
                <a:latin typeface="Arial"/>
                <a:ea typeface="Arial"/>
                <a:cs typeface="Arial"/>
              </a:rPr>
              <a:t>Priorities are team judgments, not measured incident probabilities. Review likelihood and impact with real evidence.</a:t>
            </a:r>
          </a:p>
        </p:txBody>
      </p:sp>
    </p:spTree>
    <p:extLst>
      <p:ext uri="{BB962C8B-B14F-4D97-AF65-F5344CB8AC3E}">
        <p14:creationId xmlns:p14="http://schemas.microsoft.com/office/powerpoint/2010/main" val="1961177269"/>
      </p:ext>
    </p:extLst>
  </p:cSld>
</p:sld>
</file>

<file path=ppt/slides/slide10.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A68EA0-B310-4D93-BB74-1A77EA66E5F3}"/>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1E232211-F26B-4542-9215-D702E2CAA23D}"/>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Social Impact &amp; Measurement</a:t>
            </a:r>
          </a:p>
        </p:txBody>
      </p:sp>
      <p:sp>
        <p:nvSpPr>
          <p:cNvPr id="3" name="">
            <a:extLst xmlns:a="http://schemas.openxmlformats.org/drawingml/2006/main">
              <a:ext uri="{FF2B5EF4-FFF2-40B4-BE49-F238E27FC236}">
                <a16:creationId xmlns:a16="http://schemas.microsoft.com/office/drawing/2014/main" id="{F0B99896-0A27-44AE-8214-659E3CDB4B8F}"/>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10 / 12</a:t>
            </a:r>
          </a:p>
        </p:txBody>
      </p:sp>
      <p:sp>
        <p:nvSpPr>
          <p:cNvPr id="4" name="">
            <a:extLst xmlns:a="http://schemas.openxmlformats.org/drawingml/2006/main">
              <a:ext uri="{FF2B5EF4-FFF2-40B4-BE49-F238E27FC236}">
                <a16:creationId xmlns:a16="http://schemas.microsoft.com/office/drawing/2014/main" id="{CB83BF55-49AB-4CA2-BA21-709192F8766D}"/>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BDCEC5"/>
                </a:solidFill>
                <a:latin typeface="Arial"/>
                <a:ea typeface="Arial"/>
                <a:cs typeface="Arial"/>
              </a:defRPr>
            </a:defPPr>
            <a:lvl1pPr>
              <a:defRPr sz="900" b="0">
                <a:solidFill>
                  <a:srgbClr val="BDCEC5"/>
                </a:solidFill>
                <a:latin typeface="Arial"/>
                <a:ea typeface="Arial"/>
                <a:cs typeface="Arial"/>
              </a:defRPr>
            </a:lvl1pPr>
            <a:lvl2pPr>
              <a:defRPr sz="900" b="0">
                <a:solidFill>
                  <a:srgbClr val="BDCEC5"/>
                </a:solidFill>
                <a:latin typeface="Arial"/>
                <a:ea typeface="Arial"/>
                <a:cs typeface="Arial"/>
              </a:defRPr>
            </a:lvl2pPr>
            <a:lvl3pPr>
              <a:defRPr sz="900" b="0">
                <a:solidFill>
                  <a:srgbClr val="BDCEC5"/>
                </a:solidFill>
                <a:latin typeface="Arial"/>
                <a:ea typeface="Arial"/>
                <a:cs typeface="Arial"/>
              </a:defRPr>
            </a:lvl3pPr>
            <a:lvl4pPr>
              <a:defRPr sz="900" b="0">
                <a:solidFill>
                  <a:srgbClr val="BDCEC5"/>
                </a:solidFill>
                <a:latin typeface="Arial"/>
                <a:ea typeface="Arial"/>
                <a:cs typeface="Arial"/>
              </a:defRPr>
            </a:lvl4pPr>
            <a:lvl5pPr>
              <a:defRPr sz="900" b="0">
                <a:solidFill>
                  <a:srgbClr val="BDCEC5"/>
                </a:solidFill>
                <a:latin typeface="Arial"/>
                <a:ea typeface="Arial"/>
                <a:cs typeface="Arial"/>
              </a:defRPr>
            </a:lvl5pPr>
            <a:lvl6pPr>
              <a:defRPr sz="900" b="0">
                <a:solidFill>
                  <a:srgbClr val="BDCEC5"/>
                </a:solidFill>
                <a:latin typeface="Arial"/>
                <a:ea typeface="Arial"/>
                <a:cs typeface="Arial"/>
              </a:defRPr>
            </a:lvl6pPr>
            <a:lvl7pPr>
              <a:defRPr sz="900" b="0">
                <a:solidFill>
                  <a:srgbClr val="BDCEC5"/>
                </a:solidFill>
                <a:latin typeface="Arial"/>
                <a:ea typeface="Arial"/>
                <a:cs typeface="Arial"/>
              </a:defRPr>
            </a:lvl7pPr>
            <a:lvl8pPr>
              <a:defRPr sz="900" b="0">
                <a:solidFill>
                  <a:srgbClr val="BDCEC5"/>
                </a:solidFill>
                <a:latin typeface="Arial"/>
                <a:ea typeface="Arial"/>
                <a:cs typeface="Arial"/>
              </a:defRPr>
            </a:lvl8pPr>
            <a:lvl9pPr>
              <a:defRPr sz="900" b="0">
                <a:solidFill>
                  <a:srgbClr val="BDCEC5"/>
                </a:solidFill>
                <a:latin typeface="Arial"/>
                <a:ea typeface="Arial"/>
                <a:cs typeface="Arial"/>
              </a:defRPr>
            </a:lvl9pPr>
          </a:lstStyle>
          <a:p xmlns:a="http://schemas.openxmlformats.org/drawingml/2006/main">
            <a:pPr>
              <a:defRPr sz="900" b="0">
                <a:solidFill>
                  <a:srgbClr val="BDCEC5"/>
                </a:solidFill>
                <a:latin typeface="Arial"/>
                <a:ea typeface="Arial"/>
                <a:cs typeface="Arial"/>
              </a:defRPr>
            </a:pPr>
            <a:r>
              <a:rPr sz="900" b="0">
                <a:solidFill>
                  <a:srgbClr val="BDCEC5"/>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911EE8C4-3C91-4ED4-B262-986E39D0010F}"/>
              </a:ext>
            </a:extLst>
          </p:cNvPr>
          <p:cNvGraphicFramePr/>
          <p:nvPr/>
        </p:nvGraphicFramePr>
        <p:xfrm>
          <a:off xmlns:a="http://schemas.openxmlformats.org/drawingml/2006/main" x="609600" y="1809750"/>
          <a:ext xmlns:a="http://schemas.openxmlformats.org/drawingml/2006/main" cx="10972800" cy="2933700"/>
        </p:xfrm>
        <a:graphic xmlns:a="http://schemas.openxmlformats.org/drawingml/2006/main">
          <a:graphicData uri="http://schemas.openxmlformats.org/drawingml/2006/table">
            <a:tbl>
              <a:tblPr/>
              <a:tblGrid>
                <a:gridCol w="3048000"/>
                <a:gridCol w="4095750"/>
                <a:gridCol w="3829050"/>
              </a:tblGrid>
              <a:tr h="590550">
                <a:tc>
                  <a:txBody>
                    <a:bodyPr>
                      <a:noAutofit/>
                    </a:bodyPr>
                    <a:lstStyle/>
                    <a:p>
                      <a:r>
                        <a:rPr sz="1650" b="1">
                          <a:solidFill>
                            <a:srgbClr val="FFFFFF"/>
                          </a:solidFill>
                          <a:latin typeface="Arial"/>
                          <a:ea typeface="Arial"/>
                          <a:cs typeface="Arial"/>
                        </a:rPr>
                        <a:t>Potential benefit</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650" b="1">
                          <a:solidFill>
                            <a:srgbClr val="FFFFFF"/>
                          </a:solidFill>
                          <a:latin typeface="Arial"/>
                          <a:ea typeface="Arial"/>
                          <a:cs typeface="Arial"/>
                        </a:rPr>
                        <a:t>Measure and denominator</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650" b="1">
                          <a:solidFill>
                            <a:srgbClr val="FFFFFF"/>
                          </a:solidFill>
                          <a:latin typeface="Arial"/>
                          <a:ea typeface="Arial"/>
                          <a:cs typeface="Arial"/>
                        </a:rPr>
                        <a:t>Evidence still needed</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r>
              <a:tr h="590550">
                <a:tc>
                  <a:txBody>
                    <a:bodyPr>
                      <a:noAutofit/>
                    </a:bodyPr>
                    <a:lstStyle/>
                    <a:p>
                      <a:r>
                        <a:rPr sz="1650" b="0">
                          <a:solidFill>
                            <a:srgbClr val="FFFFFF"/>
                          </a:solidFill>
                          <a:latin typeface="Arial"/>
                          <a:ea typeface="Arial"/>
                          <a:cs typeface="Arial"/>
                        </a:rPr>
                        <a:t>Useful temporary access</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Genuine fulfilled requests / eligible requests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Dated records and failed attempts</a:t>
                      </a:r>
                    </a:p>
                  </a:txBody>
                  <a:tcPr marL="91440" marR="91440" marT="45720" marB="45720">
                    <a:lnR w="9525">
                      <a:solidFill>
                        <a:srgbClr val="416250"/>
                      </a:solidFill>
                      <a:prstDash val="solid"/>
                    </a:lnR>
                    <a:lnB w="9525">
                      <a:solidFill>
                        <a:srgbClr val="416250"/>
                      </a:solidFill>
                      <a:prstDash val="solid"/>
                    </a:lnB>
                    <a:solidFill>
                      <a:srgbClr val="11221C"/>
                    </a:solidFill>
                  </a:tcPr>
                </a:tc>
              </a:tr>
              <a:tr h="590550">
                <a:tc>
                  <a:txBody>
                    <a:bodyPr>
                      <a:noAutofit/>
                    </a:bodyPr>
                    <a:lstStyle/>
                    <a:p>
                      <a:r>
                        <a:rPr sz="1650" b="0">
                          <a:solidFill>
                            <a:srgbClr val="FFFFFF"/>
                          </a:solidFill>
                          <a:latin typeface="Arial"/>
                          <a:ea typeface="Arial"/>
                          <a:cs typeface="Arial"/>
                        </a:rPr>
                        <a:t>Reduced purchase burden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Users who would otherwise buy / completed temporary uses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Consented counterfactual answer and total cost</a:t>
                      </a:r>
                    </a:p>
                  </a:txBody>
                  <a:tcPr marL="91440" marR="91440" marT="45720" marB="45720">
                    <a:lnR w="9525">
                      <a:solidFill>
                        <a:srgbClr val="416250"/>
                      </a:solidFill>
                      <a:prstDash val="solid"/>
                    </a:lnR>
                    <a:lnB w="9525">
                      <a:solidFill>
                        <a:srgbClr val="416250"/>
                      </a:solidFill>
                      <a:prstDash val="solid"/>
                    </a:lnB>
                    <a:solidFill>
                      <a:srgbClr val="11221C"/>
                    </a:solidFill>
                  </a:tcPr>
                </a:tc>
              </a:tr>
              <a:tr h="590550">
                <a:tc>
                  <a:txBody>
                    <a:bodyPr>
                      <a:noAutofit/>
                    </a:bodyPr>
                    <a:lstStyle/>
                    <a:p>
                      <a:r>
                        <a:rPr sz="1650" b="0">
                          <a:solidFill>
                            <a:srgbClr val="FFFFFF"/>
                          </a:solidFill>
                          <a:latin typeface="Arial"/>
                          <a:ea typeface="Arial"/>
                          <a:cs typeface="Arial"/>
                        </a:rPr>
                        <a:t>Less coordination effort</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Time to agreed handoff for the same task</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Comparable start/end timing and failures</a:t>
                      </a:r>
                    </a:p>
                  </a:txBody>
                  <a:tcPr marL="91440" marR="91440" marT="45720" marB="45720">
                    <a:lnR w="9525">
                      <a:solidFill>
                        <a:srgbClr val="416250"/>
                      </a:solidFill>
                      <a:prstDash val="solid"/>
                    </a:lnR>
                    <a:lnB w="9525">
                      <a:solidFill>
                        <a:srgbClr val="416250"/>
                      </a:solidFill>
                      <a:prstDash val="solid"/>
                    </a:lnB>
                    <a:solidFill>
                      <a:srgbClr val="11221C"/>
                    </a:solidFill>
                  </a:tcPr>
                </a:tc>
              </a:tr>
              <a:tr h="590550">
                <a:tc>
                  <a:txBody>
                    <a:bodyPr>
                      <a:noAutofit/>
                    </a:bodyPr>
                    <a:lstStyle/>
                    <a:p>
                      <a:r>
                        <a:rPr sz="1650" b="0">
                          <a:solidFill>
                            <a:srgbClr val="FFFFFF"/>
                          </a:solidFill>
                          <a:latin typeface="Arial"/>
                          <a:ea typeface="Arial"/>
                          <a:cs typeface="Arial"/>
                        </a:rPr>
                        <a:t>Safe, voluntary participation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Opt-out completion and disputes / observed tasks</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650" b="0">
                          <a:solidFill>
                            <a:srgbClr val="FFFFFF"/>
                          </a:solidFill>
                          <a:latin typeface="Arial"/>
                          <a:ea typeface="Arial"/>
                          <a:cs typeface="Arial"/>
                        </a:rPr>
                        <a:t>Task observations and incident records</a:t>
                      </a:r>
                    </a:p>
                  </a:txBody>
                  <a:tcPr marL="91440" marR="91440" marT="45720" marB="45720">
                    <a:lnR w="9525">
                      <a:solidFill>
                        <a:srgbClr val="416250"/>
                      </a:solidFill>
                      <a:prstDash val="solid"/>
                    </a:lnR>
                    <a:lnB w="9525">
                      <a:solidFill>
                        <a:srgbClr val="416250"/>
                      </a:solidFill>
                      <a:prstDash val="solid"/>
                    </a:lnB>
                    <a:solidFill>
                      <a:srgbClr val="11221C"/>
                    </a:solidFill>
                  </a:tcPr>
                </a:tc>
              </a:tr>
            </a:tbl>
          </a:graphicData>
        </a:graphic>
      </p:graphicFrame>
      <p:sp>
        <p:nvSpPr>
          <p:cNvPr id="6" name="">
            <a:extLst xmlns:a="http://schemas.openxmlformats.org/drawingml/2006/main">
              <a:ext uri="{FF2B5EF4-FFF2-40B4-BE49-F238E27FC236}">
                <a16:creationId xmlns:a16="http://schemas.microsoft.com/office/drawing/2014/main" id="{402F8FEE-6340-4C41-9B10-DBBC5AD22303}"/>
              </a:ext>
            </a:extLst>
          </p:cNvPr>
          <p:cNvSpPr>
            <a:spLocks xmlns:a="http://schemas.openxmlformats.org/drawingml/2006/main" noGrp="1"/>
          </p:cNvSpPr>
          <p:nvPr/>
        </p:nvSpPr>
        <p:spPr>
          <a:xfrm xmlns:a="http://schemas.openxmlformats.org/drawingml/2006/main">
            <a:off x="609600" y="5124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D6E58A"/>
                </a:solidFill>
                <a:latin typeface="Arial"/>
                <a:ea typeface="Arial"/>
                <a:cs typeface="Arial"/>
              </a:defRPr>
            </a:defPPr>
            <a:lvl1pPr>
              <a:defRPr sz="2175" b="1">
                <a:solidFill>
                  <a:srgbClr val="D6E58A"/>
                </a:solidFill>
                <a:latin typeface="Arial"/>
                <a:ea typeface="Arial"/>
                <a:cs typeface="Arial"/>
              </a:defRPr>
            </a:lvl1pPr>
            <a:lvl2pPr>
              <a:defRPr sz="2175" b="1">
                <a:solidFill>
                  <a:srgbClr val="D6E58A"/>
                </a:solidFill>
                <a:latin typeface="Arial"/>
                <a:ea typeface="Arial"/>
                <a:cs typeface="Arial"/>
              </a:defRPr>
            </a:lvl2pPr>
            <a:lvl3pPr>
              <a:defRPr sz="2175" b="1">
                <a:solidFill>
                  <a:srgbClr val="D6E58A"/>
                </a:solidFill>
                <a:latin typeface="Arial"/>
                <a:ea typeface="Arial"/>
                <a:cs typeface="Arial"/>
              </a:defRPr>
            </a:lvl3pPr>
            <a:lvl4pPr>
              <a:defRPr sz="2175" b="1">
                <a:solidFill>
                  <a:srgbClr val="D6E58A"/>
                </a:solidFill>
                <a:latin typeface="Arial"/>
                <a:ea typeface="Arial"/>
                <a:cs typeface="Arial"/>
              </a:defRPr>
            </a:lvl4pPr>
            <a:lvl5pPr>
              <a:defRPr sz="2175" b="1">
                <a:solidFill>
                  <a:srgbClr val="D6E58A"/>
                </a:solidFill>
                <a:latin typeface="Arial"/>
                <a:ea typeface="Arial"/>
                <a:cs typeface="Arial"/>
              </a:defRPr>
            </a:lvl5pPr>
            <a:lvl6pPr>
              <a:defRPr sz="2175" b="1">
                <a:solidFill>
                  <a:srgbClr val="D6E58A"/>
                </a:solidFill>
                <a:latin typeface="Arial"/>
                <a:ea typeface="Arial"/>
                <a:cs typeface="Arial"/>
              </a:defRPr>
            </a:lvl6pPr>
            <a:lvl7pPr>
              <a:defRPr sz="2175" b="1">
                <a:solidFill>
                  <a:srgbClr val="D6E58A"/>
                </a:solidFill>
                <a:latin typeface="Arial"/>
                <a:ea typeface="Arial"/>
                <a:cs typeface="Arial"/>
              </a:defRPr>
            </a:lvl7pPr>
            <a:lvl8pPr>
              <a:defRPr sz="2175" b="1">
                <a:solidFill>
                  <a:srgbClr val="D6E58A"/>
                </a:solidFill>
                <a:latin typeface="Arial"/>
                <a:ea typeface="Arial"/>
                <a:cs typeface="Arial"/>
              </a:defRPr>
            </a:lvl8pPr>
            <a:lvl9pPr>
              <a:defRPr sz="2175" b="1">
                <a:solidFill>
                  <a:srgbClr val="D6E58A"/>
                </a:solidFill>
                <a:latin typeface="Arial"/>
                <a:ea typeface="Arial"/>
                <a:cs typeface="Arial"/>
              </a:defRPr>
            </a:lvl9pPr>
          </a:lstStyle>
          <a:p xmlns:a="http://schemas.openxmlformats.org/drawingml/2006/main">
            <a:pPr>
              <a:defRPr sz="2175" b="1">
                <a:solidFill>
                  <a:srgbClr val="D6E58A"/>
                </a:solidFill>
                <a:latin typeface="Arial"/>
                <a:ea typeface="Arial"/>
                <a:cs typeface="Arial"/>
              </a:defRPr>
            </a:pPr>
            <a:r>
              <a:rPr sz="2175" b="1">
                <a:solidFill>
                  <a:srgbClr val="D6E58A"/>
                </a:solidFill>
                <a:latin typeface="Arial"/>
                <a:ea typeface="Arial"/>
                <a:cs typeface="Arial"/>
              </a:rPr>
              <a:t>No avoided purchases or carbon savings have been measured.</a:t>
            </a:r>
          </a:p>
        </p:txBody>
      </p:sp>
      <p:sp>
        <p:nvSpPr>
          <p:cNvPr id="7" name="">
            <a:extLst xmlns:a="http://schemas.openxmlformats.org/drawingml/2006/main">
              <a:ext uri="{FF2B5EF4-FFF2-40B4-BE49-F238E27FC236}">
                <a16:creationId xmlns:a16="http://schemas.microsoft.com/office/drawing/2014/main" id="{4E6C2DC7-3CC1-41CD-BBFA-36C48231FAE3}"/>
              </a:ext>
            </a:extLst>
          </p:cNvPr>
          <p:cNvSpPr>
            <a:spLocks xmlns:a="http://schemas.openxmlformats.org/drawingml/2006/main" noGrp="1"/>
          </p:cNvSpPr>
          <p:nvPr/>
        </p:nvSpPr>
        <p:spPr>
          <a:xfrm xmlns:a="http://schemas.openxmlformats.org/drawingml/2006/main">
            <a:off x="609600" y="57245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Retain negative outcomes. Count requests separately from people and borrowing separately</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from purchases. A small pilot can test usefulness without implying campus-wide impact.</a:t>
            </a:r>
          </a:p>
        </p:txBody>
      </p:sp>
    </p:spTree>
    <p:extLst>
      <p:ext uri="{BB962C8B-B14F-4D97-AF65-F5344CB8AC3E}">
        <p14:creationId xmlns:p14="http://schemas.microsoft.com/office/powerpoint/2010/main" val="4003543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A62A4C-88C4-4341-B47F-87A9135C231E}"/>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E00AE90B-1E2B-45B7-B0E0-626EA6EA1BD5}"/>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172B24"/>
                </a:solidFill>
                <a:latin typeface="Arial"/>
                <a:ea typeface="Arial"/>
                <a:cs typeface="Arial"/>
              </a:defRPr>
            </a:defPPr>
            <a:lvl1pPr>
              <a:defRPr sz="3600" b="1">
                <a:solidFill>
                  <a:srgbClr val="172B24"/>
                </a:solidFill>
                <a:latin typeface="Arial"/>
                <a:ea typeface="Arial"/>
                <a:cs typeface="Arial"/>
              </a:defRPr>
            </a:lvl1pPr>
            <a:lvl2pPr>
              <a:defRPr sz="3600" b="1">
                <a:solidFill>
                  <a:srgbClr val="172B24"/>
                </a:solidFill>
                <a:latin typeface="Arial"/>
                <a:ea typeface="Arial"/>
                <a:cs typeface="Arial"/>
              </a:defRPr>
            </a:lvl2pPr>
            <a:lvl3pPr>
              <a:defRPr sz="3600" b="1">
                <a:solidFill>
                  <a:srgbClr val="172B24"/>
                </a:solidFill>
                <a:latin typeface="Arial"/>
                <a:ea typeface="Arial"/>
                <a:cs typeface="Arial"/>
              </a:defRPr>
            </a:lvl3pPr>
            <a:lvl4pPr>
              <a:defRPr sz="3600" b="1">
                <a:solidFill>
                  <a:srgbClr val="172B24"/>
                </a:solidFill>
                <a:latin typeface="Arial"/>
                <a:ea typeface="Arial"/>
                <a:cs typeface="Arial"/>
              </a:defRPr>
            </a:lvl4pPr>
            <a:lvl5pPr>
              <a:defRPr sz="3600" b="1">
                <a:solidFill>
                  <a:srgbClr val="172B24"/>
                </a:solidFill>
                <a:latin typeface="Arial"/>
                <a:ea typeface="Arial"/>
                <a:cs typeface="Arial"/>
              </a:defRPr>
            </a:lvl5pPr>
            <a:lvl6pPr>
              <a:defRPr sz="3600" b="1">
                <a:solidFill>
                  <a:srgbClr val="172B24"/>
                </a:solidFill>
                <a:latin typeface="Arial"/>
                <a:ea typeface="Arial"/>
                <a:cs typeface="Arial"/>
              </a:defRPr>
            </a:lvl6pPr>
            <a:lvl7pPr>
              <a:defRPr sz="3600" b="1">
                <a:solidFill>
                  <a:srgbClr val="172B24"/>
                </a:solidFill>
                <a:latin typeface="Arial"/>
                <a:ea typeface="Arial"/>
                <a:cs typeface="Arial"/>
              </a:defRPr>
            </a:lvl7pPr>
            <a:lvl8pPr>
              <a:defRPr sz="3600" b="1">
                <a:solidFill>
                  <a:srgbClr val="172B24"/>
                </a:solidFill>
                <a:latin typeface="Arial"/>
                <a:ea typeface="Arial"/>
                <a:cs typeface="Arial"/>
              </a:defRPr>
            </a:lvl8pPr>
            <a:lvl9pPr>
              <a:defRPr sz="3600" b="1">
                <a:solidFill>
                  <a:srgbClr val="172B24"/>
                </a:solidFill>
                <a:latin typeface="Arial"/>
                <a:ea typeface="Arial"/>
                <a:cs typeface="Arial"/>
              </a:defRPr>
            </a:lvl9pPr>
          </a:lstStyle>
          <a:p xmlns:a="http://schemas.openxmlformats.org/drawingml/2006/main">
            <a:pPr>
              <a:defRPr sz="3600" b="1">
                <a:solidFill>
                  <a:srgbClr val="172B24"/>
                </a:solidFill>
                <a:latin typeface="Arial"/>
                <a:ea typeface="Arial"/>
                <a:cs typeface="Arial"/>
              </a:defRPr>
            </a:pPr>
            <a:r>
              <a:rPr sz="3600" b="1">
                <a:solidFill>
                  <a:srgbClr val="172B24"/>
                </a:solidFill>
                <a:latin typeface="Arial"/>
                <a:ea typeface="Arial"/>
                <a:cs typeface="Arial"/>
              </a:rPr>
              <a:t>Financial Outlook &amp; Funding</a:t>
            </a:r>
          </a:p>
        </p:txBody>
      </p:sp>
      <p:sp>
        <p:nvSpPr>
          <p:cNvPr id="3" name="">
            <a:extLst xmlns:a="http://schemas.openxmlformats.org/drawingml/2006/main">
              <a:ext uri="{FF2B5EF4-FFF2-40B4-BE49-F238E27FC236}">
                <a16:creationId xmlns:a16="http://schemas.microsoft.com/office/drawing/2014/main" id="{2277C1C0-9937-418F-9362-9ACBCBFF0C32}"/>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11 / 12</a:t>
            </a:r>
          </a:p>
        </p:txBody>
      </p:sp>
      <p:sp>
        <p:nvSpPr>
          <p:cNvPr id="4" name="">
            <a:extLst xmlns:a="http://schemas.openxmlformats.org/drawingml/2006/main">
              <a:ext uri="{FF2B5EF4-FFF2-40B4-BE49-F238E27FC236}">
                <a16:creationId xmlns:a16="http://schemas.microsoft.com/office/drawing/2014/main" id="{015F4A38-D0A8-4F4A-850C-5FF66BE5AB60}"/>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5C6A63"/>
                </a:solidFill>
                <a:latin typeface="Arial"/>
                <a:ea typeface="Arial"/>
                <a:cs typeface="Arial"/>
              </a:defRPr>
            </a:defPPr>
            <a:lvl1pPr>
              <a:defRPr sz="900" b="0">
                <a:solidFill>
                  <a:srgbClr val="5C6A63"/>
                </a:solidFill>
                <a:latin typeface="Arial"/>
                <a:ea typeface="Arial"/>
                <a:cs typeface="Arial"/>
              </a:defRPr>
            </a:lvl1pPr>
            <a:lvl2pPr>
              <a:defRPr sz="900" b="0">
                <a:solidFill>
                  <a:srgbClr val="5C6A63"/>
                </a:solidFill>
                <a:latin typeface="Arial"/>
                <a:ea typeface="Arial"/>
                <a:cs typeface="Arial"/>
              </a:defRPr>
            </a:lvl2pPr>
            <a:lvl3pPr>
              <a:defRPr sz="900" b="0">
                <a:solidFill>
                  <a:srgbClr val="5C6A63"/>
                </a:solidFill>
                <a:latin typeface="Arial"/>
                <a:ea typeface="Arial"/>
                <a:cs typeface="Arial"/>
              </a:defRPr>
            </a:lvl3pPr>
            <a:lvl4pPr>
              <a:defRPr sz="900" b="0">
                <a:solidFill>
                  <a:srgbClr val="5C6A63"/>
                </a:solidFill>
                <a:latin typeface="Arial"/>
                <a:ea typeface="Arial"/>
                <a:cs typeface="Arial"/>
              </a:defRPr>
            </a:lvl4pPr>
            <a:lvl5pPr>
              <a:defRPr sz="900" b="0">
                <a:solidFill>
                  <a:srgbClr val="5C6A63"/>
                </a:solidFill>
                <a:latin typeface="Arial"/>
                <a:ea typeface="Arial"/>
                <a:cs typeface="Arial"/>
              </a:defRPr>
            </a:lvl5pPr>
            <a:lvl6pPr>
              <a:defRPr sz="900" b="0">
                <a:solidFill>
                  <a:srgbClr val="5C6A63"/>
                </a:solidFill>
                <a:latin typeface="Arial"/>
                <a:ea typeface="Arial"/>
                <a:cs typeface="Arial"/>
              </a:defRPr>
            </a:lvl6pPr>
            <a:lvl7pPr>
              <a:defRPr sz="900" b="0">
                <a:solidFill>
                  <a:srgbClr val="5C6A63"/>
                </a:solidFill>
                <a:latin typeface="Arial"/>
                <a:ea typeface="Arial"/>
                <a:cs typeface="Arial"/>
              </a:defRPr>
            </a:lvl7pPr>
            <a:lvl8pPr>
              <a:defRPr sz="900" b="0">
                <a:solidFill>
                  <a:srgbClr val="5C6A63"/>
                </a:solidFill>
                <a:latin typeface="Arial"/>
                <a:ea typeface="Arial"/>
                <a:cs typeface="Arial"/>
              </a:defRPr>
            </a:lvl8pPr>
            <a:lvl9pPr>
              <a:defRPr sz="900" b="0">
                <a:solidFill>
                  <a:srgbClr val="5C6A63"/>
                </a:solidFill>
                <a:latin typeface="Arial"/>
                <a:ea typeface="Arial"/>
                <a:cs typeface="Arial"/>
              </a:defRPr>
            </a:lvl9pPr>
          </a:lstStyle>
          <a:p xmlns:a="http://schemas.openxmlformats.org/drawingml/2006/main">
            <a:pPr>
              <a:defRPr sz="900" b="0">
                <a:solidFill>
                  <a:srgbClr val="5C6A63"/>
                </a:solidFill>
                <a:latin typeface="Arial"/>
                <a:ea typeface="Arial"/>
                <a:cs typeface="Arial"/>
              </a:defRPr>
            </a:pPr>
            <a:r>
              <a:rPr sz="900" b="0">
                <a:solidFill>
                  <a:srgbClr val="5C6A63"/>
                </a:solidFill>
                <a:latin typeface="Arial"/>
                <a:ea typeface="Arial"/>
                <a:cs typeface="Arial"/>
              </a:rPr>
              <a:t>Working snapshot: 20 Oct 2026. Refresh before March 2027.</a:t>
            </a:r>
          </a:p>
        </p:txBody>
      </p:sp>
      <p:graphicFrame>
        <p:nvGraphicFramePr>
          <p:cNvPr id="5" name="Chart">
            <a:extLst xmlns:a="http://schemas.openxmlformats.org/drawingml/2006/main">
              <a:ext uri="{FF2B5EF4-FFF2-40B4-BE49-F238E27FC236}">
                <a16:creationId xmlns:a16="http://schemas.microsoft.com/office/drawing/2014/main" id="{A70D6FA1-A7E5-4BCA-85B5-7EA6FC41F1AF}"/>
              </a:ext>
            </a:extLst>
          </p:cNvPr>
          <p:cNvGraphicFramePr/>
          <p:nvPr/>
        </p:nvGraphicFramePr>
        <p:xfrm>
          <a:off xmlns:a="http://schemas.openxmlformats.org/drawingml/2006/main" x="609600" y="1809750"/>
          <a:ext xmlns:a="http://schemas.openxmlformats.org/drawingml/2006/main" cx="5619750" cy="2857500"/>
        </p:xfrm>
        <a:graphic xmlns:a="http://schemas.openxmlformats.org/drawingml/2006/main">
          <a:graphicData uri="http://schemas.openxmlformats.org/drawingml/2006/chart">
            <c:chart xmlns:r="http://schemas.openxmlformats.org/officeDocument/2006/relationships" xmlns:c="http://schemas.openxmlformats.org/drawingml/2006/chart" r:id="Rbb901200b64f4964"/>
          </a:graphicData>
        </a:graphic>
      </p:graphicFrame>
      <p:sp>
        <p:nvSpPr>
          <p:cNvPr id="6" name="">
            <a:extLst xmlns:a="http://schemas.openxmlformats.org/drawingml/2006/main">
              <a:ext uri="{FF2B5EF4-FFF2-40B4-BE49-F238E27FC236}">
                <a16:creationId xmlns:a16="http://schemas.microsoft.com/office/drawing/2014/main" id="{75E9FCF0-1DC8-42D3-99E6-52AC76B3FD10}"/>
              </a:ext>
            </a:extLst>
          </p:cNvPr>
          <p:cNvSpPr>
            <a:spLocks xmlns:a="http://schemas.openxmlformats.org/drawingml/2006/main" noGrp="1"/>
          </p:cNvSpPr>
          <p:nvPr/>
        </p:nvSpPr>
        <p:spPr>
          <a:xfrm xmlns:a="http://schemas.openxmlformats.org/drawingml/2006/main">
            <a:off x="6924675" y="1809750"/>
            <a:ext cx="4657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24634D"/>
                </a:solidFill>
                <a:latin typeface="Arial"/>
                <a:ea typeface="Arial"/>
                <a:cs typeface="Arial"/>
              </a:defRPr>
            </a:defPPr>
            <a:lvl1pPr>
              <a:defRPr sz="3150" b="1">
                <a:solidFill>
                  <a:srgbClr val="24634D"/>
                </a:solidFill>
                <a:latin typeface="Arial"/>
                <a:ea typeface="Arial"/>
                <a:cs typeface="Arial"/>
              </a:defRPr>
            </a:lvl1pPr>
            <a:lvl2pPr>
              <a:defRPr sz="3150" b="1">
                <a:solidFill>
                  <a:srgbClr val="24634D"/>
                </a:solidFill>
                <a:latin typeface="Arial"/>
                <a:ea typeface="Arial"/>
                <a:cs typeface="Arial"/>
              </a:defRPr>
            </a:lvl2pPr>
            <a:lvl3pPr>
              <a:defRPr sz="3150" b="1">
                <a:solidFill>
                  <a:srgbClr val="24634D"/>
                </a:solidFill>
                <a:latin typeface="Arial"/>
                <a:ea typeface="Arial"/>
                <a:cs typeface="Arial"/>
              </a:defRPr>
            </a:lvl3pPr>
            <a:lvl4pPr>
              <a:defRPr sz="3150" b="1">
                <a:solidFill>
                  <a:srgbClr val="24634D"/>
                </a:solidFill>
                <a:latin typeface="Arial"/>
                <a:ea typeface="Arial"/>
                <a:cs typeface="Arial"/>
              </a:defRPr>
            </a:lvl4pPr>
            <a:lvl5pPr>
              <a:defRPr sz="3150" b="1">
                <a:solidFill>
                  <a:srgbClr val="24634D"/>
                </a:solidFill>
                <a:latin typeface="Arial"/>
                <a:ea typeface="Arial"/>
                <a:cs typeface="Arial"/>
              </a:defRPr>
            </a:lvl5pPr>
            <a:lvl6pPr>
              <a:defRPr sz="3150" b="1">
                <a:solidFill>
                  <a:srgbClr val="24634D"/>
                </a:solidFill>
                <a:latin typeface="Arial"/>
                <a:ea typeface="Arial"/>
                <a:cs typeface="Arial"/>
              </a:defRPr>
            </a:lvl6pPr>
            <a:lvl7pPr>
              <a:defRPr sz="3150" b="1">
                <a:solidFill>
                  <a:srgbClr val="24634D"/>
                </a:solidFill>
                <a:latin typeface="Arial"/>
                <a:ea typeface="Arial"/>
                <a:cs typeface="Arial"/>
              </a:defRPr>
            </a:lvl7pPr>
            <a:lvl8pPr>
              <a:defRPr sz="3150" b="1">
                <a:solidFill>
                  <a:srgbClr val="24634D"/>
                </a:solidFill>
                <a:latin typeface="Arial"/>
                <a:ea typeface="Arial"/>
                <a:cs typeface="Arial"/>
              </a:defRPr>
            </a:lvl8pPr>
            <a:lvl9pPr>
              <a:defRPr sz="3150" b="1">
                <a:solidFill>
                  <a:srgbClr val="24634D"/>
                </a:solidFill>
                <a:latin typeface="Arial"/>
                <a:ea typeface="Arial"/>
                <a:cs typeface="Arial"/>
              </a:defRPr>
            </a:lvl9pPr>
          </a:lstStyle>
          <a:p xmlns:a="http://schemas.openxmlformats.org/drawingml/2006/main">
            <a:pPr>
              <a:defRPr sz="3150" b="1">
                <a:solidFill>
                  <a:srgbClr val="24634D"/>
                </a:solidFill>
                <a:latin typeface="Arial"/>
                <a:ea typeface="Arial"/>
                <a:cs typeface="Arial"/>
              </a:defRPr>
            </a:pPr>
            <a:r>
              <a:rPr sz="3150" b="1">
                <a:solidFill>
                  <a:srgbClr val="24634D"/>
                </a:solidFill>
                <a:latin typeface="Arial"/>
                <a:ea typeface="Arial"/>
                <a:cs typeface="Arial"/>
              </a:rPr>
              <a:t>CNY900 proposed</a:t>
            </a:r>
          </a:p>
        </p:txBody>
      </p:sp>
      <p:sp>
        <p:nvSpPr>
          <p:cNvPr id="7" name="">
            <a:extLst xmlns:a="http://schemas.openxmlformats.org/drawingml/2006/main">
              <a:ext uri="{FF2B5EF4-FFF2-40B4-BE49-F238E27FC236}">
                <a16:creationId xmlns:a16="http://schemas.microsoft.com/office/drawing/2014/main" id="{730E8DD7-4F61-4C5C-9540-1B17C08FE78D}"/>
              </a:ext>
            </a:extLst>
          </p:cNvPr>
          <p:cNvSpPr>
            <a:spLocks xmlns:a="http://schemas.openxmlformats.org/drawingml/2006/main" noGrp="1"/>
          </p:cNvSpPr>
          <p:nvPr/>
        </p:nvSpPr>
        <p:spPr>
          <a:xfrm xmlns:a="http://schemas.openxmlformats.org/drawingml/2006/main">
            <a:off x="6924675" y="261937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72B24"/>
                </a:solidFill>
                <a:latin typeface="Arial"/>
                <a:ea typeface="Arial"/>
                <a:cs typeface="Arial"/>
              </a:defRPr>
            </a:defPPr>
            <a:lvl1pPr>
              <a:defRPr sz="1875" b="0">
                <a:solidFill>
                  <a:srgbClr val="172B24"/>
                </a:solidFill>
                <a:latin typeface="Arial"/>
                <a:ea typeface="Arial"/>
                <a:cs typeface="Arial"/>
              </a:defRPr>
            </a:lvl1pPr>
            <a:lvl2pPr>
              <a:defRPr sz="1875" b="0">
                <a:solidFill>
                  <a:srgbClr val="172B24"/>
                </a:solidFill>
                <a:latin typeface="Arial"/>
                <a:ea typeface="Arial"/>
                <a:cs typeface="Arial"/>
              </a:defRPr>
            </a:lvl2pPr>
            <a:lvl3pPr>
              <a:defRPr sz="1875" b="0">
                <a:solidFill>
                  <a:srgbClr val="172B24"/>
                </a:solidFill>
                <a:latin typeface="Arial"/>
                <a:ea typeface="Arial"/>
                <a:cs typeface="Arial"/>
              </a:defRPr>
            </a:lvl3pPr>
            <a:lvl4pPr>
              <a:defRPr sz="1875" b="0">
                <a:solidFill>
                  <a:srgbClr val="172B24"/>
                </a:solidFill>
                <a:latin typeface="Arial"/>
                <a:ea typeface="Arial"/>
                <a:cs typeface="Arial"/>
              </a:defRPr>
            </a:lvl4pPr>
            <a:lvl5pPr>
              <a:defRPr sz="1875" b="0">
                <a:solidFill>
                  <a:srgbClr val="172B24"/>
                </a:solidFill>
                <a:latin typeface="Arial"/>
                <a:ea typeface="Arial"/>
                <a:cs typeface="Arial"/>
              </a:defRPr>
            </a:lvl5pPr>
            <a:lvl6pPr>
              <a:defRPr sz="1875" b="0">
                <a:solidFill>
                  <a:srgbClr val="172B24"/>
                </a:solidFill>
                <a:latin typeface="Arial"/>
                <a:ea typeface="Arial"/>
                <a:cs typeface="Arial"/>
              </a:defRPr>
            </a:lvl6pPr>
            <a:lvl7pPr>
              <a:defRPr sz="1875" b="0">
                <a:solidFill>
                  <a:srgbClr val="172B24"/>
                </a:solidFill>
                <a:latin typeface="Arial"/>
                <a:ea typeface="Arial"/>
                <a:cs typeface="Arial"/>
              </a:defRPr>
            </a:lvl7pPr>
            <a:lvl8pPr>
              <a:defRPr sz="1875" b="0">
                <a:solidFill>
                  <a:srgbClr val="172B24"/>
                </a:solidFill>
                <a:latin typeface="Arial"/>
                <a:ea typeface="Arial"/>
                <a:cs typeface="Arial"/>
              </a:defRPr>
            </a:lvl8pPr>
            <a:lvl9pPr>
              <a:defRPr sz="1875" b="0">
                <a:solidFill>
                  <a:srgbClr val="172B24"/>
                </a:solidFill>
                <a:latin typeface="Arial"/>
                <a:ea typeface="Arial"/>
                <a:cs typeface="Arial"/>
              </a:defRPr>
            </a:lvl9pPr>
          </a:lstStyle>
          <a:p xmlns:a="http://schemas.openxmlformats.org/drawingml/2006/main">
            <a:pPr>
              <a:defRPr sz="1875" b="0">
                <a:solidFill>
                  <a:srgbClr val="172B24"/>
                </a:solidFill>
                <a:latin typeface="Arial"/>
                <a:ea typeface="Arial"/>
                <a:cs typeface="Arial"/>
              </a:defRPr>
            </a:pPr>
            <a:r>
              <a:rPr sz="1875" b="0">
                <a:solidFill>
                  <a:srgbClr val="172B24"/>
                </a:solidFill>
                <a:latin typeface="Arial"/>
                <a:ea typeface="Arial"/>
                <a:cs typeface="Arial"/>
              </a:rPr>
              <a:t>CNY200 first release</a:t>
            </a:r>
          </a:p>
          <a:p xmlns:a="http://schemas.openxmlformats.org/drawingml/2006/main">
            <a:pPr>
              <a:defRPr sz="1875" b="0">
                <a:solidFill>
                  <a:srgbClr val="172B24"/>
                </a:solidFill>
                <a:latin typeface="Arial"/>
                <a:ea typeface="Arial"/>
                <a:cs typeface="Arial"/>
              </a:defRPr>
            </a:pPr>
            <a:r>
              <a:rPr sz="1875" b="0">
                <a:solidFill>
                  <a:srgbClr val="172B24"/>
                </a:solidFill>
                <a:latin typeface="Arial"/>
                <a:ea typeface="Arial"/>
                <a:cs typeface="Arial"/>
              </a:rPr>
              <a:t>CNY700 conditional on pilot review</a:t>
            </a:r>
          </a:p>
        </p:txBody>
      </p:sp>
      <p:sp>
        <p:nvSpPr>
          <p:cNvPr id="8" name="">
            <a:extLst xmlns:a="http://schemas.openxmlformats.org/drawingml/2006/main">
              <a:ext uri="{FF2B5EF4-FFF2-40B4-BE49-F238E27FC236}">
                <a16:creationId xmlns:a16="http://schemas.microsoft.com/office/drawing/2014/main" id="{A316A401-335B-4D14-BD2E-2EFA828EDDD5}"/>
              </a:ext>
            </a:extLst>
          </p:cNvPr>
          <p:cNvSpPr>
            <a:spLocks xmlns:a="http://schemas.openxmlformats.org/drawingml/2006/main" noGrp="1"/>
          </p:cNvSpPr>
          <p:nvPr/>
        </p:nvSpPr>
        <p:spPr>
          <a:xfrm xmlns:a="http://schemas.openxmlformats.org/drawingml/2006/main">
            <a:off x="6924675" y="3686175"/>
            <a:ext cx="46577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C6A63"/>
                </a:solidFill>
                <a:latin typeface="Arial"/>
                <a:ea typeface="Arial"/>
                <a:cs typeface="Arial"/>
              </a:defRPr>
            </a:defPPr>
            <a:lvl1pPr>
              <a:defRPr sz="1725" b="0">
                <a:solidFill>
                  <a:srgbClr val="5C6A63"/>
                </a:solidFill>
                <a:latin typeface="Arial"/>
                <a:ea typeface="Arial"/>
                <a:cs typeface="Arial"/>
              </a:defRPr>
            </a:lvl1pPr>
            <a:lvl2pPr>
              <a:defRPr sz="1725" b="0">
                <a:solidFill>
                  <a:srgbClr val="5C6A63"/>
                </a:solidFill>
                <a:latin typeface="Arial"/>
                <a:ea typeface="Arial"/>
                <a:cs typeface="Arial"/>
              </a:defRPr>
            </a:lvl2pPr>
            <a:lvl3pPr>
              <a:defRPr sz="1725" b="0">
                <a:solidFill>
                  <a:srgbClr val="5C6A63"/>
                </a:solidFill>
                <a:latin typeface="Arial"/>
                <a:ea typeface="Arial"/>
                <a:cs typeface="Arial"/>
              </a:defRPr>
            </a:lvl3pPr>
            <a:lvl4pPr>
              <a:defRPr sz="1725" b="0">
                <a:solidFill>
                  <a:srgbClr val="5C6A63"/>
                </a:solidFill>
                <a:latin typeface="Arial"/>
                <a:ea typeface="Arial"/>
                <a:cs typeface="Arial"/>
              </a:defRPr>
            </a:lvl4pPr>
            <a:lvl5pPr>
              <a:defRPr sz="1725" b="0">
                <a:solidFill>
                  <a:srgbClr val="5C6A63"/>
                </a:solidFill>
                <a:latin typeface="Arial"/>
                <a:ea typeface="Arial"/>
                <a:cs typeface="Arial"/>
              </a:defRPr>
            </a:lvl5pPr>
            <a:lvl6pPr>
              <a:defRPr sz="1725" b="0">
                <a:solidFill>
                  <a:srgbClr val="5C6A63"/>
                </a:solidFill>
                <a:latin typeface="Arial"/>
                <a:ea typeface="Arial"/>
                <a:cs typeface="Arial"/>
              </a:defRPr>
            </a:lvl6pPr>
            <a:lvl7pPr>
              <a:defRPr sz="1725" b="0">
                <a:solidFill>
                  <a:srgbClr val="5C6A63"/>
                </a:solidFill>
                <a:latin typeface="Arial"/>
                <a:ea typeface="Arial"/>
                <a:cs typeface="Arial"/>
              </a:defRPr>
            </a:lvl7pPr>
            <a:lvl8pPr>
              <a:defRPr sz="1725" b="0">
                <a:solidFill>
                  <a:srgbClr val="5C6A63"/>
                </a:solidFill>
                <a:latin typeface="Arial"/>
                <a:ea typeface="Arial"/>
                <a:cs typeface="Arial"/>
              </a:defRPr>
            </a:lvl8pPr>
            <a:lvl9pPr>
              <a:defRPr sz="1725" b="0">
                <a:solidFill>
                  <a:srgbClr val="5C6A63"/>
                </a:solidFill>
                <a:latin typeface="Arial"/>
                <a:ea typeface="Arial"/>
                <a:cs typeface="Arial"/>
              </a:defRPr>
            </a:lvl9pPr>
          </a:lstStyle>
          <a:p xmlns:a="http://schemas.openxmlformats.org/drawingml/2006/main">
            <a:pPr>
              <a:defRPr sz="1725" b="0">
                <a:solidFill>
                  <a:srgbClr val="5C6A63"/>
                </a:solidFill>
                <a:latin typeface="Arial"/>
                <a:ea typeface="Arial"/>
                <a:cs typeface="Arial"/>
              </a:defRPr>
            </a:pPr>
            <a:r>
              <a:rPr sz="1725" b="0">
                <a:solidFill>
                  <a:srgbClr val="5C6A63"/>
                </a:solidFill>
                <a:latin typeface="Arial"/>
                <a:ea typeface="Arial"/>
                <a:cs typeface="Arial"/>
              </a:rPr>
              <a:t>Uses: 680 fixed cash, 7.20 variable cash,</a:t>
            </a:r>
          </a:p>
          <a:p xmlns:a="http://schemas.openxmlformats.org/drawingml/2006/main">
            <a:pPr>
              <a:defRPr sz="1725" b="0">
                <a:solidFill>
                  <a:srgbClr val="5C6A63"/>
                </a:solidFill>
                <a:latin typeface="Arial"/>
                <a:ea typeface="Arial"/>
                <a:cs typeface="Arial"/>
              </a:defRPr>
            </a:pPr>
            <a:r>
              <a:rPr sz="1725" b="0">
                <a:solidFill>
                  <a:srgbClr val="5C6A63"/>
                </a:solidFill>
                <a:latin typeface="Arial"/>
                <a:ea typeface="Arial"/>
                <a:cs typeface="Arial"/>
              </a:rPr>
              <a:t>212.80 reserve. No funder is committed.</a:t>
            </a:r>
          </a:p>
        </p:txBody>
      </p:sp>
      <p:sp>
        <p:nvSpPr>
          <p:cNvPr id="9" name="">
            <a:extLst xmlns:a="http://schemas.openxmlformats.org/drawingml/2006/main">
              <a:ext uri="{FF2B5EF4-FFF2-40B4-BE49-F238E27FC236}">
                <a16:creationId xmlns:a16="http://schemas.microsoft.com/office/drawing/2014/main" id="{FA746EEB-9E10-4CA5-9CF9-0F3CBCB1DAEB}"/>
              </a:ext>
            </a:extLst>
          </p:cNvPr>
          <p:cNvSpPr>
            <a:spLocks xmlns:a="http://schemas.openxmlformats.org/drawingml/2006/main" noGrp="1"/>
          </p:cNvSpPr>
          <p:nvPr/>
        </p:nvSpPr>
        <p:spPr>
          <a:xfrm xmlns:a="http://schemas.openxmlformats.org/drawingml/2006/main">
            <a:off x="609600" y="50768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72B24"/>
                </a:solidFill>
                <a:latin typeface="Arial"/>
                <a:ea typeface="Arial"/>
                <a:cs typeface="Arial"/>
              </a:defRPr>
            </a:defPPr>
            <a:lvl1pPr>
              <a:defRPr sz="2025" b="1">
                <a:solidFill>
                  <a:srgbClr val="172B24"/>
                </a:solidFill>
                <a:latin typeface="Arial"/>
                <a:ea typeface="Arial"/>
                <a:cs typeface="Arial"/>
              </a:defRPr>
            </a:lvl1pPr>
            <a:lvl2pPr>
              <a:defRPr sz="2025" b="1">
                <a:solidFill>
                  <a:srgbClr val="172B24"/>
                </a:solidFill>
                <a:latin typeface="Arial"/>
                <a:ea typeface="Arial"/>
                <a:cs typeface="Arial"/>
              </a:defRPr>
            </a:lvl2pPr>
            <a:lvl3pPr>
              <a:defRPr sz="2025" b="1">
                <a:solidFill>
                  <a:srgbClr val="172B24"/>
                </a:solidFill>
                <a:latin typeface="Arial"/>
                <a:ea typeface="Arial"/>
                <a:cs typeface="Arial"/>
              </a:defRPr>
            </a:lvl3pPr>
            <a:lvl4pPr>
              <a:defRPr sz="2025" b="1">
                <a:solidFill>
                  <a:srgbClr val="172B24"/>
                </a:solidFill>
                <a:latin typeface="Arial"/>
                <a:ea typeface="Arial"/>
                <a:cs typeface="Arial"/>
              </a:defRPr>
            </a:lvl4pPr>
            <a:lvl5pPr>
              <a:defRPr sz="2025" b="1">
                <a:solidFill>
                  <a:srgbClr val="172B24"/>
                </a:solidFill>
                <a:latin typeface="Arial"/>
                <a:ea typeface="Arial"/>
                <a:cs typeface="Arial"/>
              </a:defRPr>
            </a:lvl5pPr>
            <a:lvl6pPr>
              <a:defRPr sz="2025" b="1">
                <a:solidFill>
                  <a:srgbClr val="172B24"/>
                </a:solidFill>
                <a:latin typeface="Arial"/>
                <a:ea typeface="Arial"/>
                <a:cs typeface="Arial"/>
              </a:defRPr>
            </a:lvl6pPr>
            <a:lvl7pPr>
              <a:defRPr sz="2025" b="1">
                <a:solidFill>
                  <a:srgbClr val="172B24"/>
                </a:solidFill>
                <a:latin typeface="Arial"/>
                <a:ea typeface="Arial"/>
                <a:cs typeface="Arial"/>
              </a:defRPr>
            </a:lvl7pPr>
            <a:lvl8pPr>
              <a:defRPr sz="2025" b="1">
                <a:solidFill>
                  <a:srgbClr val="172B24"/>
                </a:solidFill>
                <a:latin typeface="Arial"/>
                <a:ea typeface="Arial"/>
                <a:cs typeface="Arial"/>
              </a:defRPr>
            </a:lvl8pPr>
            <a:lvl9pPr>
              <a:defRPr sz="2025" b="1">
                <a:solidFill>
                  <a:srgbClr val="172B24"/>
                </a:solidFill>
                <a:latin typeface="Arial"/>
                <a:ea typeface="Arial"/>
                <a:cs typeface="Arial"/>
              </a:defRPr>
            </a:lvl9pPr>
          </a:lstStyle>
          <a:p xmlns:a="http://schemas.openxmlformats.org/drawingml/2006/main">
            <a:pPr>
              <a:defRPr sz="2025" b="1">
                <a:solidFill>
                  <a:srgbClr val="172B24"/>
                </a:solidFill>
                <a:latin typeface="Arial"/>
                <a:ea typeface="Arial"/>
                <a:cs typeface="Arial"/>
              </a:defRPr>
            </a:pPr>
            <a:r>
              <a:rPr sz="2025" b="1">
                <a:solidFill>
                  <a:srgbClr val="172B24"/>
                </a:solidFill>
                <a:latin typeface="Arial"/>
                <a:ea typeface="Arial"/>
                <a:cs typeface="Arial"/>
              </a:rPr>
              <a:t>38 planned completions, not 38 users. Later unit contribution CNY0.30.</a:t>
            </a:r>
          </a:p>
        </p:txBody>
      </p:sp>
      <p:sp>
        <p:nvSpPr>
          <p:cNvPr id="10" name="">
            <a:extLst xmlns:a="http://schemas.openxmlformats.org/drawingml/2006/main">
              <a:ext uri="{FF2B5EF4-FFF2-40B4-BE49-F238E27FC236}">
                <a16:creationId xmlns:a16="http://schemas.microsoft.com/office/drawing/2014/main" id="{F05D7EC0-02A2-4D95-BC3D-B2D27625B95C}"/>
              </a:ext>
            </a:extLst>
          </p:cNvPr>
          <p:cNvSpPr>
            <a:spLocks xmlns:a="http://schemas.openxmlformats.org/drawingml/2006/main" noGrp="1"/>
          </p:cNvSpPr>
          <p:nvPr/>
        </p:nvSpPr>
        <p:spPr>
          <a:xfrm xmlns:a="http://schemas.openxmlformats.org/drawingml/2006/main">
            <a:off x="609600" y="56864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5C6A63"/>
                </a:solidFill>
                <a:latin typeface="Arial"/>
                <a:ea typeface="Arial"/>
                <a:cs typeface="Arial"/>
              </a:defRPr>
            </a:defPPr>
            <a:lvl1pPr>
              <a:defRPr sz="1875" b="0">
                <a:solidFill>
                  <a:srgbClr val="5C6A63"/>
                </a:solidFill>
                <a:latin typeface="Arial"/>
                <a:ea typeface="Arial"/>
                <a:cs typeface="Arial"/>
              </a:defRPr>
            </a:lvl1pPr>
            <a:lvl2pPr>
              <a:defRPr sz="1875" b="0">
                <a:solidFill>
                  <a:srgbClr val="5C6A63"/>
                </a:solidFill>
                <a:latin typeface="Arial"/>
                <a:ea typeface="Arial"/>
                <a:cs typeface="Arial"/>
              </a:defRPr>
            </a:lvl2pPr>
            <a:lvl3pPr>
              <a:defRPr sz="1875" b="0">
                <a:solidFill>
                  <a:srgbClr val="5C6A63"/>
                </a:solidFill>
                <a:latin typeface="Arial"/>
                <a:ea typeface="Arial"/>
                <a:cs typeface="Arial"/>
              </a:defRPr>
            </a:lvl3pPr>
            <a:lvl4pPr>
              <a:defRPr sz="1875" b="0">
                <a:solidFill>
                  <a:srgbClr val="5C6A63"/>
                </a:solidFill>
                <a:latin typeface="Arial"/>
                <a:ea typeface="Arial"/>
                <a:cs typeface="Arial"/>
              </a:defRPr>
            </a:lvl4pPr>
            <a:lvl5pPr>
              <a:defRPr sz="1875" b="0">
                <a:solidFill>
                  <a:srgbClr val="5C6A63"/>
                </a:solidFill>
                <a:latin typeface="Arial"/>
                <a:ea typeface="Arial"/>
                <a:cs typeface="Arial"/>
              </a:defRPr>
            </a:lvl5pPr>
            <a:lvl6pPr>
              <a:defRPr sz="1875" b="0">
                <a:solidFill>
                  <a:srgbClr val="5C6A63"/>
                </a:solidFill>
                <a:latin typeface="Arial"/>
                <a:ea typeface="Arial"/>
                <a:cs typeface="Arial"/>
              </a:defRPr>
            </a:lvl6pPr>
            <a:lvl7pPr>
              <a:defRPr sz="1875" b="0">
                <a:solidFill>
                  <a:srgbClr val="5C6A63"/>
                </a:solidFill>
                <a:latin typeface="Arial"/>
                <a:ea typeface="Arial"/>
                <a:cs typeface="Arial"/>
              </a:defRPr>
            </a:lvl7pPr>
            <a:lvl8pPr>
              <a:defRPr sz="1875" b="0">
                <a:solidFill>
                  <a:srgbClr val="5C6A63"/>
                </a:solidFill>
                <a:latin typeface="Arial"/>
                <a:ea typeface="Arial"/>
                <a:cs typeface="Arial"/>
              </a:defRPr>
            </a:lvl8pPr>
            <a:lvl9pPr>
              <a:defRPr sz="1875" b="0">
                <a:solidFill>
                  <a:srgbClr val="5C6A63"/>
                </a:solidFill>
                <a:latin typeface="Arial"/>
                <a:ea typeface="Arial"/>
                <a:cs typeface="Arial"/>
              </a:defRPr>
            </a:lvl9pPr>
          </a:lstStyle>
          <a:p xmlns:a="http://schemas.openxmlformats.org/drawingml/2006/main">
            <a:pPr>
              <a:defRPr sz="1875" b="0">
                <a:solidFill>
                  <a:srgbClr val="5C6A63"/>
                </a:solidFill>
                <a:latin typeface="Arial"/>
                <a:ea typeface="Arial"/>
                <a:cs typeface="Arial"/>
              </a:defRPr>
            </a:pPr>
            <a:r>
              <a:rPr sz="1875" b="0">
                <a:solidFill>
                  <a:srgbClr val="5C6A63"/>
                </a:solidFill>
                <a:latin typeface="Arial"/>
                <a:ea typeface="Arial"/>
                <a:cs typeface="Arial"/>
              </a:rPr>
              <a:t>Monthly cash break-even at CNY100 fixed cost requires 334 completions.</a:t>
            </a:r>
          </a:p>
          <a:p xmlns:a="http://schemas.openxmlformats.org/drawingml/2006/main">
            <a:pPr>
              <a:defRPr sz="1875" b="0">
                <a:solidFill>
                  <a:srgbClr val="5C6A63"/>
                </a:solidFill>
                <a:latin typeface="Arial"/>
                <a:ea typeface="Arial"/>
                <a:cs typeface="Arial"/>
              </a:defRPr>
            </a:pPr>
            <a:r>
              <a:rPr sz="1875" b="0">
                <a:solidFill>
                  <a:srgbClr val="5C6A63"/>
                </a:solidFill>
                <a:latin typeface="Arial"/>
                <a:ea typeface="Arial"/>
                <a:cs typeface="Arial"/>
              </a:rPr>
              <a:t>The low-usage base case does not support an equity valuation or return promise.</a:t>
            </a:r>
          </a:p>
        </p:txBody>
      </p:sp>
    </p:spTree>
    <p:extLst>
      <p:ext uri="{BB962C8B-B14F-4D97-AF65-F5344CB8AC3E}">
        <p14:creationId xmlns:p14="http://schemas.microsoft.com/office/powerpoint/2010/main" val="1131679571"/>
      </p:ext>
    </p:extLst>
  </p:cSld>
</p:sld>
</file>

<file path=ppt/slides/slide12.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8214CD-DE47-40D6-89BE-0D411484170E}"/>
              </a:ext>
            </a:extLst>
          </p:cNvPr>
          <p:cNvSpPr>
            <a:spLocks xmlns:a="http://schemas.openxmlformats.org/drawingml/2006/main" noGrp="1"/>
          </p:cNvSpPr>
          <p:nvPr/>
        </p:nvSpPr>
        <p:spPr>
          <a:xfrm xmlns:a="http://schemas.openxmlformats.org/drawingml/2006/main">
            <a:off x="609600" y="266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88734B42-858D-4F9B-A882-43B44F56DB22}"/>
              </a:ext>
            </a:extLst>
          </p:cNvPr>
          <p:cNvSpPr>
            <a:spLocks xmlns:a="http://schemas.openxmlformats.org/drawingml/2006/main" noGrp="1"/>
          </p:cNvSpPr>
          <p:nvPr/>
        </p:nvSpPr>
        <p:spPr>
          <a:xfrm xmlns:a="http://schemas.openxmlformats.org/drawingml/2006/main">
            <a:off x="609600" y="8096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Next Decisions</a:t>
            </a:r>
          </a:p>
        </p:txBody>
      </p:sp>
      <p:sp>
        <p:nvSpPr>
          <p:cNvPr id="3" name="">
            <a:extLst xmlns:a="http://schemas.openxmlformats.org/drawingml/2006/main">
              <a:ext uri="{FF2B5EF4-FFF2-40B4-BE49-F238E27FC236}">
                <a16:creationId xmlns:a16="http://schemas.microsoft.com/office/drawing/2014/main" id="{9A6C1AA6-FFD4-4D73-BD9C-D7415BA473A9}"/>
              </a:ext>
            </a:extLst>
          </p:cNvPr>
          <p:cNvSpPr>
            <a:spLocks xmlns:a="http://schemas.openxmlformats.org/drawingml/2006/main" noGrp="1"/>
          </p:cNvSpPr>
          <p:nvPr/>
        </p:nvSpPr>
        <p:spPr>
          <a:xfrm xmlns:a="http://schemas.openxmlformats.org/drawingml/2006/main">
            <a:off x="10858500" y="65532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12 / 12</a:t>
            </a:r>
          </a:p>
        </p:txBody>
      </p:sp>
      <p:sp>
        <p:nvSpPr>
          <p:cNvPr id="4" name="">
            <a:extLst xmlns:a="http://schemas.openxmlformats.org/drawingml/2006/main">
              <a:ext uri="{FF2B5EF4-FFF2-40B4-BE49-F238E27FC236}">
                <a16:creationId xmlns:a16="http://schemas.microsoft.com/office/drawing/2014/main" id="{F7F3A8B6-4FCA-49BB-8354-42F00DD58BC8}"/>
              </a:ext>
            </a:extLst>
          </p:cNvPr>
          <p:cNvSpPr>
            <a:spLocks xmlns:a="http://schemas.openxmlformats.org/drawingml/2006/main" noGrp="1"/>
          </p:cNvSpPr>
          <p:nvPr/>
        </p:nvSpPr>
        <p:spPr>
          <a:xfrm xmlns:a="http://schemas.openxmlformats.org/drawingml/2006/main">
            <a:off x="609600" y="6677025"/>
            <a:ext cx="9715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00" b="0">
                <a:solidFill>
                  <a:srgbClr val="BDCEC5"/>
                </a:solidFill>
                <a:latin typeface="Arial"/>
                <a:ea typeface="Arial"/>
                <a:cs typeface="Arial"/>
              </a:defRPr>
            </a:defPPr>
            <a:lvl1pPr>
              <a:defRPr sz="900" b="0">
                <a:solidFill>
                  <a:srgbClr val="BDCEC5"/>
                </a:solidFill>
                <a:latin typeface="Arial"/>
                <a:ea typeface="Arial"/>
                <a:cs typeface="Arial"/>
              </a:defRPr>
            </a:lvl1pPr>
            <a:lvl2pPr>
              <a:defRPr sz="900" b="0">
                <a:solidFill>
                  <a:srgbClr val="BDCEC5"/>
                </a:solidFill>
                <a:latin typeface="Arial"/>
                <a:ea typeface="Arial"/>
                <a:cs typeface="Arial"/>
              </a:defRPr>
            </a:lvl2pPr>
            <a:lvl3pPr>
              <a:defRPr sz="900" b="0">
                <a:solidFill>
                  <a:srgbClr val="BDCEC5"/>
                </a:solidFill>
                <a:latin typeface="Arial"/>
                <a:ea typeface="Arial"/>
                <a:cs typeface="Arial"/>
              </a:defRPr>
            </a:lvl3pPr>
            <a:lvl4pPr>
              <a:defRPr sz="900" b="0">
                <a:solidFill>
                  <a:srgbClr val="BDCEC5"/>
                </a:solidFill>
                <a:latin typeface="Arial"/>
                <a:ea typeface="Arial"/>
                <a:cs typeface="Arial"/>
              </a:defRPr>
            </a:lvl4pPr>
            <a:lvl5pPr>
              <a:defRPr sz="900" b="0">
                <a:solidFill>
                  <a:srgbClr val="BDCEC5"/>
                </a:solidFill>
                <a:latin typeface="Arial"/>
                <a:ea typeface="Arial"/>
                <a:cs typeface="Arial"/>
              </a:defRPr>
            </a:lvl5pPr>
            <a:lvl6pPr>
              <a:defRPr sz="900" b="0">
                <a:solidFill>
                  <a:srgbClr val="BDCEC5"/>
                </a:solidFill>
                <a:latin typeface="Arial"/>
                <a:ea typeface="Arial"/>
                <a:cs typeface="Arial"/>
              </a:defRPr>
            </a:lvl6pPr>
            <a:lvl7pPr>
              <a:defRPr sz="900" b="0">
                <a:solidFill>
                  <a:srgbClr val="BDCEC5"/>
                </a:solidFill>
                <a:latin typeface="Arial"/>
                <a:ea typeface="Arial"/>
                <a:cs typeface="Arial"/>
              </a:defRPr>
            </a:lvl7pPr>
            <a:lvl8pPr>
              <a:defRPr sz="900" b="0">
                <a:solidFill>
                  <a:srgbClr val="BDCEC5"/>
                </a:solidFill>
                <a:latin typeface="Arial"/>
                <a:ea typeface="Arial"/>
                <a:cs typeface="Arial"/>
              </a:defRPr>
            </a:lvl8pPr>
            <a:lvl9pPr>
              <a:defRPr sz="900" b="0">
                <a:solidFill>
                  <a:srgbClr val="BDCEC5"/>
                </a:solidFill>
                <a:latin typeface="Arial"/>
                <a:ea typeface="Arial"/>
                <a:cs typeface="Arial"/>
              </a:defRPr>
            </a:lvl9pPr>
          </a:lstStyle>
          <a:p xmlns:a="http://schemas.openxmlformats.org/drawingml/2006/main">
            <a:pPr>
              <a:defRPr sz="900" b="0">
                <a:solidFill>
                  <a:srgbClr val="BDCEC5"/>
                </a:solidFill>
                <a:latin typeface="Arial"/>
                <a:ea typeface="Arial"/>
                <a:cs typeface="Arial"/>
              </a:defRPr>
            </a:pPr>
            <a:r>
              <a:rPr sz="900" b="0">
                <a:solidFill>
                  <a:srgbClr val="BDCEC5"/>
                </a:solidFill>
                <a:latin typeface="Arial"/>
                <a:ea typeface="Arial"/>
                <a:cs typeface="Arial"/>
              </a:rPr>
              <a:t>Working snapshot: 20 Oct 2026. Refresh before March 2027.</a:t>
            </a:r>
          </a:p>
        </p:txBody>
      </p:sp>
      <p:graphicFrame>
        <p:nvGraphicFramePr>
          <p:cNvPr id="5" name="">
            <a:extLst xmlns:a="http://schemas.openxmlformats.org/drawingml/2006/main">
              <a:ext uri="{FF2B5EF4-FFF2-40B4-BE49-F238E27FC236}">
                <a16:creationId xmlns:a16="http://schemas.microsoft.com/office/drawing/2014/main" id="{9BB1DE14-BEC8-4852-AFA1-8AA58EAF6903}"/>
              </a:ext>
            </a:extLst>
          </p:cNvPr>
          <p:cNvGraphicFramePr/>
          <p:nvPr/>
        </p:nvGraphicFramePr>
        <p:xfrm>
          <a:off xmlns:a="http://schemas.openxmlformats.org/drawingml/2006/main" x="609600" y="1857375"/>
          <a:ext xmlns:a="http://schemas.openxmlformats.org/drawingml/2006/main" cx="10972800" cy="2343150"/>
        </p:xfrm>
        <a:graphic xmlns:a="http://schemas.openxmlformats.org/drawingml/2006/main">
          <a:graphicData uri="http://schemas.openxmlformats.org/drawingml/2006/table">
            <a:tbl>
              <a:tblPr/>
              <a:tblGrid>
                <a:gridCol w="3143250"/>
                <a:gridCol w="4762500"/>
                <a:gridCol w="3067050"/>
              </a:tblGrid>
              <a:tr h="590550">
                <a:tc>
                  <a:txBody>
                    <a:bodyPr>
                      <a:noAutofit/>
                    </a:bodyPr>
                    <a:lstStyle/>
                    <a:p>
                      <a:r>
                        <a:rPr sz="1725" b="1">
                          <a:solidFill>
                            <a:srgbClr val="FFFFFF"/>
                          </a:solidFill>
                          <a:latin typeface="Arial"/>
                          <a:ea typeface="Arial"/>
                          <a:cs typeface="Arial"/>
                        </a:rPr>
                        <a:t>Decision</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725" b="1">
                          <a:solidFill>
                            <a:srgbClr val="FFFFFF"/>
                          </a:solidFill>
                          <a:latin typeface="Arial"/>
                          <a:ea typeface="Arial"/>
                          <a:cs typeface="Arial"/>
                        </a:rPr>
                        <a:t>Evidence gate</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725" b="1">
                          <a:solidFill>
                            <a:srgbClr val="FFFFFF"/>
                          </a:solidFill>
                          <a:latin typeface="PingFang SC"/>
                          <a:ea typeface="PingFang SC"/>
                          <a:cs typeface="PingFang SC"/>
                        </a:rPr>
                        <a:t>Accountability</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r>
              <a:tr h="590550">
                <a:tc>
                  <a:txBody>
                    <a:bodyPr>
                      <a:noAutofit/>
                    </a:bodyPr>
                    <a:lstStyle/>
                    <a:p>
                      <a:r>
                        <a:rPr sz="1725" b="0">
                          <a:solidFill>
                            <a:srgbClr val="FFFFFF"/>
                          </a:solidFill>
                          <a:latin typeface="Arial"/>
                          <a:ea typeface="Arial"/>
                          <a:cs typeface="Arial"/>
                        </a:rPr>
                        <a:t>Continue a small peer service</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Arial"/>
                          <a:ea typeface="Arial"/>
                          <a:cs typeface="Arial"/>
                        </a:rPr>
                        <a:t>Useful supply, genuine completed requests and safe operation</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PingFang SC"/>
                          <a:ea typeface="PingFang SC"/>
                          <a:cs typeface="PingFang SC"/>
                        </a:rPr>
                        <a:t>Rita approves after team review</a:t>
                      </a:r>
                    </a:p>
                  </a:txBody>
                  <a:tcPr marL="91440" marR="91440" marT="45720" marB="45720">
                    <a:lnR w="9525">
                      <a:solidFill>
                        <a:srgbClr val="416250"/>
                      </a:solidFill>
                      <a:prstDash val="solid"/>
                    </a:lnR>
                    <a:lnB w="9525">
                      <a:solidFill>
                        <a:srgbClr val="416250"/>
                      </a:solidFill>
                      <a:prstDash val="solid"/>
                    </a:lnB>
                    <a:solidFill>
                      <a:srgbClr val="11221C"/>
                    </a:solidFill>
                  </a:tcPr>
                </a:tc>
              </a:tr>
              <a:tr h="590550">
                <a:tc>
                  <a:txBody>
                    <a:bodyPr>
                      <a:noAutofit/>
                    </a:bodyPr>
                    <a:lstStyle/>
                    <a:p>
                      <a:r>
                        <a:rPr sz="1725" b="0">
                          <a:solidFill>
                            <a:srgbClr val="FFFFFF"/>
                          </a:solidFill>
                          <a:latin typeface="Arial"/>
                          <a:ea typeface="Arial"/>
                          <a:cs typeface="Arial"/>
                        </a:rPr>
                        <a:t>Test pricing or reduce cost</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Arial"/>
                          <a:ea typeface="Arial"/>
                          <a:cs typeface="Arial"/>
                        </a:rPr>
                        <a:t>Observed willingness to pay and positive unit contribution</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PingFang SC"/>
                          <a:ea typeface="PingFang SC"/>
                          <a:cs typeface="PingFang SC"/>
                        </a:rPr>
                        <a:t>汪睿 models; 李元龙 verifies outcomes</a:t>
                      </a:r>
                    </a:p>
                  </a:txBody>
                  <a:tcPr marL="91440" marR="91440" marT="45720" marB="45720">
                    <a:lnR w="9525">
                      <a:solidFill>
                        <a:srgbClr val="416250"/>
                      </a:solidFill>
                      <a:prstDash val="solid"/>
                    </a:lnR>
                    <a:lnB w="9525">
                      <a:solidFill>
                        <a:srgbClr val="416250"/>
                      </a:solidFill>
                      <a:prstDash val="solid"/>
                    </a:lnB>
                    <a:solidFill>
                      <a:srgbClr val="11221C"/>
                    </a:solidFill>
                  </a:tcPr>
                </a:tc>
              </a:tr>
              <a:tr h="590550">
                <a:tc>
                  <a:txBody>
                    <a:bodyPr>
                      <a:noAutofit/>
                    </a:bodyPr>
                    <a:lstStyle/>
                    <a:p>
                      <a:r>
                        <a:rPr sz="1725" b="0">
                          <a:solidFill>
                            <a:srgbClr val="FFFFFF"/>
                          </a:solidFill>
                          <a:latin typeface="Arial"/>
                          <a:ea typeface="Arial"/>
                          <a:cs typeface="Arial"/>
                        </a:rPr>
                        <a:t>Simplify or stop expansion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Arial"/>
                          <a:ea typeface="Arial"/>
                          <a:cs typeface="Arial"/>
                        </a:rPr>
                        <a:t>Weak supply, repeated failures or no economic case</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725" b="0">
                          <a:solidFill>
                            <a:srgbClr val="FFFFFF"/>
                          </a:solidFill>
                          <a:latin typeface="PingFang SC"/>
                          <a:ea typeface="PingFang SC"/>
                          <a:cs typeface="PingFang SC"/>
                        </a:rPr>
                        <a:t>汤鋆秋 logs the decision and retests</a:t>
                      </a:r>
                    </a:p>
                  </a:txBody>
                  <a:tcPr marL="91440" marR="91440" marT="45720" marB="45720">
                    <a:lnR w="9525">
                      <a:solidFill>
                        <a:srgbClr val="416250"/>
                      </a:solidFill>
                      <a:prstDash val="solid"/>
                    </a:lnR>
                    <a:lnB w="9525">
                      <a:solidFill>
                        <a:srgbClr val="416250"/>
                      </a:solidFill>
                      <a:prstDash val="solid"/>
                    </a:lnB>
                    <a:solidFill>
                      <a:srgbClr val="11221C"/>
                    </a:solidFill>
                  </a:tcPr>
                </a:tc>
              </a:tr>
            </a:tbl>
          </a:graphicData>
        </a:graphic>
      </p:graphicFrame>
      <p:sp>
        <p:nvSpPr>
          <p:cNvPr id="6" name="">
            <a:extLst xmlns:a="http://schemas.openxmlformats.org/drawingml/2006/main">
              <a:ext uri="{FF2B5EF4-FFF2-40B4-BE49-F238E27FC236}">
                <a16:creationId xmlns:a16="http://schemas.microsoft.com/office/drawing/2014/main" id="{A6DD6814-6584-48C7-A9D2-434E55A807A2}"/>
              </a:ext>
            </a:extLst>
          </p:cNvPr>
          <p:cNvSpPr>
            <a:spLocks xmlns:a="http://schemas.openxmlformats.org/drawingml/2006/main" noGrp="1"/>
          </p:cNvSpPr>
          <p:nvPr/>
        </p:nvSpPr>
        <p:spPr>
          <a:xfrm xmlns:a="http://schemas.openxmlformats.org/drawingml/2006/main">
            <a:off x="609600" y="4686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D6E58A"/>
                </a:solidFill>
                <a:latin typeface="Arial"/>
                <a:ea typeface="Arial"/>
                <a:cs typeface="Arial"/>
              </a:defRPr>
            </a:defPPr>
            <a:lvl1pPr>
              <a:defRPr sz="2175" b="1">
                <a:solidFill>
                  <a:srgbClr val="D6E58A"/>
                </a:solidFill>
                <a:latin typeface="Arial"/>
                <a:ea typeface="Arial"/>
                <a:cs typeface="Arial"/>
              </a:defRPr>
            </a:lvl1pPr>
            <a:lvl2pPr>
              <a:defRPr sz="2175" b="1">
                <a:solidFill>
                  <a:srgbClr val="D6E58A"/>
                </a:solidFill>
                <a:latin typeface="Arial"/>
                <a:ea typeface="Arial"/>
                <a:cs typeface="Arial"/>
              </a:defRPr>
            </a:lvl2pPr>
            <a:lvl3pPr>
              <a:defRPr sz="2175" b="1">
                <a:solidFill>
                  <a:srgbClr val="D6E58A"/>
                </a:solidFill>
                <a:latin typeface="Arial"/>
                <a:ea typeface="Arial"/>
                <a:cs typeface="Arial"/>
              </a:defRPr>
            </a:lvl3pPr>
            <a:lvl4pPr>
              <a:defRPr sz="2175" b="1">
                <a:solidFill>
                  <a:srgbClr val="D6E58A"/>
                </a:solidFill>
                <a:latin typeface="Arial"/>
                <a:ea typeface="Arial"/>
                <a:cs typeface="Arial"/>
              </a:defRPr>
            </a:lvl4pPr>
            <a:lvl5pPr>
              <a:defRPr sz="2175" b="1">
                <a:solidFill>
                  <a:srgbClr val="D6E58A"/>
                </a:solidFill>
                <a:latin typeface="Arial"/>
                <a:ea typeface="Arial"/>
                <a:cs typeface="Arial"/>
              </a:defRPr>
            </a:lvl5pPr>
            <a:lvl6pPr>
              <a:defRPr sz="2175" b="1">
                <a:solidFill>
                  <a:srgbClr val="D6E58A"/>
                </a:solidFill>
                <a:latin typeface="Arial"/>
                <a:ea typeface="Arial"/>
                <a:cs typeface="Arial"/>
              </a:defRPr>
            </a:lvl6pPr>
            <a:lvl7pPr>
              <a:defRPr sz="2175" b="1">
                <a:solidFill>
                  <a:srgbClr val="D6E58A"/>
                </a:solidFill>
                <a:latin typeface="Arial"/>
                <a:ea typeface="Arial"/>
                <a:cs typeface="Arial"/>
              </a:defRPr>
            </a:lvl7pPr>
            <a:lvl8pPr>
              <a:defRPr sz="2175" b="1">
                <a:solidFill>
                  <a:srgbClr val="D6E58A"/>
                </a:solidFill>
                <a:latin typeface="Arial"/>
                <a:ea typeface="Arial"/>
                <a:cs typeface="Arial"/>
              </a:defRPr>
            </a:lvl8pPr>
            <a:lvl9pPr>
              <a:defRPr sz="2175" b="1">
                <a:solidFill>
                  <a:srgbClr val="D6E58A"/>
                </a:solidFill>
                <a:latin typeface="Arial"/>
                <a:ea typeface="Arial"/>
                <a:cs typeface="Arial"/>
              </a:defRPr>
            </a:lvl9pPr>
          </a:lstStyle>
          <a:p xmlns:a="http://schemas.openxmlformats.org/drawingml/2006/main">
            <a:pPr>
              <a:defRPr sz="2175" b="1">
                <a:solidFill>
                  <a:srgbClr val="D6E58A"/>
                </a:solidFill>
                <a:latin typeface="Arial"/>
                <a:ea typeface="Arial"/>
                <a:cs typeface="Arial"/>
              </a:defRPr>
            </a:pPr>
            <a:r>
              <a:rPr sz="2175" b="1">
                <a:solidFill>
                  <a:srgbClr val="D6E58A"/>
                </a:solidFill>
                <a:latin typeface="Arial"/>
                <a:ea typeface="Arial"/>
                <a:cs typeface="Arial"/>
              </a:rPr>
              <a:t>Final A3: 10–12 slides. Eight-minute pitch. Five-minute Q&amp;A.</a:t>
            </a:r>
          </a:p>
        </p:txBody>
      </p:sp>
      <p:sp>
        <p:nvSpPr>
          <p:cNvPr id="7" name="">
            <a:extLst xmlns:a="http://schemas.openxmlformats.org/drawingml/2006/main">
              <a:ext uri="{FF2B5EF4-FFF2-40B4-BE49-F238E27FC236}">
                <a16:creationId xmlns:a16="http://schemas.microsoft.com/office/drawing/2014/main" id="{33A9A96A-1A0A-432D-B593-FCB6208265BC}"/>
              </a:ext>
            </a:extLst>
          </p:cNvPr>
          <p:cNvSpPr>
            <a:spLocks xmlns:a="http://schemas.openxmlformats.org/drawingml/2006/main" noGrp="1"/>
          </p:cNvSpPr>
          <p:nvPr/>
        </p:nvSpPr>
        <p:spPr>
          <a:xfrm xmlns:a="http://schemas.openxmlformats.org/drawingml/2006/main">
            <a:off x="609600" y="53244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Every member attends and makes a substantive contribution.</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Bring a working demonstration, tested backup recording and equipment plan.</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Deck due 21 March 2027, 23:59 Beijing time. Live pitch 22–26 March.</a:t>
            </a:r>
          </a:p>
        </p:txBody>
      </p:sp>
    </p:spTree>
    <p:extLst>
      <p:ext uri="{BB962C8B-B14F-4D97-AF65-F5344CB8AC3E}">
        <p14:creationId xmlns:p14="http://schemas.microsoft.com/office/powerpoint/2010/main" val="1956701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2026-10-20T15:07:56.3380000Z</dcterms:created>
  <dcterms:modified xsi:type="dcterms:W3CDTF">2026-10-20T15:07:56.3380000Z</dcterms:modified>
</coreProperties>
</file>