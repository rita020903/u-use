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db1b96e873a4dab" /><Relationship Type="http://schemas.openxmlformats.org/officeDocument/2006/relationships/extended-properties" Target="/docProps/app.xml" Id="R333ed8dd288f4fb1" /><Relationship Type="http://schemas.openxmlformats.org/officeDocument/2006/relationships/officeDocument" Target="/ppt/presentation.xml" Id="R5ab3eeaddec245f4" /></Relationships>
</file>

<file path=ppt/presentation.xml><?xml version="1.0" encoding="utf-8"?>
<p:presentation xmlns:p="http://schemas.openxmlformats.org/presentationml/2006/main">
  <p:sldMasterIdLst>
    <p:sldMasterId xmlns:r="http://schemas.openxmlformats.org/officeDocument/2006/relationships" id="2147483648" r:id="R8c28eba0d70046b7"/>
  </p:sldMasterIdLst>
  <p:notesMasterIdLst>
    <p:notesMasterId xmlns:r="http://schemas.openxmlformats.org/officeDocument/2006/relationships" r:id="R4a6ef657ef084d54"/>
  </p:notesMasterIdLst>
  <p:sldIdLst>
    <p:sldId xmlns:r="http://schemas.openxmlformats.org/officeDocument/2006/relationships" id="256" r:id="Rfa441d66397c4cb0"/>
    <p:sldId xmlns:r="http://schemas.openxmlformats.org/officeDocument/2006/relationships" id="257" r:id="Rfa9d3a52a6274ce8"/>
    <p:sldId xmlns:r="http://schemas.openxmlformats.org/officeDocument/2006/relationships" id="258" r:id="R3897c169b7fa431a"/>
    <p:sldId xmlns:r="http://schemas.openxmlformats.org/officeDocument/2006/relationships" id="259" r:id="R10681f8f4cbf497f"/>
    <p:sldId xmlns:r="http://schemas.openxmlformats.org/officeDocument/2006/relationships" id="260" r:id="Rf9f452d4b73743de"/>
    <p:sldId xmlns:r="http://schemas.openxmlformats.org/officeDocument/2006/relationships" id="261" r:id="Rdc0e9d6adc054596"/>
    <p:sldId xmlns:r="http://schemas.openxmlformats.org/officeDocument/2006/relationships" id="262" r:id="R492e590c8a4c49f7"/>
    <p:sldId xmlns:r="http://schemas.openxmlformats.org/officeDocument/2006/relationships" id="263" r:id="R087a9e7192934318"/>
    <p:sldId xmlns:r="http://schemas.openxmlformats.org/officeDocument/2006/relationships" id="264" r:id="Rf04f24ea15d648b6"/>
    <p:sldId xmlns:r="http://schemas.openxmlformats.org/officeDocument/2006/relationships" id="265" r:id="R679c67bf86b44b89"/>
    <p:sldId xmlns:r="http://schemas.openxmlformats.org/officeDocument/2006/relationships" id="266" r:id="R60ee198bea49470f"/>
    <p:sldId xmlns:r="http://schemas.openxmlformats.org/officeDocument/2006/relationships" id="267" r:id="R331b029c0d1045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5f160fd43a495a" /><Relationship Type="http://schemas.openxmlformats.org/officeDocument/2006/relationships/slideMaster" Target="/ppt/slideMasters/slideMaster1.xml" Id="R8c28eba0d70046b7" /><Relationship Type="http://schemas.openxmlformats.org/officeDocument/2006/relationships/notesMaster" Target="/ppt/notesMasters/notesMaster1.xml" Id="R4a6ef657ef084d54" /><Relationship Type="http://schemas.openxmlformats.org/officeDocument/2006/relationships/presProps" Target="/ppt/presProps.xml" Id="R4aea14eb6e5c498a" /><Relationship Type="http://schemas.openxmlformats.org/officeDocument/2006/relationships/tableStyles" Target="/ppt/tableStyles.xml" Id="Rd896cc5744864cee" /><Relationship Type="http://schemas.openxmlformats.org/officeDocument/2006/relationships/slide" Target="/ppt/slides/slide1.xml" Id="Rfa441d66397c4cb0" /><Relationship Type="http://schemas.openxmlformats.org/officeDocument/2006/relationships/slide" Target="/ppt/slides/slide2.xml" Id="Rfa9d3a52a6274ce8" /><Relationship Type="http://schemas.openxmlformats.org/officeDocument/2006/relationships/slide" Target="/ppt/slides/slide3.xml" Id="R3897c169b7fa431a" /><Relationship Type="http://schemas.openxmlformats.org/officeDocument/2006/relationships/slide" Target="/ppt/slides/slide4.xml" Id="R10681f8f4cbf497f" /><Relationship Type="http://schemas.openxmlformats.org/officeDocument/2006/relationships/slide" Target="/ppt/slides/slide5.xml" Id="Rf9f452d4b73743de" /><Relationship Type="http://schemas.openxmlformats.org/officeDocument/2006/relationships/slide" Target="/ppt/slides/slide6.xml" Id="Rdc0e9d6adc054596" /><Relationship Type="http://schemas.openxmlformats.org/officeDocument/2006/relationships/slide" Target="/ppt/slides/slide7.xml" Id="R492e590c8a4c49f7" /><Relationship Type="http://schemas.openxmlformats.org/officeDocument/2006/relationships/slide" Target="/ppt/slides/slide8.xml" Id="R087a9e7192934318" /><Relationship Type="http://schemas.openxmlformats.org/officeDocument/2006/relationships/slide" Target="/ppt/slides/slide9.xml" Id="Rf04f24ea15d648b6" /><Relationship Type="http://schemas.openxmlformats.org/officeDocument/2006/relationships/slide" Target="/ppt/slides/slide10.xml" Id="R679c67bf86b44b89" /><Relationship Type="http://schemas.openxmlformats.org/officeDocument/2006/relationships/slide" Target="/ppt/slides/slide11.xml" Id="R60ee198bea49470f" /><Relationship Type="http://schemas.openxmlformats.org/officeDocument/2006/relationships/slide" Target="/ppt/slides/slide12.xml" Id="R331b029c0d1045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e3f361f7344f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74e20913b24000" /><Relationship Type="http://schemas.openxmlformats.org/officeDocument/2006/relationships/notesMaster" Target="/ppt/notesMasters/notesMaster1.xml" Id="Rd8db4d31aded4f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49cb1cbb374681" /><Relationship Type="http://schemas.openxmlformats.org/officeDocument/2006/relationships/notesMaster" Target="/ppt/notesMasters/notesMaster1.xml" Id="R51811dc9e9f147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3a7c97125548ba" /><Relationship Type="http://schemas.openxmlformats.org/officeDocument/2006/relationships/notesMaster" Target="/ppt/notesMasters/notesMaster1.xml" Id="R90d510f3223248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2553a2e84a4b3c" /><Relationship Type="http://schemas.openxmlformats.org/officeDocument/2006/relationships/notesMaster" Target="/ppt/notesMasters/notesMaster1.xml" Id="Rbab057676b4b4e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ddb6a515cc4151" /><Relationship Type="http://schemas.openxmlformats.org/officeDocument/2006/relationships/notesMaster" Target="/ppt/notesMasters/notesMaster1.xml" Id="R113a695349ee43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bdd94d1dac49ca" /><Relationship Type="http://schemas.openxmlformats.org/officeDocument/2006/relationships/notesMaster" Target="/ppt/notesMasters/notesMaster1.xml" Id="R95a38a567f124d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39da890c6044d5" /><Relationship Type="http://schemas.openxmlformats.org/officeDocument/2006/relationships/notesMaster" Target="/ppt/notesMasters/notesMaster1.xml" Id="R0abd0c6de9614c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8f329ed9e164b8a" /><Relationship Type="http://schemas.openxmlformats.org/officeDocument/2006/relationships/notesMaster" Target="/ppt/notesMasters/notesMaster1.xml" Id="R48cfeed4ecc740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c2dc9dc1034dab" /><Relationship Type="http://schemas.openxmlformats.org/officeDocument/2006/relationships/notesMaster" Target="/ppt/notesMasters/notesMaster1.xml" Id="R308c156a5ec74d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f27ec9022b4006" /><Relationship Type="http://schemas.openxmlformats.org/officeDocument/2006/relationships/notesMaster" Target="/ppt/notesMasters/notesMaster1.xml" Id="Red5177a73ded40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671467e415e4207" /><Relationship Type="http://schemas.openxmlformats.org/officeDocument/2006/relationships/notesMaster" Target="/ppt/notesMasters/notesMaster1.xml" Id="Rf0f5fe45625a45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79fac9294ff4fde" /><Relationship Type="http://schemas.openxmlformats.org/officeDocument/2006/relationships/notesMaster" Target="/ppt/notesMasters/notesMaster1.xml" Id="Rc64f7de2603a42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A3 has 12 slides including the cover. Due 21 March 2027 at 23:59 Beijing, live presentation 22-26 March. This is a current baseline, not evidence of future validation. Refresh all research, model and release facts before the 2027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two-sided marketplace needs both relevant supply and demand. Initial categories should follow real requests rather than an arbitrary large catalogue. Dormitories are off-campus. XEC uses named A-G buildings, with no invented generic teaching-building pins.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E1 scripts/test-bookings.mjs, test-timetable.mjs, test-session.mjs, test-discovery.mjs, test-messages.mjs, test-api.mjs. No research participants, survey percentages, revenue or university endorsement are fabricated.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https://www.xjtlu.edu.cn/en/overview. Assumed reachable cohort is a provisional pilot SAM proxy, not a measured campus SAM. SOM proxy is activated and transacting users. A monetised national TAM cannot be defensibly calculated without additional source data and usage assumptions. Model deliberately avoids that unsupported figure. Free borrowing, swaps and refundable deposits do not contribute to GMV.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 https://www.goofish.com/, S3 https://www.rrzu.com/home/index, S4 https://www.aihuishou.com/. Informal borrowing is a conceptual substitute, not a measured claim about a specific student group. Compare the same item/date task, consent to any group observation and retain dated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Scheduling and booking checks operate on the server within transactions. TAICANG remains an internal identifier displayed as XEC. The map is collapsed by default and loads external tiles only when opened. No precise real-user coordinates appear in this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Needs responses enforce item ownership, budget, campus, expiry and duplicate checks. Discovery and conversation use synthetic fixtures for demonstrations. Success metric: useful responses / eligible real requests within 48 hours. Do not count test requests as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user has an independent timetable. The supplied seven-course screenshot is only a format example. Term start is individual. 7 September 2026 is Monday but cannot be treated as every user's term start. Timetables are private. Approximate nearby presence uses an explicit opt-in and short expiry. This is privacy-aware design, not a legal-compliance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local tests do not certify the external SMTP provider, live PostgreSQL configuration, real campus GPS accuracy or operational support capacity. Keep the existing deployment guide and run its acceptance checks. Off-platform payments require both parties' confirmation and cannot be guaranteed by the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provides complete nine-block BMC in dossier. Relationships: clear terms and manual help. Inputs in Market_and_Costs.xlsx. Planned cash expense=60 hosting+20 email+50 materials+50 contingency. Economic contribution includes assumed labour opportunity cost. Fee-bearing GMV excludes deposits, swaps and free borrowing.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 gates require independent authentic users and raw records. Three completed trades indicate initial fulfilment, not retention; repeat use requires separately observing returning participants. At 5 users, report counts not campus-wide percentages. Pause for severe privacy incidents, unresolved losses, inability to moderate or missing production controls. Stop broad marketing until an actual fulfilled need can be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Names supplied by the user: 郭宇璇（Rita）, 汪睿, 黄禹轩, 汤鋆秋, 毛相宜, 黄俊杰, 李元龙. No signatures, participant consent, contribution history or institutional support claimed. A4 due 16 April 2027, individual. Official word count and detailed assessment rubric are absent from the handbook and require the separate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850012cbf44d4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4ebcbb4c18447a" /><Relationship Type="http://schemas.openxmlformats.org/officeDocument/2006/relationships/slideLayout" Target="/ppt/slideLayouts/slideLayout1.xml" Id="R88383e3ddb0a44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383e3ddb0a44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df9b1e5bfbc4e1a" /><Relationship Type="http://schemas.openxmlformats.org/officeDocument/2006/relationships/notesSlide" Target="/ppt/notesSlides/notesSlide1.xml" Id="Rc1a4c818db4948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6ef833bbbc41bc" /><Relationship Type="http://schemas.openxmlformats.org/officeDocument/2006/relationships/notesSlide" Target="/ppt/notesSlides/notesSlide2.xml" Id="Rb8b0a2f9d4bf4f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8408f3df4c348f3" /><Relationship Type="http://schemas.openxmlformats.org/officeDocument/2006/relationships/notesSlide" Target="/ppt/notesSlides/notesSlide3.xml" Id="R8b027f6f504543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2ffc296198a4612" /><Relationship Type="http://schemas.openxmlformats.org/officeDocument/2006/relationships/notesSlide" Target="/ppt/notesSlides/notesSlide4.xml" Id="Rc958cf45050b4c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1d9d9259f644e78" /><Relationship Type="http://schemas.openxmlformats.org/officeDocument/2006/relationships/notesSlide" Target="/ppt/notesSlides/notesSlide5.xml" Id="R7f6fc8cdb5484f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e931b6742eb4773" /><Relationship Type="http://schemas.openxmlformats.org/officeDocument/2006/relationships/image" Target="/ppt/media/image.jpeg" Id="Rb7fdee19a5a94901" /><Relationship Type="http://schemas.openxmlformats.org/officeDocument/2006/relationships/notesSlide" Target="/ppt/notesSlides/notesSlide6.xml" Id="R824e8989b8154e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a8c06db47a14ac4" /><Relationship Type="http://schemas.openxmlformats.org/officeDocument/2006/relationships/image" Target="/ppt/media/image2.jpeg" Id="R9224c20acb6c4e69" /><Relationship Type="http://schemas.openxmlformats.org/officeDocument/2006/relationships/notesSlide" Target="/ppt/notesSlides/notesSlide7.xml" Id="R628b94e5c24840a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008b507f6ef433e" /><Relationship Type="http://schemas.openxmlformats.org/officeDocument/2006/relationships/image" Target="/ppt/media/image3.jpeg" Id="R7e21f078a902458a" /><Relationship Type="http://schemas.openxmlformats.org/officeDocument/2006/relationships/notesSlide" Target="/ppt/notesSlides/notesSlide8.xml" Id="R5f1099e0b8bf473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c7b9b1b19cd4d4b" /><Relationship Type="http://schemas.openxmlformats.org/officeDocument/2006/relationships/notesSlide" Target="/ppt/notesSlides/notesSlide9.xml" Id="Raeb96e2bcca440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5cc0d608bfa4095" /><Relationship Type="http://schemas.openxmlformats.org/officeDocument/2006/relationships/notesSlide" Target="/ppt/notesSlides/notesSlide10.xml" Id="R734c557693584c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d2d54c637944774" /><Relationship Type="http://schemas.openxmlformats.org/officeDocument/2006/relationships/notesSlide" Target="/ppt/notesSlides/notesSlide11.xml" Id="R74c40364dbbc43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2c231dbab4a4481" /><Relationship Type="http://schemas.openxmlformats.org/officeDocument/2006/relationships/notesSlide" Target="/ppt/notesSlides/notesSlide12.xml" Id="R90a870b1f32144c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B491AA1-E897-46E8-8800-1667244B3ECC}"/>
              </a:ext>
            </a:extLst>
          </p:cNvPr>
          <p:cNvSpPr>
            <a:spLocks xmlns:a="http://schemas.openxmlformats.org/drawingml/2006/main" noGrp="1"/>
          </p:cNvSpPr>
          <p:nvPr/>
        </p:nvSpPr>
        <p:spPr>
          <a:xfrm xmlns:a="http://schemas.openxmlformats.org/drawingml/2006/main">
            <a:off x="609600" y="2762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ENT303TC 2026/27  A3</a:t>
            </a:r>
          </a:p>
        </p:txBody>
      </p:sp>
      <p:sp>
        <p:nvSpPr>
          <p:cNvPr id="2" name="">
            <a:extLst xmlns:a="http://schemas.openxmlformats.org/drawingml/2006/main">
              <a:ext uri="{FF2B5EF4-FFF2-40B4-BE49-F238E27FC236}">
                <a16:creationId xmlns:a16="http://schemas.microsoft.com/office/drawing/2014/main" id="{0146DCFC-2117-4EE3-B016-589A23C1F3C3}"/>
              </a:ext>
            </a:extLst>
          </p:cNvPr>
          <p:cNvSpPr>
            <a:spLocks xmlns:a="http://schemas.openxmlformats.org/drawingml/2006/main" noGrp="1"/>
          </p:cNvSpPr>
          <p:nvPr/>
        </p:nvSpPr>
        <p:spPr>
          <a:xfrm xmlns:a="http://schemas.openxmlformats.org/drawingml/2006/main">
            <a:off x="609600" y="1333500"/>
            <a:ext cx="109347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800" b="1">
                <a:solidFill>
                  <a:srgbClr val="27634E"/>
                </a:solidFill>
                <a:latin typeface="Arial"/>
                <a:ea typeface="Arial"/>
                <a:cs typeface="Arial"/>
              </a:defRPr>
            </a:pPr>
            <a:r>
              <a:rPr sz="7800" b="1">
                <a:solidFill>
                  <a:srgbClr val="27634E"/>
                </a:solidFill>
                <a:latin typeface="Arial"/>
                <a:ea typeface="Arial"/>
                <a:cs typeface="Arial"/>
              </a:rPr>
              <a:t>U Use</a:t>
            </a:r>
          </a:p>
        </p:txBody>
      </p:sp>
      <p:sp>
        <p:nvSpPr>
          <p:cNvPr id="3" name="">
            <a:extLst xmlns:a="http://schemas.openxmlformats.org/drawingml/2006/main">
              <a:ext uri="{FF2B5EF4-FFF2-40B4-BE49-F238E27FC236}">
                <a16:creationId xmlns:a16="http://schemas.microsoft.com/office/drawing/2014/main" id="{68D1F4CA-1353-4812-9117-737F547973F9}"/>
              </a:ext>
            </a:extLst>
          </p:cNvPr>
          <p:cNvSpPr>
            <a:spLocks xmlns:a="http://schemas.openxmlformats.org/drawingml/2006/main" noGrp="1"/>
          </p:cNvSpPr>
          <p:nvPr/>
        </p:nvSpPr>
        <p:spPr>
          <a:xfrm xmlns:a="http://schemas.openxmlformats.org/drawingml/2006/main">
            <a:off x="609600" y="27432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02C29"/>
                </a:solidFill>
                <a:latin typeface="Arial"/>
                <a:ea typeface="Arial"/>
                <a:cs typeface="Arial"/>
              </a:defRPr>
            </a:pPr>
            <a:r>
              <a:rPr sz="3000" b="1">
                <a:solidFill>
                  <a:srgbClr val="202C29"/>
                </a:solidFill>
                <a:latin typeface="Arial"/>
                <a:ea typeface="Arial"/>
                <a:cs typeface="Arial"/>
              </a:rPr>
              <a:t>Campus item access at SIP and XEC</a:t>
            </a:r>
          </a:p>
        </p:txBody>
      </p:sp>
      <p:sp>
        <p:nvSpPr>
          <p:cNvPr id="4" name="">
            <a:extLst xmlns:a="http://schemas.openxmlformats.org/drawingml/2006/main">
              <a:ext uri="{FF2B5EF4-FFF2-40B4-BE49-F238E27FC236}">
                <a16:creationId xmlns:a16="http://schemas.microsoft.com/office/drawing/2014/main" id="{78A26F55-6BF5-4FB1-B05D-E23AE20F6FF6}"/>
              </a:ext>
            </a:extLst>
          </p:cNvPr>
          <p:cNvSpPr>
            <a:spLocks xmlns:a="http://schemas.openxmlformats.org/drawingml/2006/main" noGrp="1"/>
          </p:cNvSpPr>
          <p:nvPr/>
        </p:nvSpPr>
        <p:spPr>
          <a:xfrm xmlns:a="http://schemas.openxmlformats.org/drawingml/2006/main">
            <a:off x="609600" y="3810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C29"/>
                </a:solidFill>
                <a:latin typeface="Arial"/>
                <a:ea typeface="Arial"/>
                <a:cs typeface="Arial"/>
              </a:defRPr>
            </a:pPr>
            <a:r>
              <a:rPr sz="2100" b="0">
                <a:solidFill>
                  <a:srgbClr val="202C29"/>
                </a:solidFill>
                <a:latin typeface="Arial"/>
                <a:ea typeface="Arial"/>
                <a:cs typeface="Arial"/>
              </a:rPr>
              <a:t>A venture proposal built around a useful first transaction.</a:t>
            </a:r>
          </a:p>
        </p:txBody>
      </p:sp>
      <p:sp>
        <p:nvSpPr>
          <p:cNvPr id="5" name="">
            <a:extLst xmlns:a="http://schemas.openxmlformats.org/drawingml/2006/main">
              <a:ext uri="{FF2B5EF4-FFF2-40B4-BE49-F238E27FC236}">
                <a16:creationId xmlns:a16="http://schemas.microsoft.com/office/drawing/2014/main" id="{8485B7FD-7ED9-4EC2-A132-A5BD822A3AA7}"/>
              </a:ext>
            </a:extLst>
          </p:cNvPr>
          <p:cNvSpPr>
            <a:spLocks xmlns:a="http://schemas.openxmlformats.org/drawingml/2006/main" noGrp="1"/>
          </p:cNvSpPr>
          <p:nvPr/>
        </p:nvSpPr>
        <p:spPr>
          <a:xfrm xmlns:a="http://schemas.openxmlformats.org/drawingml/2006/main">
            <a:off x="609600" y="44958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C29"/>
                </a:solidFill>
                <a:latin typeface="Arial"/>
                <a:ea typeface="Arial"/>
                <a:cs typeface="Arial"/>
              </a:defRPr>
            </a:pPr>
            <a:r>
              <a:rPr sz="2100" b="0">
                <a:solidFill>
                  <a:srgbClr val="202C29"/>
                </a:solidFill>
                <a:latin typeface="Arial"/>
                <a:ea typeface="Arial"/>
                <a:cs typeface="Arial"/>
              </a:rPr>
              <a:t>A3 working deck, prepared 6 October 2026.</a:t>
            </a:r>
          </a:p>
        </p:txBody>
      </p:sp>
      <p:sp>
        <p:nvSpPr>
          <p:cNvPr id="6" name="">
            <a:extLst xmlns:a="http://schemas.openxmlformats.org/drawingml/2006/main">
              <a:ext uri="{FF2B5EF4-FFF2-40B4-BE49-F238E27FC236}">
                <a16:creationId xmlns:a16="http://schemas.microsoft.com/office/drawing/2014/main" id="{81823CC7-916B-42F3-ABD7-76B998A209A8}"/>
              </a:ext>
            </a:extLst>
          </p:cNvPr>
          <p:cNvSpPr>
            <a:spLocks xmlns:a="http://schemas.openxmlformats.org/drawingml/2006/main" noGrp="1"/>
          </p:cNvSpPr>
          <p:nvPr/>
        </p:nvSpPr>
        <p:spPr>
          <a:xfrm xmlns:a="http://schemas.openxmlformats.org/drawingml/2006/main">
            <a:off x="609600" y="57626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4605C"/>
                </a:solidFill>
                <a:latin typeface="Arial"/>
                <a:ea typeface="Arial"/>
                <a:cs typeface="Arial"/>
              </a:defRPr>
            </a:pPr>
            <a:r>
              <a:rPr sz="1650" b="0">
                <a:solidFill>
                  <a:srgbClr val="54605C"/>
                </a:solidFill>
                <a:latin typeface="Arial"/>
                <a:ea typeface="Arial"/>
                <a:cs typeface="Arial"/>
              </a:rPr>
              <a:t>6 October 2026  |  Group details to confirm</a:t>
            </a:r>
          </a:p>
        </p:txBody>
      </p:sp>
      <p:sp>
        <p:nvSpPr>
          <p:cNvPr id="7" name="">
            <a:extLst xmlns:a="http://schemas.openxmlformats.org/drawingml/2006/main">
              <a:ext uri="{FF2B5EF4-FFF2-40B4-BE49-F238E27FC236}">
                <a16:creationId xmlns:a16="http://schemas.microsoft.com/office/drawing/2014/main" id="{4FD3C298-F0DE-498B-B358-B72F215E1461}"/>
              </a:ext>
            </a:extLst>
          </p:cNvPr>
          <p:cNvSpPr>
            <a:spLocks xmlns:a="http://schemas.openxmlformats.org/drawingml/2006/main" noGrp="1"/>
          </p:cNvSpPr>
          <p:nvPr/>
        </p:nvSpPr>
        <p:spPr>
          <a:xfrm xmlns:a="http://schemas.openxmlformats.org/drawingml/2006/main">
            <a:off x="10763250" y="647700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05C"/>
                </a:solidFill>
                <a:latin typeface="Arial"/>
                <a:ea typeface="Arial"/>
                <a:cs typeface="Arial"/>
              </a:defRPr>
            </a:pPr>
            <a:r>
              <a:rPr sz="1350" b="0">
                <a:solidFill>
                  <a:srgbClr val="54605C"/>
                </a:solidFill>
                <a:latin typeface="Arial"/>
                <a:ea typeface="Arial"/>
                <a:cs typeface="Arial"/>
              </a:rPr>
              <a:t>1 / 12</a:t>
            </a:r>
          </a:p>
        </p:txBody>
      </p:sp>
    </p:spTree>
    <p:extLst>
      <p:ext uri="{BB962C8B-B14F-4D97-AF65-F5344CB8AC3E}">
        <p14:creationId xmlns:p14="http://schemas.microsoft.com/office/powerpoint/2010/main" val="15451372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5C87D3B-B069-4D09-9E4D-7B75E971AF11}"/>
              </a:ext>
            </a:extLst>
          </p:cNvPr>
          <p:cNvSpPr>
            <a:spLocks xmlns:a="http://schemas.openxmlformats.org/drawingml/2006/main" noGrp="1"/>
          </p:cNvSpPr>
          <p:nvPr/>
        </p:nvSpPr>
        <p:spPr>
          <a:xfrm xmlns:a="http://schemas.openxmlformats.org/drawingml/2006/main">
            <a:off x="609600" y="2762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ENT303TC 2026/27  A3</a:t>
            </a:r>
          </a:p>
        </p:txBody>
      </p:sp>
      <p:sp>
        <p:nvSpPr>
          <p:cNvPr id="2" name="">
            <a:extLst xmlns:a="http://schemas.openxmlformats.org/drawingml/2006/main">
              <a:ext uri="{FF2B5EF4-FFF2-40B4-BE49-F238E27FC236}">
                <a16:creationId xmlns:a16="http://schemas.microsoft.com/office/drawing/2014/main" id="{1400D2E2-D58A-4C5C-AA7A-AB7BD01636DA}"/>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C29"/>
                </a:solidFill>
                <a:latin typeface="Arial"/>
                <a:ea typeface="Arial"/>
                <a:cs typeface="Arial"/>
              </a:defRPr>
            </a:pPr>
            <a:r>
              <a:rPr sz="3300" b="1">
                <a:solidFill>
                  <a:srgbClr val="202C29"/>
                </a:solidFill>
                <a:latin typeface="Arial"/>
                <a:ea typeface="Arial"/>
                <a:cs typeface="Arial"/>
              </a:rPr>
              <a:t>Problem and audience</a:t>
            </a:r>
          </a:p>
        </p:txBody>
      </p:sp>
      <p:sp>
        <p:nvSpPr>
          <p:cNvPr id="3" name="">
            <a:extLst xmlns:a="http://schemas.openxmlformats.org/drawingml/2006/main">
              <a:ext uri="{FF2B5EF4-FFF2-40B4-BE49-F238E27FC236}">
                <a16:creationId xmlns:a16="http://schemas.microsoft.com/office/drawing/2014/main" id="{6ECF2A2B-A5EE-460C-B0C7-D130932219BD}"/>
              </a:ext>
            </a:extLst>
          </p:cNvPr>
          <p:cNvSpPr>
            <a:spLocks xmlns:a="http://schemas.openxmlformats.org/drawingml/2006/main" noGrp="1"/>
          </p:cNvSpPr>
          <p:nvPr/>
        </p:nvSpPr>
        <p:spPr>
          <a:xfrm xmlns:a="http://schemas.openxmlformats.org/drawingml/2006/main">
            <a:off x="609600" y="1714500"/>
            <a:ext cx="5181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7634E"/>
                </a:solidFill>
                <a:latin typeface="Arial"/>
                <a:ea typeface="Arial"/>
                <a:cs typeface="Arial"/>
              </a:defRPr>
            </a:pPr>
            <a:r>
              <a:rPr sz="2250" b="1">
                <a:solidFill>
                  <a:srgbClr val="27634E"/>
                </a:solidFill>
                <a:latin typeface="Arial"/>
                <a:ea typeface="Arial"/>
                <a:cs typeface="Arial"/>
              </a:rPr>
              <a:t>Students with an occasional need</a:t>
            </a:r>
          </a:p>
        </p:txBody>
      </p:sp>
      <p:sp>
        <p:nvSpPr>
          <p:cNvPr id="4" name="">
            <a:extLst xmlns:a="http://schemas.openxmlformats.org/drawingml/2006/main">
              <a:ext uri="{FF2B5EF4-FFF2-40B4-BE49-F238E27FC236}">
                <a16:creationId xmlns:a16="http://schemas.microsoft.com/office/drawing/2014/main" id="{5FAA6648-0438-452B-A2F5-E7C1258E5778}"/>
              </a:ext>
            </a:extLst>
          </p:cNvPr>
          <p:cNvSpPr>
            <a:spLocks xmlns:a="http://schemas.openxmlformats.org/drawingml/2006/main" noGrp="1"/>
          </p:cNvSpPr>
          <p:nvPr/>
        </p:nvSpPr>
        <p:spPr>
          <a:xfrm xmlns:a="http://schemas.openxmlformats.org/drawingml/2006/main">
            <a:off x="6438900" y="17145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7634E"/>
                </a:solidFill>
                <a:latin typeface="Arial"/>
                <a:ea typeface="Arial"/>
                <a:cs typeface="Arial"/>
              </a:defRPr>
            </a:pPr>
            <a:r>
              <a:rPr sz="2250" b="1">
                <a:solidFill>
                  <a:srgbClr val="27634E"/>
                </a:solidFill>
                <a:latin typeface="Arial"/>
                <a:ea typeface="Arial"/>
                <a:cs typeface="Arial"/>
              </a:rPr>
              <a:t>Owners with a usable item</a:t>
            </a:r>
          </a:p>
        </p:txBody>
      </p:sp>
      <p:sp>
        <p:nvSpPr>
          <p:cNvPr id="5" name="">
            <a:extLst xmlns:a="http://schemas.openxmlformats.org/drawingml/2006/main">
              <a:ext uri="{FF2B5EF4-FFF2-40B4-BE49-F238E27FC236}">
                <a16:creationId xmlns:a16="http://schemas.microsoft.com/office/drawing/2014/main" id="{AC406985-B261-4758-ACE9-C52D27F489EB}"/>
              </a:ext>
            </a:extLst>
          </p:cNvPr>
          <p:cNvSpPr>
            <a:spLocks xmlns:a="http://schemas.openxmlformats.org/drawingml/2006/main" noGrp="1"/>
          </p:cNvSpPr>
          <p:nvPr/>
        </p:nvSpPr>
        <p:spPr>
          <a:xfrm xmlns:a="http://schemas.openxmlformats.org/drawingml/2006/main">
            <a:off x="609600" y="2371725"/>
            <a:ext cx="518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An event, project or trip creates a time-limited need.</a:t>
            </a:r>
          </a:p>
        </p:txBody>
      </p:sp>
      <p:sp>
        <p:nvSpPr>
          <p:cNvPr id="6" name="">
            <a:extLst xmlns:a="http://schemas.openxmlformats.org/drawingml/2006/main">
              <a:ext uri="{FF2B5EF4-FFF2-40B4-BE49-F238E27FC236}">
                <a16:creationId xmlns:a16="http://schemas.microsoft.com/office/drawing/2014/main" id="{50DBA16A-4A82-4246-AFAF-83C8D2D28542}"/>
              </a:ext>
            </a:extLst>
          </p:cNvPr>
          <p:cNvSpPr>
            <a:spLocks xmlns:a="http://schemas.openxmlformats.org/drawingml/2006/main" noGrp="1"/>
          </p:cNvSpPr>
          <p:nvPr/>
        </p:nvSpPr>
        <p:spPr>
          <a:xfrm xmlns:a="http://schemas.openxmlformats.org/drawingml/2006/main">
            <a:off x="609600" y="3419475"/>
            <a:ext cx="518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The student may prefer borrowing or renting to ownership.</a:t>
            </a:r>
          </a:p>
        </p:txBody>
      </p:sp>
      <p:sp>
        <p:nvSpPr>
          <p:cNvPr id="7" name="">
            <a:extLst xmlns:a="http://schemas.openxmlformats.org/drawingml/2006/main">
              <a:ext uri="{FF2B5EF4-FFF2-40B4-BE49-F238E27FC236}">
                <a16:creationId xmlns:a16="http://schemas.microsoft.com/office/drawing/2014/main" id="{B348894C-5AE5-4D9D-B857-8AD4708225B0}"/>
              </a:ext>
            </a:extLst>
          </p:cNvPr>
          <p:cNvSpPr>
            <a:spLocks xmlns:a="http://schemas.openxmlformats.org/drawingml/2006/main" noGrp="1"/>
          </p:cNvSpPr>
          <p:nvPr/>
        </p:nvSpPr>
        <p:spPr>
          <a:xfrm xmlns:a="http://schemas.openxmlformats.org/drawingml/2006/main">
            <a:off x="6438900" y="2371725"/>
            <a:ext cx="5143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An owner needs clear dates and return terms.</a:t>
            </a:r>
          </a:p>
        </p:txBody>
      </p:sp>
      <p:sp>
        <p:nvSpPr>
          <p:cNvPr id="8" name="">
            <a:extLst xmlns:a="http://schemas.openxmlformats.org/drawingml/2006/main">
              <a:ext uri="{FF2B5EF4-FFF2-40B4-BE49-F238E27FC236}">
                <a16:creationId xmlns:a16="http://schemas.microsoft.com/office/drawing/2014/main" id="{B9B9D494-775D-4711-B40F-7FF3E5EF1691}"/>
              </a:ext>
            </a:extLst>
          </p:cNvPr>
          <p:cNvSpPr>
            <a:spLocks xmlns:a="http://schemas.openxmlformats.org/drawingml/2006/main" noGrp="1"/>
          </p:cNvSpPr>
          <p:nvPr/>
        </p:nvSpPr>
        <p:spPr>
          <a:xfrm xmlns:a="http://schemas.openxmlformats.org/drawingml/2006/main">
            <a:off x="6438900" y="3419475"/>
            <a:ext cx="5143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Both parties need an acceptable handoff without public location tracking.</a:t>
            </a:r>
          </a:p>
        </p:txBody>
      </p:sp>
      <p:sp>
        <p:nvSpPr>
          <p:cNvPr id="9" name="">
            <a:extLst xmlns:a="http://schemas.openxmlformats.org/drawingml/2006/main">
              <a:ext uri="{FF2B5EF4-FFF2-40B4-BE49-F238E27FC236}">
                <a16:creationId xmlns:a16="http://schemas.microsoft.com/office/drawing/2014/main" id="{0472636C-7EE5-4026-9657-86EDBAD7B92A}"/>
              </a:ext>
            </a:extLst>
          </p:cNvPr>
          <p:cNvSpPr>
            <a:spLocks xmlns:a="http://schemas.openxmlformats.org/drawingml/2006/main" noGrp="1"/>
          </p:cNvSpPr>
          <p:nvPr/>
        </p:nvSpPr>
        <p:spPr>
          <a:xfrm xmlns:a="http://schemas.openxmlformats.org/drawingml/2006/main">
            <a:off x="609600" y="5953125"/>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Persona and problem statements are hypotheses pending primary research.</a:t>
            </a:r>
          </a:p>
        </p:txBody>
      </p:sp>
      <p:sp>
        <p:nvSpPr>
          <p:cNvPr id="10" name="">
            <a:extLst xmlns:a="http://schemas.openxmlformats.org/drawingml/2006/main">
              <a:ext uri="{FF2B5EF4-FFF2-40B4-BE49-F238E27FC236}">
                <a16:creationId xmlns:a16="http://schemas.microsoft.com/office/drawing/2014/main" id="{38BC76A1-EBDC-43CF-A8A5-2896DF6AA327}"/>
              </a:ext>
            </a:extLst>
          </p:cNvPr>
          <p:cNvSpPr>
            <a:spLocks xmlns:a="http://schemas.openxmlformats.org/drawingml/2006/main" noGrp="1"/>
          </p:cNvSpPr>
          <p:nvPr/>
        </p:nvSpPr>
        <p:spPr>
          <a:xfrm xmlns:a="http://schemas.openxmlformats.org/drawingml/2006/main">
            <a:off x="10763250" y="647700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05C"/>
                </a:solidFill>
                <a:latin typeface="Arial"/>
                <a:ea typeface="Arial"/>
                <a:cs typeface="Arial"/>
              </a:defRPr>
            </a:pPr>
            <a:r>
              <a:rPr sz="1350" b="0">
                <a:solidFill>
                  <a:srgbClr val="54605C"/>
                </a:solidFill>
                <a:latin typeface="Arial"/>
                <a:ea typeface="Arial"/>
                <a:cs typeface="Arial"/>
              </a:rPr>
              <a:t>2 / 12</a:t>
            </a:r>
          </a:p>
        </p:txBody>
      </p:sp>
    </p:spTree>
    <p:extLst>
      <p:ext uri="{BB962C8B-B14F-4D97-AF65-F5344CB8AC3E}">
        <p14:creationId xmlns:p14="http://schemas.microsoft.com/office/powerpoint/2010/main" val="6721106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71073C-A8C4-410F-8FE3-8DA2DFA33B72}"/>
              </a:ext>
            </a:extLst>
          </p:cNvPr>
          <p:cNvSpPr>
            <a:spLocks xmlns:a="http://schemas.openxmlformats.org/drawingml/2006/main" noGrp="1"/>
          </p:cNvSpPr>
          <p:nvPr/>
        </p:nvSpPr>
        <p:spPr>
          <a:xfrm xmlns:a="http://schemas.openxmlformats.org/drawingml/2006/main">
            <a:off x="609600" y="2762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ENT303TC 2026/27  A3</a:t>
            </a:r>
          </a:p>
        </p:txBody>
      </p:sp>
      <p:sp>
        <p:nvSpPr>
          <p:cNvPr id="2" name="">
            <a:extLst xmlns:a="http://schemas.openxmlformats.org/drawingml/2006/main">
              <a:ext uri="{FF2B5EF4-FFF2-40B4-BE49-F238E27FC236}">
                <a16:creationId xmlns:a16="http://schemas.microsoft.com/office/drawing/2014/main" id="{9F6773B3-67A4-47C5-BC86-FFEE21FEB7D9}"/>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C29"/>
                </a:solidFill>
                <a:latin typeface="Arial"/>
                <a:ea typeface="Arial"/>
                <a:cs typeface="Arial"/>
              </a:defRPr>
            </a:pPr>
            <a:r>
              <a:rPr sz="3300" b="1">
                <a:solidFill>
                  <a:srgbClr val="202C29"/>
                </a:solidFill>
                <a:latin typeface="Arial"/>
                <a:ea typeface="Arial"/>
                <a:cs typeface="Arial"/>
              </a:rPr>
              <a:t>Evidence and remaining gaps</a:t>
            </a:r>
          </a:p>
        </p:txBody>
      </p:sp>
      <p:graphicFrame>
        <p:nvGraphicFramePr>
          <p:cNvPr id="8" name=""/>
          <p:cNvGraphicFramePr/>
          <p:nvPr/>
        </p:nvGraphicFramePr>
        <p:xfrm>
          <a:off xmlns:a="http://schemas.openxmlformats.org/drawingml/2006/main" x="609600" y="1714500"/>
          <a:ext xmlns:a="http://schemas.openxmlformats.org/drawingml/2006/main" cx="10972800" cy="3810000"/>
        </p:xfrm>
        <a:graphic xmlns:a="http://schemas.openxmlformats.org/drawingml/2006/main">
          <a:graphicData uri="http://schemas.openxmlformats.org/drawingml/2006/table">
            <a:tbl>
              <a:tblPr/>
              <a:tblGrid>
                <a:gridCol w="2514600"/>
                <a:gridCol w="3962400"/>
                <a:gridCol w="4495800"/>
              </a:tblGrid>
              <a:tr h="762000">
                <a:tc>
                  <a:txBody>
                    <a:bodyPr>
                      <a:noAutofit/>
                    </a:bodyPr>
                    <a:lstStyle/>
                    <a:p>
                      <a:r>
                        <a:rPr sz="1800" b="1">
                          <a:solidFill>
                            <a:srgbClr val="FFFFFF"/>
                          </a:solidFill>
                          <a:latin typeface="Arial"/>
                          <a:ea typeface="Arial"/>
                          <a:cs typeface="Arial"/>
                        </a:rPr>
                        <a:t>Claim</a:t>
                      </a:r>
                    </a:p>
                  </a:txBody>
                  <a:tcPr marL="91440" marR="91440" marT="45720" marB="45720">
                    <a:solidFill>
                      <a:srgbClr val="27634E"/>
                    </a:solidFill>
                  </a:tcPr>
                </a:tc>
                <a:tc>
                  <a:txBody>
                    <a:bodyPr>
                      <a:noAutofit/>
                    </a:bodyPr>
                    <a:lstStyle/>
                    <a:p>
                      <a:r>
                        <a:rPr sz="1800" b="1">
                          <a:solidFill>
                            <a:srgbClr val="FFFFFF"/>
                          </a:solidFill>
                          <a:latin typeface="Arial"/>
                          <a:ea typeface="Arial"/>
                          <a:cs typeface="Arial"/>
                        </a:rPr>
                        <a:t>Current basis</a:t>
                      </a:r>
                    </a:p>
                  </a:txBody>
                  <a:tcPr marL="91440" marR="91440" marT="45720" marB="45720">
                    <a:solidFill>
                      <a:srgbClr val="27634E"/>
                    </a:solidFill>
                  </a:tcPr>
                </a:tc>
                <a:tc>
                  <a:txBody>
                    <a:bodyPr>
                      <a:noAutofit/>
                    </a:bodyPr>
                    <a:lstStyle/>
                    <a:p>
                      <a:r>
                        <a:rPr sz="1800" b="1">
                          <a:solidFill>
                            <a:srgbClr val="FFFFFF"/>
                          </a:solidFill>
                          <a:latin typeface="Arial"/>
                          <a:ea typeface="Arial"/>
                          <a:cs typeface="Arial"/>
                        </a:rPr>
                        <a:t>Next evidence</a:t>
                      </a:r>
                    </a:p>
                  </a:txBody>
                  <a:tcPr marL="91440" marR="91440" marT="45720" marB="45720">
                    <a:solidFill>
                      <a:srgbClr val="27634E"/>
                    </a:solidFill>
                  </a:tcPr>
                </a:tc>
              </a:tr>
              <a:tr h="762000">
                <a:tc>
                  <a:txBody>
                    <a:bodyPr>
                      <a:noAutofit/>
                    </a:bodyPr>
                    <a:lstStyle/>
                    <a:p>
                      <a:r>
                        <a:rPr sz="1800" b="0">
                          <a:solidFill>
                            <a:srgbClr val="202C29"/>
                          </a:solidFill>
                          <a:latin typeface="Arial"/>
                          <a:ea typeface="Arial"/>
                          <a:cs typeface="Arial"/>
                        </a:rPr>
                        <a:t>Workflow operates locally</a:t>
                      </a:r>
                    </a:p>
                  </a:txBody>
                  <a:tcPr marL="91440" marR="91440" marT="45720" marB="45720">
                    <a:solidFill>
                      <a:srgbClr val="F2F6F3"/>
                    </a:solidFill>
                  </a:tcPr>
                </a:tc>
                <a:tc>
                  <a:txBody>
                    <a:bodyPr>
                      <a:noAutofit/>
                    </a:bodyPr>
                    <a:lstStyle/>
                    <a:p>
                      <a:r>
                        <a:rPr sz="1800" b="0">
                          <a:solidFill>
                            <a:srgbClr val="202C29"/>
                          </a:solidFill>
                          <a:latin typeface="Arial"/>
                          <a:ea typeface="Arial"/>
                          <a:cs typeface="Arial"/>
                        </a:rPr>
                        <a:t>Code and isolated tests</a:t>
                      </a:r>
                    </a:p>
                  </a:txBody>
                  <a:tcPr marL="91440" marR="91440" marT="45720" marB="45720">
                    <a:solidFill>
                      <a:srgbClr val="F2F6F3"/>
                    </a:solidFill>
                  </a:tcPr>
                </a:tc>
                <a:tc>
                  <a:txBody>
                    <a:bodyPr>
                      <a:noAutofit/>
                    </a:bodyPr>
                    <a:lstStyle/>
                    <a:p>
                      <a:r>
                        <a:rPr sz="1800" b="0">
                          <a:solidFill>
                            <a:srgbClr val="202C29"/>
                          </a:solidFill>
                          <a:latin typeface="Arial"/>
                          <a:ea typeface="Arial"/>
                          <a:cs typeface="Arial"/>
                        </a:rPr>
                        <a:t>Real-device pilot</a:t>
                      </a:r>
                    </a:p>
                  </a:txBody>
                  <a:tcPr marL="91440" marR="91440" marT="45720" marB="45720">
                    <a:solidFill>
                      <a:srgbClr val="F2F6F3"/>
                    </a:solidFill>
                  </a:tcPr>
                </a:tc>
              </a:tr>
              <a:tr h="762000">
                <a:tc>
                  <a:txBody>
                    <a:bodyPr>
                      <a:noAutofit/>
                    </a:bodyPr>
                    <a:lstStyle/>
                    <a:p>
                      <a:r>
                        <a:rPr sz="1800" b="0">
                          <a:solidFill>
                            <a:srgbClr val="202C29"/>
                          </a:solidFill>
                          <a:latin typeface="Arial"/>
                          <a:ea typeface="Arial"/>
                          <a:cs typeface="Arial"/>
                        </a:rPr>
                        <a:t>Students experience friction</a:t>
                      </a:r>
                    </a:p>
                  </a:txBody>
                  <a:tcPr marL="91440" marR="91440" marT="45720" marB="45720">
                    <a:solidFill>
                      <a:srgbClr val="FFFFFF"/>
                    </a:solidFill>
                  </a:tcPr>
                </a:tc>
                <a:tc>
                  <a:txBody>
                    <a:bodyPr>
                      <a:noAutofit/>
                    </a:bodyPr>
                    <a:lstStyle/>
                    <a:p>
                      <a:r>
                        <a:rPr sz="1800" b="0">
                          <a:solidFill>
                            <a:srgbClr val="202C29"/>
                          </a:solidFill>
                          <a:latin typeface="Arial"/>
                          <a:ea typeface="Arial"/>
                          <a:cs typeface="Arial"/>
                        </a:rPr>
                        <a:t>Planning hypothesis</a:t>
                      </a:r>
                    </a:p>
                  </a:txBody>
                  <a:tcPr marL="91440" marR="91440" marT="45720" marB="45720">
                    <a:solidFill>
                      <a:srgbClr val="FFFFFF"/>
                    </a:solidFill>
                  </a:tcPr>
                </a:tc>
                <a:tc>
                  <a:txBody>
                    <a:bodyPr>
                      <a:noAutofit/>
                    </a:bodyPr>
                    <a:lstStyle/>
                    <a:p>
                      <a:r>
                        <a:rPr sz="1800" b="0">
                          <a:solidFill>
                            <a:srgbClr val="202C29"/>
                          </a:solidFill>
                          <a:latin typeface="Arial"/>
                          <a:ea typeface="Arial"/>
                          <a:cs typeface="Arial"/>
                        </a:rPr>
                        <a:t>Recent incident interviews</a:t>
                      </a:r>
                    </a:p>
                  </a:txBody>
                  <a:tcPr marL="91440" marR="91440" marT="45720" marB="45720">
                    <a:solidFill>
                      <a:srgbClr val="FFFFFF"/>
                    </a:solidFill>
                  </a:tcPr>
                </a:tc>
              </a:tr>
              <a:tr h="762000">
                <a:tc>
                  <a:txBody>
                    <a:bodyPr>
                      <a:noAutofit/>
                    </a:bodyPr>
                    <a:lstStyle/>
                    <a:p>
                      <a:r>
                        <a:rPr sz="1800" b="0">
                          <a:solidFill>
                            <a:srgbClr val="202C29"/>
                          </a:solidFill>
                          <a:latin typeface="Arial"/>
                          <a:ea typeface="Arial"/>
                          <a:cs typeface="Arial"/>
                        </a:rPr>
                        <a:t>Differentiation improves a task</a:t>
                      </a:r>
                    </a:p>
                  </a:txBody>
                  <a:tcPr marL="91440" marR="91440" marT="45720" marB="45720">
                    <a:solidFill>
                      <a:srgbClr val="F2F6F3"/>
                    </a:solidFill>
                  </a:tcPr>
                </a:tc>
                <a:tc>
                  <a:txBody>
                    <a:bodyPr>
                      <a:noAutofit/>
                    </a:bodyPr>
                    <a:lstStyle/>
                    <a:p>
                      <a:r>
                        <a:rPr sz="1800" b="0">
                          <a:solidFill>
                            <a:srgbClr val="202C29"/>
                          </a:solidFill>
                          <a:latin typeface="Arial"/>
                          <a:ea typeface="Arial"/>
                          <a:cs typeface="Arial"/>
                        </a:rPr>
                        <a:t>Implemented features</a:t>
                      </a:r>
                    </a:p>
                  </a:txBody>
                  <a:tcPr marL="91440" marR="91440" marT="45720" marB="45720">
                    <a:solidFill>
                      <a:srgbClr val="F2F6F3"/>
                    </a:solidFill>
                  </a:tcPr>
                </a:tc>
                <a:tc>
                  <a:txBody>
                    <a:bodyPr>
                      <a:noAutofit/>
                    </a:bodyPr>
                    <a:lstStyle/>
                    <a:p>
                      <a:r>
                        <a:rPr sz="1800" b="0">
                          <a:solidFill>
                            <a:srgbClr val="202C29"/>
                          </a:solidFill>
                          <a:latin typeface="Arial"/>
                          <a:ea typeface="Arial"/>
                          <a:cs typeface="Arial"/>
                        </a:rPr>
                        <a:t>Comparative usability test</a:t>
                      </a:r>
                    </a:p>
                  </a:txBody>
                  <a:tcPr marL="91440" marR="91440" marT="45720" marB="45720">
                    <a:solidFill>
                      <a:srgbClr val="F2F6F3"/>
                    </a:solidFill>
                  </a:tcPr>
                </a:tc>
              </a:tr>
              <a:tr h="762000">
                <a:tc>
                  <a:txBody>
                    <a:bodyPr>
                      <a:noAutofit/>
                    </a:bodyPr>
                    <a:lstStyle/>
                    <a:p>
                      <a:r>
                        <a:rPr sz="1800" b="0">
                          <a:solidFill>
                            <a:srgbClr val="202C29"/>
                          </a:solidFill>
                          <a:latin typeface="Arial"/>
                          <a:ea typeface="Arial"/>
                          <a:cs typeface="Arial"/>
                        </a:rPr>
                        <a:t>Economics can sustain service</a:t>
                      </a:r>
                    </a:p>
                  </a:txBody>
                  <a:tcPr marL="91440" marR="91440" marT="45720" marB="45720">
                    <a:solidFill>
                      <a:srgbClr val="FFFFFF"/>
                    </a:solidFill>
                  </a:tcPr>
                </a:tc>
                <a:tc>
                  <a:txBody>
                    <a:bodyPr>
                      <a:noAutofit/>
                    </a:bodyPr>
                    <a:lstStyle/>
                    <a:p>
                      <a:r>
                        <a:rPr sz="1800" b="0">
                          <a:solidFill>
                            <a:srgbClr val="202C29"/>
                          </a:solidFill>
                          <a:latin typeface="Arial"/>
                          <a:ea typeface="Arial"/>
                          <a:cs typeface="Arial"/>
                        </a:rPr>
                        <a:t>Scenario model</a:t>
                      </a:r>
                    </a:p>
                  </a:txBody>
                  <a:tcPr marL="91440" marR="91440" marT="45720" marB="45720">
                    <a:solidFill>
                      <a:srgbClr val="FFFFFF"/>
                    </a:solidFill>
                  </a:tcPr>
                </a:tc>
                <a:tc>
                  <a:txBody>
                    <a:bodyPr>
                      <a:noAutofit/>
                    </a:bodyPr>
                    <a:lstStyle/>
                    <a:p>
                      <a:r>
                        <a:rPr sz="1800" b="0">
                          <a:solidFill>
                            <a:srgbClr val="202C29"/>
                          </a:solidFill>
                          <a:latin typeface="Arial"/>
                          <a:ea typeface="Arial"/>
                          <a:cs typeface="Arial"/>
                        </a:rPr>
                        <a:t>Observed costs and trades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35B3583-0EE6-402E-A7A6-E26F53C95EAE}"/>
              </a:ext>
            </a:extLst>
          </p:cNvPr>
          <p:cNvSpPr>
            <a:spLocks xmlns:a="http://schemas.openxmlformats.org/drawingml/2006/main" noGrp="1"/>
          </p:cNvSpPr>
          <p:nvPr/>
        </p:nvSpPr>
        <p:spPr>
          <a:xfrm xmlns:a="http://schemas.openxmlformats.org/drawingml/2006/main">
            <a:off x="609600" y="5953125"/>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Automated tests establish technical behaviour, not demand or participant satisfaction.</a:t>
            </a:r>
          </a:p>
        </p:txBody>
      </p:sp>
      <p:sp>
        <p:nvSpPr>
          <p:cNvPr id="5" name="">
            <a:extLst xmlns:a="http://schemas.openxmlformats.org/drawingml/2006/main">
              <a:ext uri="{FF2B5EF4-FFF2-40B4-BE49-F238E27FC236}">
                <a16:creationId xmlns:a16="http://schemas.microsoft.com/office/drawing/2014/main" id="{C3CD9DDD-001B-4C27-BA93-3C5381742161}"/>
              </a:ext>
            </a:extLst>
          </p:cNvPr>
          <p:cNvSpPr>
            <a:spLocks xmlns:a="http://schemas.openxmlformats.org/drawingml/2006/main" noGrp="1"/>
          </p:cNvSpPr>
          <p:nvPr/>
        </p:nvSpPr>
        <p:spPr>
          <a:xfrm xmlns:a="http://schemas.openxmlformats.org/drawingml/2006/main">
            <a:off x="10763250" y="647700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05C"/>
                </a:solidFill>
                <a:latin typeface="Arial"/>
                <a:ea typeface="Arial"/>
                <a:cs typeface="Arial"/>
              </a:defRPr>
            </a:pPr>
            <a:r>
              <a:rPr sz="1350" b="0">
                <a:solidFill>
                  <a:srgbClr val="54605C"/>
                </a:solidFill>
                <a:latin typeface="Arial"/>
                <a:ea typeface="Arial"/>
                <a:cs typeface="Arial"/>
              </a:rPr>
              <a:t>3 / 12</a:t>
            </a:r>
          </a:p>
        </p:txBody>
      </p:sp>
    </p:spTree>
    <p:extLst>
      <p:ext uri="{BB962C8B-B14F-4D97-AF65-F5344CB8AC3E}">
        <p14:creationId xmlns:p14="http://schemas.microsoft.com/office/powerpoint/2010/main" val="168694198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651D1A8-C23C-43EA-A1FA-A6ABD7D240C3}"/>
              </a:ext>
            </a:extLst>
          </p:cNvPr>
          <p:cNvSpPr>
            <a:spLocks xmlns:a="http://schemas.openxmlformats.org/drawingml/2006/main" noGrp="1"/>
          </p:cNvSpPr>
          <p:nvPr/>
        </p:nvSpPr>
        <p:spPr>
          <a:xfrm xmlns:a="http://schemas.openxmlformats.org/drawingml/2006/main">
            <a:off x="609600" y="2762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ENT303TC 2026/27  A3</a:t>
            </a:r>
          </a:p>
        </p:txBody>
      </p:sp>
      <p:sp>
        <p:nvSpPr>
          <p:cNvPr id="2" name="">
            <a:extLst xmlns:a="http://schemas.openxmlformats.org/drawingml/2006/main">
              <a:ext uri="{FF2B5EF4-FFF2-40B4-BE49-F238E27FC236}">
                <a16:creationId xmlns:a16="http://schemas.microsoft.com/office/drawing/2014/main" id="{02C48FE2-364A-4BD9-8BA4-43131D8958ED}"/>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C29"/>
                </a:solidFill>
                <a:latin typeface="Arial"/>
                <a:ea typeface="Arial"/>
                <a:cs typeface="Arial"/>
              </a:defRPr>
            </a:pPr>
            <a:r>
              <a:rPr sz="3300" b="1">
                <a:solidFill>
                  <a:srgbClr val="202C29"/>
                </a:solidFill>
                <a:latin typeface="Arial"/>
                <a:ea typeface="Arial"/>
                <a:cs typeface="Arial"/>
              </a:rPr>
              <a:t>Bottom-up market scenario</a:t>
            </a:r>
          </a:p>
        </p:txBody>
      </p:sp>
      <p:sp>
        <p:nvSpPr>
          <p:cNvPr id="3" name="">
            <a:extLst xmlns:a="http://schemas.openxmlformats.org/drawingml/2006/main">
              <a:ext uri="{FF2B5EF4-FFF2-40B4-BE49-F238E27FC236}">
                <a16:creationId xmlns:a16="http://schemas.microsoft.com/office/drawing/2014/main" id="{ACF9F6B4-EBC3-4BEA-AD9C-45D6D57A4122}"/>
              </a:ext>
            </a:extLst>
          </p:cNvPr>
          <p:cNvSpPr>
            <a:spLocks xmlns:a="http://schemas.openxmlformats.org/drawingml/2006/main" noGrp="1"/>
          </p:cNvSpPr>
          <p:nvPr/>
        </p:nvSpPr>
        <p:spPr>
          <a:xfrm xmlns:a="http://schemas.openxmlformats.org/drawingml/2006/main">
            <a:off x="609600" y="17145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02C29"/>
                </a:solidFill>
                <a:latin typeface="Arial"/>
                <a:ea typeface="Arial"/>
                <a:cs typeface="Arial"/>
              </a:defRPr>
            </a:pPr>
            <a:r>
              <a:rPr sz="2250" b="0">
                <a:solidFill>
                  <a:srgbClr val="202C29"/>
                </a:solidFill>
                <a:latin typeface="Arial"/>
                <a:ea typeface="Arial"/>
                <a:cs typeface="Arial"/>
              </a:rPr>
              <a:t>Institutional context: 26,000+ XJTLU students.</a:t>
            </a:r>
          </a:p>
        </p:txBody>
      </p:sp>
      <p:sp>
        <p:nvSpPr>
          <p:cNvPr id="4" name="">
            <a:extLst xmlns:a="http://schemas.openxmlformats.org/drawingml/2006/main">
              <a:ext uri="{FF2B5EF4-FFF2-40B4-BE49-F238E27FC236}">
                <a16:creationId xmlns:a16="http://schemas.microsoft.com/office/drawing/2014/main" id="{6427A0AF-B826-4522-8C33-E8251C706115}"/>
              </a:ext>
            </a:extLst>
          </p:cNvPr>
          <p:cNvSpPr>
            <a:spLocks xmlns:a="http://schemas.openxmlformats.org/drawingml/2006/main" noGrp="1"/>
          </p:cNvSpPr>
          <p:nvPr/>
        </p:nvSpPr>
        <p:spPr>
          <a:xfrm xmlns:a="http://schemas.openxmlformats.org/drawingml/2006/main">
            <a:off x="609600" y="26670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02C29"/>
                </a:solidFill>
                <a:latin typeface="Arial"/>
                <a:ea typeface="Arial"/>
                <a:cs typeface="Arial"/>
              </a:defRPr>
            </a:pPr>
            <a:r>
              <a:rPr sz="2250" b="0">
                <a:solidFill>
                  <a:srgbClr val="202C29"/>
                </a:solidFill>
                <a:latin typeface="Arial"/>
                <a:ea typeface="Arial"/>
                <a:cs typeface="Arial"/>
              </a:rPr>
              <a:t>Provisional serviceable cohort: 60-180 reachable invitees.</a:t>
            </a:r>
          </a:p>
        </p:txBody>
      </p:sp>
      <p:sp>
        <p:nvSpPr>
          <p:cNvPr id="5" name="">
            <a:extLst xmlns:a="http://schemas.openxmlformats.org/drawingml/2006/main">
              <a:ext uri="{FF2B5EF4-FFF2-40B4-BE49-F238E27FC236}">
                <a16:creationId xmlns:a16="http://schemas.microsoft.com/office/drawing/2014/main" id="{D27827A0-8D8A-4D77-959F-982D47BCBF2A}"/>
              </a:ext>
            </a:extLst>
          </p:cNvPr>
          <p:cNvSpPr>
            <a:spLocks xmlns:a="http://schemas.openxmlformats.org/drawingml/2006/main" noGrp="1"/>
          </p:cNvSpPr>
          <p:nvPr/>
        </p:nvSpPr>
        <p:spPr>
          <a:xfrm xmlns:a="http://schemas.openxmlformats.org/drawingml/2006/main">
            <a:off x="609600" y="36195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02C29"/>
                </a:solidFill>
                <a:latin typeface="Arial"/>
                <a:ea typeface="Arial"/>
                <a:cs typeface="Arial"/>
              </a:defRPr>
            </a:pPr>
            <a:r>
              <a:rPr sz="2250" b="0">
                <a:solidFill>
                  <a:srgbClr val="202C29"/>
                </a:solidFill>
                <a:latin typeface="Arial"/>
                <a:ea typeface="Arial"/>
                <a:cs typeface="Arial"/>
              </a:rPr>
              <a:t>Base: 120 invitees, 15% activation, 40% completing a trade.</a:t>
            </a:r>
          </a:p>
        </p:txBody>
      </p:sp>
      <p:sp>
        <p:nvSpPr>
          <p:cNvPr id="6" name="">
            <a:extLst xmlns:a="http://schemas.openxmlformats.org/drawingml/2006/main">
              <a:ext uri="{FF2B5EF4-FFF2-40B4-BE49-F238E27FC236}">
                <a16:creationId xmlns:a16="http://schemas.microsoft.com/office/drawing/2014/main" id="{71E46FB7-B7E9-4783-A686-9BBF634FD9BC}"/>
              </a:ext>
            </a:extLst>
          </p:cNvPr>
          <p:cNvSpPr>
            <a:spLocks xmlns:a="http://schemas.openxmlformats.org/drawingml/2006/main" noGrp="1"/>
          </p:cNvSpPr>
          <p:nvPr/>
        </p:nvSpPr>
        <p:spPr>
          <a:xfrm xmlns:a="http://schemas.openxmlformats.org/drawingml/2006/main">
            <a:off x="609600" y="45720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02C29"/>
                </a:solidFill>
                <a:latin typeface="Arial"/>
                <a:ea typeface="Arial"/>
                <a:cs typeface="Arial"/>
              </a:defRPr>
            </a:pPr>
            <a:r>
              <a:rPr sz="2250" b="0">
                <a:solidFill>
                  <a:srgbClr val="202C29"/>
                </a:solidFill>
                <a:latin typeface="Arial"/>
                <a:ea typeface="Arial"/>
                <a:cs typeface="Arial"/>
              </a:rPr>
              <a:t>Expected base output: 7.2 trades and CNY 216 GMV in four weeks.</a:t>
            </a:r>
          </a:p>
        </p:txBody>
      </p:sp>
      <p:sp>
        <p:nvSpPr>
          <p:cNvPr id="7" name="">
            <a:extLst xmlns:a="http://schemas.openxmlformats.org/drawingml/2006/main">
              <a:ext uri="{FF2B5EF4-FFF2-40B4-BE49-F238E27FC236}">
                <a16:creationId xmlns:a16="http://schemas.microsoft.com/office/drawing/2014/main" id="{B5AD861A-14F3-455B-99C2-20062BAB3384}"/>
              </a:ext>
            </a:extLst>
          </p:cNvPr>
          <p:cNvSpPr>
            <a:spLocks xmlns:a="http://schemas.openxmlformats.org/drawingml/2006/main" noGrp="1"/>
          </p:cNvSpPr>
          <p:nvPr/>
        </p:nvSpPr>
        <p:spPr>
          <a:xfrm xmlns:a="http://schemas.openxmlformats.org/drawingml/2006/main">
            <a:off x="609600" y="5953125"/>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Scenario, not observed traction. Zero demand remains a possible outcome.</a:t>
            </a:r>
          </a:p>
        </p:txBody>
      </p:sp>
      <p:sp>
        <p:nvSpPr>
          <p:cNvPr id="8" name="">
            <a:extLst xmlns:a="http://schemas.openxmlformats.org/drawingml/2006/main">
              <a:ext uri="{FF2B5EF4-FFF2-40B4-BE49-F238E27FC236}">
                <a16:creationId xmlns:a16="http://schemas.microsoft.com/office/drawing/2014/main" id="{9F72191E-34CB-4FF2-8C81-FD5829E5AE8B}"/>
              </a:ext>
            </a:extLst>
          </p:cNvPr>
          <p:cNvSpPr>
            <a:spLocks xmlns:a="http://schemas.openxmlformats.org/drawingml/2006/main" noGrp="1"/>
          </p:cNvSpPr>
          <p:nvPr/>
        </p:nvSpPr>
        <p:spPr>
          <a:xfrm xmlns:a="http://schemas.openxmlformats.org/drawingml/2006/main">
            <a:off x="10763250" y="647700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05C"/>
                </a:solidFill>
                <a:latin typeface="Arial"/>
                <a:ea typeface="Arial"/>
                <a:cs typeface="Arial"/>
              </a:defRPr>
            </a:pPr>
            <a:r>
              <a:rPr sz="1350" b="0">
                <a:solidFill>
                  <a:srgbClr val="54605C"/>
                </a:solidFill>
                <a:latin typeface="Arial"/>
                <a:ea typeface="Arial"/>
                <a:cs typeface="Arial"/>
              </a:rPr>
              <a:t>4 / 12</a:t>
            </a:r>
          </a:p>
        </p:txBody>
      </p:sp>
    </p:spTree>
    <p:extLst>
      <p:ext uri="{BB962C8B-B14F-4D97-AF65-F5344CB8AC3E}">
        <p14:creationId xmlns:p14="http://schemas.microsoft.com/office/powerpoint/2010/main" val="18809905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8B40777-B835-450F-BF8A-B833223BD28A}"/>
              </a:ext>
            </a:extLst>
          </p:cNvPr>
          <p:cNvSpPr>
            <a:spLocks xmlns:a="http://schemas.openxmlformats.org/drawingml/2006/main" noGrp="1"/>
          </p:cNvSpPr>
          <p:nvPr/>
        </p:nvSpPr>
        <p:spPr>
          <a:xfrm xmlns:a="http://schemas.openxmlformats.org/drawingml/2006/main">
            <a:off x="609600" y="2762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ENT303TC 2026/27  A3</a:t>
            </a:r>
          </a:p>
        </p:txBody>
      </p:sp>
      <p:sp>
        <p:nvSpPr>
          <p:cNvPr id="2" name="">
            <a:extLst xmlns:a="http://schemas.openxmlformats.org/drawingml/2006/main">
              <a:ext uri="{FF2B5EF4-FFF2-40B4-BE49-F238E27FC236}">
                <a16:creationId xmlns:a16="http://schemas.microsoft.com/office/drawing/2014/main" id="{65BB301F-F758-415A-B0F6-2BBD0CAEF178}"/>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C29"/>
                </a:solidFill>
                <a:latin typeface="Arial"/>
                <a:ea typeface="Arial"/>
                <a:cs typeface="Arial"/>
              </a:defRPr>
            </a:pPr>
            <a:r>
              <a:rPr sz="3300" b="1">
                <a:solidFill>
                  <a:srgbClr val="202C29"/>
                </a:solidFill>
                <a:latin typeface="Arial"/>
                <a:ea typeface="Arial"/>
                <a:cs typeface="Arial"/>
              </a:rPr>
              <a:t>Competitors and substitutes</a:t>
            </a:r>
          </a:p>
        </p:txBody>
      </p:sp>
      <p:graphicFrame>
        <p:nvGraphicFramePr>
          <p:cNvPr id="8" name=""/>
          <p:cNvGraphicFramePr/>
          <p:nvPr/>
        </p:nvGraphicFramePr>
        <p:xfrm>
          <a:off xmlns:a="http://schemas.openxmlformats.org/drawingml/2006/main" x="609600" y="1714500"/>
          <a:ext xmlns:a="http://schemas.openxmlformats.org/drawingml/2006/main" cx="10972800" cy="3810000"/>
        </p:xfrm>
        <a:graphic xmlns:a="http://schemas.openxmlformats.org/drawingml/2006/main">
          <a:graphicData uri="http://schemas.openxmlformats.org/drawingml/2006/table">
            <a:tbl>
              <a:tblPr/>
              <a:tblGrid>
                <a:gridCol w="2514600"/>
                <a:gridCol w="3962400"/>
                <a:gridCol w="4495800"/>
              </a:tblGrid>
              <a:tr h="762000">
                <a:tc>
                  <a:txBody>
                    <a:bodyPr>
                      <a:noAutofit/>
                    </a:bodyPr>
                    <a:lstStyle/>
                    <a:p>
                      <a:r>
                        <a:rPr sz="1800" b="1">
                          <a:solidFill>
                            <a:srgbClr val="FFFFFF"/>
                          </a:solidFill>
                          <a:latin typeface="Arial"/>
                          <a:ea typeface="Arial"/>
                          <a:cs typeface="Arial"/>
                        </a:rPr>
                        <a:t>Alternative</a:t>
                      </a:r>
                    </a:p>
                  </a:txBody>
                  <a:tcPr marL="91440" marR="91440" marT="45720" marB="45720">
                    <a:solidFill>
                      <a:srgbClr val="27634E"/>
                    </a:solidFill>
                  </a:tcPr>
                </a:tc>
                <a:tc>
                  <a:txBody>
                    <a:bodyPr>
                      <a:noAutofit/>
                    </a:bodyPr>
                    <a:lstStyle/>
                    <a:p>
                      <a:r>
                        <a:rPr sz="1800" b="1">
                          <a:solidFill>
                            <a:srgbClr val="FFFFFF"/>
                          </a:solidFill>
                          <a:latin typeface="Arial"/>
                          <a:ea typeface="Arial"/>
                          <a:cs typeface="Arial"/>
                        </a:rPr>
                        <a:t>Role in the task</a:t>
                      </a:r>
                    </a:p>
                  </a:txBody>
                  <a:tcPr marL="91440" marR="91440" marT="45720" marB="45720">
                    <a:solidFill>
                      <a:srgbClr val="27634E"/>
                    </a:solidFill>
                  </a:tcPr>
                </a:tc>
                <a:tc>
                  <a:txBody>
                    <a:bodyPr>
                      <a:noAutofit/>
                    </a:bodyPr>
                    <a:lstStyle/>
                    <a:p>
                      <a:r>
                        <a:rPr sz="1800" b="1">
                          <a:solidFill>
                            <a:srgbClr val="FFFFFF"/>
                          </a:solidFill>
                          <a:latin typeface="Arial"/>
                          <a:ea typeface="Arial"/>
                          <a:cs typeface="Arial"/>
                        </a:rPr>
                        <a:t>What to compare</a:t>
                      </a:r>
                    </a:p>
                  </a:txBody>
                  <a:tcPr marL="91440" marR="91440" marT="45720" marB="45720">
                    <a:solidFill>
                      <a:srgbClr val="27634E"/>
                    </a:solidFill>
                  </a:tcPr>
                </a:tc>
              </a:tr>
              <a:tr h="762000">
                <a:tc>
                  <a:txBody>
                    <a:bodyPr>
                      <a:noAutofit/>
                    </a:bodyPr>
                    <a:lstStyle/>
                    <a:p>
                      <a:r>
                        <a:rPr sz="1800" b="0">
                          <a:solidFill>
                            <a:srgbClr val="202C29"/>
                          </a:solidFill>
                          <a:latin typeface="Arial"/>
                          <a:ea typeface="Arial"/>
                          <a:cs typeface="Arial"/>
                        </a:rPr>
                        <a:t>Goofish</a:t>
                      </a:r>
                    </a:p>
                  </a:txBody>
                  <a:tcPr marL="91440" marR="91440" marT="45720" marB="45720">
                    <a:solidFill>
                      <a:srgbClr val="F2F6F3"/>
                    </a:solidFill>
                  </a:tcPr>
                </a:tc>
                <a:tc>
                  <a:txBody>
                    <a:bodyPr>
                      <a:noAutofit/>
                    </a:bodyPr>
                    <a:lstStyle/>
                    <a:p>
                      <a:r>
                        <a:rPr sz="1800" b="0">
                          <a:solidFill>
                            <a:srgbClr val="202C29"/>
                          </a:solidFill>
                          <a:latin typeface="Arial"/>
                          <a:ea typeface="Arial"/>
                          <a:cs typeface="Arial"/>
                        </a:rPr>
                        <a:t>General second-hand discovery</a:t>
                      </a:r>
                    </a:p>
                  </a:txBody>
                  <a:tcPr marL="91440" marR="91440" marT="45720" marB="45720">
                    <a:solidFill>
                      <a:srgbClr val="F2F6F3"/>
                    </a:solidFill>
                  </a:tcPr>
                </a:tc>
                <a:tc>
                  <a:txBody>
                    <a:bodyPr>
                      <a:noAutofit/>
                    </a:bodyPr>
                    <a:lstStyle/>
                    <a:p>
                      <a:r>
                        <a:rPr sz="1800" b="0">
                          <a:solidFill>
                            <a:srgbClr val="202C29"/>
                          </a:solidFill>
                          <a:latin typeface="Arial"/>
                          <a:ea typeface="Arial"/>
                          <a:cs typeface="Arial"/>
                        </a:rPr>
                        <a:t>Time to find and agree a handoff</a:t>
                      </a:r>
                    </a:p>
                  </a:txBody>
                  <a:tcPr marL="91440" marR="91440" marT="45720" marB="45720">
                    <a:solidFill>
                      <a:srgbClr val="F2F6F3"/>
                    </a:solidFill>
                  </a:tcPr>
                </a:tc>
              </a:tr>
              <a:tr h="762000">
                <a:tc>
                  <a:txBody>
                    <a:bodyPr>
                      <a:noAutofit/>
                    </a:bodyPr>
                    <a:lstStyle/>
                    <a:p>
                      <a:r>
                        <a:rPr sz="1800" b="0">
                          <a:solidFill>
                            <a:srgbClr val="202C29"/>
                          </a:solidFill>
                          <a:latin typeface="Arial"/>
                          <a:ea typeface="Arial"/>
                          <a:cs typeface="Arial"/>
                        </a:rPr>
                        <a:t>Renrenzu</a:t>
                      </a:r>
                    </a:p>
                  </a:txBody>
                  <a:tcPr marL="91440" marR="91440" marT="45720" marB="45720">
                    <a:solidFill>
                      <a:srgbClr val="FFFFFF"/>
                    </a:solidFill>
                  </a:tcPr>
                </a:tc>
                <a:tc>
                  <a:txBody>
                    <a:bodyPr>
                      <a:noAutofit/>
                    </a:bodyPr>
                    <a:lstStyle/>
                    <a:p>
                      <a:r>
                        <a:rPr sz="1800" b="0">
                          <a:solidFill>
                            <a:srgbClr val="202C29"/>
                          </a:solidFill>
                          <a:latin typeface="Arial"/>
                          <a:ea typeface="Arial"/>
                          <a:cs typeface="Arial"/>
                        </a:rPr>
                        <a:t>Access through rental listings</a:t>
                      </a:r>
                    </a:p>
                  </a:txBody>
                  <a:tcPr marL="91440" marR="91440" marT="45720" marB="45720">
                    <a:solidFill>
                      <a:srgbClr val="FFFFFF"/>
                    </a:solidFill>
                  </a:tcPr>
                </a:tc>
                <a:tc>
                  <a:txBody>
                    <a:bodyPr>
                      <a:noAutofit/>
                    </a:bodyPr>
                    <a:lstStyle/>
                    <a:p>
                      <a:r>
                        <a:rPr sz="1800" b="0">
                          <a:solidFill>
                            <a:srgbClr val="202C29"/>
                          </a:solidFill>
                          <a:latin typeface="Arial"/>
                          <a:ea typeface="Arial"/>
                          <a:cs typeface="Arial"/>
                        </a:rPr>
                        <a:t>Duration, total cost and terms</a:t>
                      </a:r>
                    </a:p>
                  </a:txBody>
                  <a:tcPr marL="91440" marR="91440" marT="45720" marB="45720">
                    <a:solidFill>
                      <a:srgbClr val="FFFFFF"/>
                    </a:solidFill>
                  </a:tcPr>
                </a:tc>
              </a:tr>
              <a:tr h="762000">
                <a:tc>
                  <a:txBody>
                    <a:bodyPr>
                      <a:noAutofit/>
                    </a:bodyPr>
                    <a:lstStyle/>
                    <a:p>
                      <a:r>
                        <a:rPr sz="1800" b="0">
                          <a:solidFill>
                            <a:srgbClr val="202C29"/>
                          </a:solidFill>
                          <a:latin typeface="Arial"/>
                          <a:ea typeface="Arial"/>
                          <a:cs typeface="Arial"/>
                        </a:rPr>
                        <a:t>Aihuishou</a:t>
                      </a:r>
                    </a:p>
                  </a:txBody>
                  <a:tcPr marL="91440" marR="91440" marT="45720" marB="45720">
                    <a:solidFill>
                      <a:srgbClr val="F2F6F3"/>
                    </a:solidFill>
                  </a:tcPr>
                </a:tc>
                <a:tc>
                  <a:txBody>
                    <a:bodyPr>
                      <a:noAutofit/>
                    </a:bodyPr>
                    <a:lstStyle/>
                    <a:p>
                      <a:r>
                        <a:rPr sz="1800" b="0">
                          <a:solidFill>
                            <a:srgbClr val="202C29"/>
                          </a:solidFill>
                          <a:latin typeface="Arial"/>
                          <a:ea typeface="Arial"/>
                          <a:cs typeface="Arial"/>
                        </a:rPr>
                        <a:t>Recycling and resale</a:t>
                      </a:r>
                    </a:p>
                  </a:txBody>
                  <a:tcPr marL="91440" marR="91440" marT="45720" marB="45720">
                    <a:solidFill>
                      <a:srgbClr val="F2F6F3"/>
                    </a:solidFill>
                  </a:tcPr>
                </a:tc>
                <a:tc>
                  <a:txBody>
                    <a:bodyPr>
                      <a:noAutofit/>
                    </a:bodyPr>
                    <a:lstStyle/>
                    <a:p>
                      <a:r>
                        <a:rPr sz="1800" b="0">
                          <a:solidFill>
                            <a:srgbClr val="202C29"/>
                          </a:solidFill>
                          <a:latin typeface="Arial"/>
                          <a:ea typeface="Arial"/>
                          <a:cs typeface="Arial"/>
                        </a:rPr>
                        <a:t>Ownership and fulfilment process</a:t>
                      </a:r>
                    </a:p>
                  </a:txBody>
                  <a:tcPr marL="91440" marR="91440" marT="45720" marB="45720">
                    <a:solidFill>
                      <a:srgbClr val="F2F6F3"/>
                    </a:solidFill>
                  </a:tcPr>
                </a:tc>
              </a:tr>
              <a:tr h="762000">
                <a:tc>
                  <a:txBody>
                    <a:bodyPr>
                      <a:noAutofit/>
                    </a:bodyPr>
                    <a:lstStyle/>
                    <a:p>
                      <a:r>
                        <a:rPr sz="1800" b="0">
                          <a:solidFill>
                            <a:srgbClr val="202C29"/>
                          </a:solidFill>
                          <a:latin typeface="Arial"/>
                          <a:ea typeface="Arial"/>
                          <a:cs typeface="Arial"/>
                        </a:rPr>
                        <a:t>Friends or a class group</a:t>
                      </a:r>
                    </a:p>
                  </a:txBody>
                  <a:tcPr marL="91440" marR="91440" marT="45720" marB="45720">
                    <a:solidFill>
                      <a:srgbClr val="FFFFFF"/>
                    </a:solidFill>
                  </a:tcPr>
                </a:tc>
                <a:tc>
                  <a:txBody>
                    <a:bodyPr>
                      <a:noAutofit/>
                    </a:bodyPr>
                    <a:lstStyle/>
                    <a:p>
                      <a:r>
                        <a:rPr sz="1800" b="0">
                          <a:solidFill>
                            <a:srgbClr val="202C29"/>
                          </a:solidFill>
                          <a:latin typeface="Arial"/>
                          <a:ea typeface="Arial"/>
                          <a:cs typeface="Arial"/>
                        </a:rPr>
                        <a:t>Informal borrowing substitute</a:t>
                      </a:r>
                    </a:p>
                  </a:txBody>
                  <a:tcPr marL="91440" marR="91440" marT="45720" marB="45720">
                    <a:solidFill>
                      <a:srgbClr val="FFFFFF"/>
                    </a:solidFill>
                  </a:tcPr>
                </a:tc>
                <a:tc>
                  <a:txBody>
                    <a:bodyPr>
                      <a:noAutofit/>
                    </a:bodyPr>
                    <a:lstStyle/>
                    <a:p>
                      <a:r>
                        <a:rPr sz="1800" b="0">
                          <a:solidFill>
                            <a:srgbClr val="202C29"/>
                          </a:solidFill>
                          <a:latin typeface="Arial"/>
                          <a:ea typeface="Arial"/>
                          <a:cs typeface="Arial"/>
                        </a:rPr>
                        <a:t>Reach, clarity and follow-up</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7401124-A16E-4E73-9337-05C91889FC42}"/>
              </a:ext>
            </a:extLst>
          </p:cNvPr>
          <p:cNvSpPr>
            <a:spLocks xmlns:a="http://schemas.openxmlformats.org/drawingml/2006/main" noGrp="1"/>
          </p:cNvSpPr>
          <p:nvPr/>
        </p:nvSpPr>
        <p:spPr>
          <a:xfrm xmlns:a="http://schemas.openxmlformats.org/drawingml/2006/main">
            <a:off x="609600" y="5953125"/>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Feature absence claims require a documented task-level review.</a:t>
            </a:r>
          </a:p>
        </p:txBody>
      </p:sp>
      <p:sp>
        <p:nvSpPr>
          <p:cNvPr id="5" name="">
            <a:extLst xmlns:a="http://schemas.openxmlformats.org/drawingml/2006/main">
              <a:ext uri="{FF2B5EF4-FFF2-40B4-BE49-F238E27FC236}">
                <a16:creationId xmlns:a16="http://schemas.microsoft.com/office/drawing/2014/main" id="{1282EBDB-8D1F-4FD8-A892-C1B81C32306E}"/>
              </a:ext>
            </a:extLst>
          </p:cNvPr>
          <p:cNvSpPr>
            <a:spLocks xmlns:a="http://schemas.openxmlformats.org/drawingml/2006/main" noGrp="1"/>
          </p:cNvSpPr>
          <p:nvPr/>
        </p:nvSpPr>
        <p:spPr>
          <a:xfrm xmlns:a="http://schemas.openxmlformats.org/drawingml/2006/main">
            <a:off x="10763250" y="647700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05C"/>
                </a:solidFill>
                <a:latin typeface="Arial"/>
                <a:ea typeface="Arial"/>
                <a:cs typeface="Arial"/>
              </a:defRPr>
            </a:pPr>
            <a:r>
              <a:rPr sz="1350" b="0">
                <a:solidFill>
                  <a:srgbClr val="54605C"/>
                </a:solidFill>
                <a:latin typeface="Arial"/>
                <a:ea typeface="Arial"/>
                <a:cs typeface="Arial"/>
              </a:rPr>
              <a:t>5 / 12</a:t>
            </a:r>
          </a:p>
        </p:txBody>
      </p:sp>
    </p:spTree>
    <p:extLst>
      <p:ext uri="{BB962C8B-B14F-4D97-AF65-F5344CB8AC3E}">
        <p14:creationId xmlns:p14="http://schemas.microsoft.com/office/powerpoint/2010/main" val="3382876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9B1E4A2-F41A-4653-8AEC-702FD497AE29}"/>
              </a:ext>
            </a:extLst>
          </p:cNvPr>
          <p:cNvSpPr>
            <a:spLocks xmlns:a="http://schemas.openxmlformats.org/drawingml/2006/main" noGrp="1"/>
          </p:cNvSpPr>
          <p:nvPr/>
        </p:nvSpPr>
        <p:spPr>
          <a:xfrm xmlns:a="http://schemas.openxmlformats.org/drawingml/2006/main">
            <a:off x="609600" y="2762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ENT303TC 2026/27  A3</a:t>
            </a:r>
          </a:p>
        </p:txBody>
      </p:sp>
      <p:sp>
        <p:nvSpPr>
          <p:cNvPr id="2" name="">
            <a:extLst xmlns:a="http://schemas.openxmlformats.org/drawingml/2006/main">
              <a:ext uri="{FF2B5EF4-FFF2-40B4-BE49-F238E27FC236}">
                <a16:creationId xmlns:a16="http://schemas.microsoft.com/office/drawing/2014/main" id="{EA2942DB-8459-4D14-8062-CA09D6A58A6D}"/>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C29"/>
                </a:solidFill>
                <a:latin typeface="Arial"/>
                <a:ea typeface="Arial"/>
                <a:cs typeface="Arial"/>
              </a:defRPr>
            </a:pPr>
            <a:r>
              <a:rPr sz="3300" b="1">
                <a:solidFill>
                  <a:srgbClr val="202C29"/>
                </a:solidFill>
                <a:latin typeface="Arial"/>
                <a:ea typeface="Arial"/>
                <a:cs typeface="Arial"/>
              </a:rPr>
              <a:t>Date-aware discovery</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7fdee19a5a94901"/>
          <a:stretch xmlns:a="http://schemas.openxmlformats.org/drawingml/2006/main"/>
        </p:blipFill>
        <p:spPr>
          <a:xfrm xmlns:a="http://schemas.openxmlformats.org/drawingml/2006/main">
            <a:off x="1375109" y="1619250"/>
            <a:ext cx="5422232" cy="39624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C84C3F2-685D-4E9C-A1AE-CA3FBDA541EB}"/>
              </a:ext>
            </a:extLst>
          </p:cNvPr>
          <p:cNvSpPr>
            <a:spLocks xmlns:a="http://schemas.openxmlformats.org/drawingml/2006/main" noGrp="1"/>
          </p:cNvSpPr>
          <p:nvPr/>
        </p:nvSpPr>
        <p:spPr>
          <a:xfrm xmlns:a="http://schemas.openxmlformats.org/drawingml/2006/main">
            <a:off x="7905750" y="1752600"/>
            <a:ext cx="3676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Choose the dates when the item is needed.</a:t>
            </a:r>
          </a:p>
        </p:txBody>
      </p:sp>
      <p:sp>
        <p:nvSpPr>
          <p:cNvPr id="5" name="">
            <a:extLst xmlns:a="http://schemas.openxmlformats.org/drawingml/2006/main">
              <a:ext uri="{FF2B5EF4-FFF2-40B4-BE49-F238E27FC236}">
                <a16:creationId xmlns:a16="http://schemas.microsoft.com/office/drawing/2014/main" id="{C5F430B6-43B2-411C-8075-4E13469EFACD}"/>
              </a:ext>
            </a:extLst>
          </p:cNvPr>
          <p:cNvSpPr>
            <a:spLocks xmlns:a="http://schemas.openxmlformats.org/drawingml/2006/main" noGrp="1"/>
          </p:cNvSpPr>
          <p:nvPr/>
        </p:nvSpPr>
        <p:spPr>
          <a:xfrm xmlns:a="http://schemas.openxmlformats.org/drawingml/2006/main">
            <a:off x="7905750" y="2667000"/>
            <a:ext cx="3676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Filter out unavailable periods and overlapping bookings.</a:t>
            </a:r>
          </a:p>
        </p:txBody>
      </p:sp>
      <p:sp>
        <p:nvSpPr>
          <p:cNvPr id="6" name="">
            <a:extLst xmlns:a="http://schemas.openxmlformats.org/drawingml/2006/main">
              <a:ext uri="{FF2B5EF4-FFF2-40B4-BE49-F238E27FC236}">
                <a16:creationId xmlns:a16="http://schemas.microsoft.com/office/drawing/2014/main" id="{50CF60E7-F904-45F0-B2D6-3CC4D501FCAF}"/>
              </a:ext>
            </a:extLst>
          </p:cNvPr>
          <p:cNvSpPr>
            <a:spLocks xmlns:a="http://schemas.openxmlformats.org/drawingml/2006/main" noGrp="1"/>
          </p:cNvSpPr>
          <p:nvPr/>
        </p:nvSpPr>
        <p:spPr>
          <a:xfrm xmlns:a="http://schemas.openxmlformats.org/drawingml/2006/main">
            <a:off x="7905750" y="3581400"/>
            <a:ext cx="3676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Use specific campus meeting labels.</a:t>
            </a:r>
          </a:p>
        </p:txBody>
      </p:sp>
      <p:sp>
        <p:nvSpPr>
          <p:cNvPr id="7" name="">
            <a:extLst xmlns:a="http://schemas.openxmlformats.org/drawingml/2006/main">
              <a:ext uri="{FF2B5EF4-FFF2-40B4-BE49-F238E27FC236}">
                <a16:creationId xmlns:a16="http://schemas.microsoft.com/office/drawing/2014/main" id="{6F500D30-9F1E-4C13-B838-B389A2705595}"/>
              </a:ext>
            </a:extLst>
          </p:cNvPr>
          <p:cNvSpPr>
            <a:spLocks xmlns:a="http://schemas.openxmlformats.org/drawingml/2006/main" noGrp="1"/>
          </p:cNvSpPr>
          <p:nvPr/>
        </p:nvSpPr>
        <p:spPr>
          <a:xfrm xmlns:a="http://schemas.openxmlformats.org/drawingml/2006/main">
            <a:off x="7905750" y="4495800"/>
            <a:ext cx="3676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Keep location sharing optional.</a:t>
            </a:r>
          </a:p>
        </p:txBody>
      </p:sp>
      <p:sp>
        <p:nvSpPr>
          <p:cNvPr id="8" name="">
            <a:extLst xmlns:a="http://schemas.openxmlformats.org/drawingml/2006/main">
              <a:ext uri="{FF2B5EF4-FFF2-40B4-BE49-F238E27FC236}">
                <a16:creationId xmlns:a16="http://schemas.microsoft.com/office/drawing/2014/main" id="{2AAF55C0-A6A6-44DD-8CE5-F7333803F375}"/>
              </a:ext>
            </a:extLst>
          </p:cNvPr>
          <p:cNvSpPr>
            <a:spLocks xmlns:a="http://schemas.openxmlformats.org/drawingml/2006/main" noGrp="1"/>
          </p:cNvSpPr>
          <p:nvPr/>
        </p:nvSpPr>
        <p:spPr>
          <a:xfrm xmlns:a="http://schemas.openxmlformats.org/drawingml/2006/main">
            <a:off x="609600" y="5953125"/>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Actual prototype with synthetic inventory. Availability still depends on owners maintaining listings.</a:t>
            </a:r>
          </a:p>
        </p:txBody>
      </p:sp>
      <p:sp>
        <p:nvSpPr>
          <p:cNvPr id="9" name="">
            <a:extLst xmlns:a="http://schemas.openxmlformats.org/drawingml/2006/main">
              <a:ext uri="{FF2B5EF4-FFF2-40B4-BE49-F238E27FC236}">
                <a16:creationId xmlns:a16="http://schemas.microsoft.com/office/drawing/2014/main" id="{4276CBBA-5AE3-440A-A21D-AD57DD72A12B}"/>
              </a:ext>
            </a:extLst>
          </p:cNvPr>
          <p:cNvSpPr>
            <a:spLocks xmlns:a="http://schemas.openxmlformats.org/drawingml/2006/main" noGrp="1"/>
          </p:cNvSpPr>
          <p:nvPr/>
        </p:nvSpPr>
        <p:spPr>
          <a:xfrm xmlns:a="http://schemas.openxmlformats.org/drawingml/2006/main">
            <a:off x="10763250" y="647700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05C"/>
                </a:solidFill>
                <a:latin typeface="Arial"/>
                <a:ea typeface="Arial"/>
                <a:cs typeface="Arial"/>
              </a:defRPr>
            </a:pPr>
            <a:r>
              <a:rPr sz="1350" b="0">
                <a:solidFill>
                  <a:srgbClr val="54605C"/>
                </a:solidFill>
                <a:latin typeface="Arial"/>
                <a:ea typeface="Arial"/>
                <a:cs typeface="Arial"/>
              </a:rPr>
              <a:t>6 / 12</a:t>
            </a:r>
          </a:p>
        </p:txBody>
      </p:sp>
    </p:spTree>
    <p:extLst>
      <p:ext uri="{BB962C8B-B14F-4D97-AF65-F5344CB8AC3E}">
        <p14:creationId xmlns:p14="http://schemas.microsoft.com/office/powerpoint/2010/main" val="137219466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DFAFBF1-E857-45DF-8301-3B22E06689C1}"/>
              </a:ext>
            </a:extLst>
          </p:cNvPr>
          <p:cNvSpPr>
            <a:spLocks xmlns:a="http://schemas.openxmlformats.org/drawingml/2006/main" noGrp="1"/>
          </p:cNvSpPr>
          <p:nvPr/>
        </p:nvSpPr>
        <p:spPr>
          <a:xfrm xmlns:a="http://schemas.openxmlformats.org/drawingml/2006/main">
            <a:off x="609600" y="2762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ENT303TC 2026/27  A3</a:t>
            </a:r>
          </a:p>
        </p:txBody>
      </p:sp>
      <p:sp>
        <p:nvSpPr>
          <p:cNvPr id="2" name="">
            <a:extLst xmlns:a="http://schemas.openxmlformats.org/drawingml/2006/main">
              <a:ext uri="{FF2B5EF4-FFF2-40B4-BE49-F238E27FC236}">
                <a16:creationId xmlns:a16="http://schemas.microsoft.com/office/drawing/2014/main" id="{B065E289-46E3-474B-A3D6-A28F7831E56F}"/>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C29"/>
                </a:solidFill>
                <a:latin typeface="Arial"/>
                <a:ea typeface="Arial"/>
                <a:cs typeface="Arial"/>
              </a:defRPr>
            </a:pPr>
            <a:r>
              <a:rPr sz="3300" b="1">
                <a:solidFill>
                  <a:srgbClr val="202C29"/>
                </a:solidFill>
                <a:latin typeface="Arial"/>
                <a:ea typeface="Arial"/>
                <a:cs typeface="Arial"/>
              </a:rPr>
              <a:t>The needs board</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224c20acb6c4e69"/>
          <a:stretch xmlns:a="http://schemas.openxmlformats.org/drawingml/2006/main"/>
        </p:blipFill>
        <p:spPr>
          <a:xfrm xmlns:a="http://schemas.openxmlformats.org/drawingml/2006/main">
            <a:off x="916305" y="1619250"/>
            <a:ext cx="6339840" cy="39624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9CD1DCA-35A0-46A8-A786-6D8638B689B3}"/>
              </a:ext>
            </a:extLst>
          </p:cNvPr>
          <p:cNvSpPr>
            <a:spLocks xmlns:a="http://schemas.openxmlformats.org/drawingml/2006/main" noGrp="1"/>
          </p:cNvSpPr>
          <p:nvPr/>
        </p:nvSpPr>
        <p:spPr>
          <a:xfrm xmlns:a="http://schemas.openxmlformats.org/drawingml/2006/main">
            <a:off x="7905750" y="1752600"/>
            <a:ext cx="3676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Post a dated request with campus and budget.</a:t>
            </a:r>
          </a:p>
        </p:txBody>
      </p:sp>
      <p:sp>
        <p:nvSpPr>
          <p:cNvPr id="5" name="">
            <a:extLst xmlns:a="http://schemas.openxmlformats.org/drawingml/2006/main">
              <a:ext uri="{FF2B5EF4-FFF2-40B4-BE49-F238E27FC236}">
                <a16:creationId xmlns:a16="http://schemas.microsoft.com/office/drawing/2014/main" id="{E108FEF6-0E97-4DCC-9B17-DB20B424E782}"/>
              </a:ext>
            </a:extLst>
          </p:cNvPr>
          <p:cNvSpPr>
            <a:spLocks xmlns:a="http://schemas.openxmlformats.org/drawingml/2006/main" noGrp="1"/>
          </p:cNvSpPr>
          <p:nvPr/>
        </p:nvSpPr>
        <p:spPr>
          <a:xfrm xmlns:a="http://schemas.openxmlformats.org/drawingml/2006/main">
            <a:off x="7905750" y="2667000"/>
            <a:ext cx="3676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Owners respond with their own eligible item.</a:t>
            </a:r>
          </a:p>
        </p:txBody>
      </p:sp>
      <p:sp>
        <p:nvSpPr>
          <p:cNvPr id="6" name="">
            <a:extLst xmlns:a="http://schemas.openxmlformats.org/drawingml/2006/main">
              <a:ext uri="{FF2B5EF4-FFF2-40B4-BE49-F238E27FC236}">
                <a16:creationId xmlns:a16="http://schemas.microsoft.com/office/drawing/2014/main" id="{EF77AFB5-8969-4C0D-B9CE-8596EDAAC1F8}"/>
              </a:ext>
            </a:extLst>
          </p:cNvPr>
          <p:cNvSpPr>
            <a:spLocks xmlns:a="http://schemas.openxmlformats.org/drawingml/2006/main" noGrp="1"/>
          </p:cNvSpPr>
          <p:nvPr/>
        </p:nvSpPr>
        <p:spPr>
          <a:xfrm xmlns:a="http://schemas.openxmlformats.org/drawingml/2006/main">
            <a:off x="7905750" y="3581400"/>
            <a:ext cx="3676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Review the offer before beginning a booking.</a:t>
            </a:r>
          </a:p>
        </p:txBody>
      </p:sp>
      <p:sp>
        <p:nvSpPr>
          <p:cNvPr id="7" name="">
            <a:extLst xmlns:a="http://schemas.openxmlformats.org/drawingml/2006/main">
              <a:ext uri="{FF2B5EF4-FFF2-40B4-BE49-F238E27FC236}">
                <a16:creationId xmlns:a16="http://schemas.microsoft.com/office/drawing/2014/main" id="{58645B86-1A4C-4E59-A456-60A3DA0A6F71}"/>
              </a:ext>
            </a:extLst>
          </p:cNvPr>
          <p:cNvSpPr>
            <a:spLocks xmlns:a="http://schemas.openxmlformats.org/drawingml/2006/main" noGrp="1"/>
          </p:cNvSpPr>
          <p:nvPr/>
        </p:nvSpPr>
        <p:spPr>
          <a:xfrm xmlns:a="http://schemas.openxmlformats.org/drawingml/2006/main">
            <a:off x="7905750" y="4495800"/>
            <a:ext cx="3676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Measure useful responses and completed trades.</a:t>
            </a:r>
          </a:p>
        </p:txBody>
      </p:sp>
      <p:sp>
        <p:nvSpPr>
          <p:cNvPr id="8" name="">
            <a:extLst xmlns:a="http://schemas.openxmlformats.org/drawingml/2006/main">
              <a:ext uri="{FF2B5EF4-FFF2-40B4-BE49-F238E27FC236}">
                <a16:creationId xmlns:a16="http://schemas.microsoft.com/office/drawing/2014/main" id="{0BB0241C-524A-4B9B-99D4-4916E488C4E4}"/>
              </a:ext>
            </a:extLst>
          </p:cNvPr>
          <p:cNvSpPr>
            <a:spLocks xmlns:a="http://schemas.openxmlformats.org/drawingml/2006/main" noGrp="1"/>
          </p:cNvSpPr>
          <p:nvPr/>
        </p:nvSpPr>
        <p:spPr>
          <a:xfrm xmlns:a="http://schemas.openxmlformats.org/drawingml/2006/main">
            <a:off x="609600" y="5953125"/>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Request-first matching is implemented. Its effect on liquidity remains a testable hypothesis.</a:t>
            </a:r>
          </a:p>
        </p:txBody>
      </p:sp>
      <p:sp>
        <p:nvSpPr>
          <p:cNvPr id="9" name="">
            <a:extLst xmlns:a="http://schemas.openxmlformats.org/drawingml/2006/main">
              <a:ext uri="{FF2B5EF4-FFF2-40B4-BE49-F238E27FC236}">
                <a16:creationId xmlns:a16="http://schemas.microsoft.com/office/drawing/2014/main" id="{FD4F8895-2B7E-40B2-82F4-B2042169EB36}"/>
              </a:ext>
            </a:extLst>
          </p:cNvPr>
          <p:cNvSpPr>
            <a:spLocks xmlns:a="http://schemas.openxmlformats.org/drawingml/2006/main" noGrp="1"/>
          </p:cNvSpPr>
          <p:nvPr/>
        </p:nvSpPr>
        <p:spPr>
          <a:xfrm xmlns:a="http://schemas.openxmlformats.org/drawingml/2006/main">
            <a:off x="10763250" y="647700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05C"/>
                </a:solidFill>
                <a:latin typeface="Arial"/>
                <a:ea typeface="Arial"/>
                <a:cs typeface="Arial"/>
              </a:defRPr>
            </a:pPr>
            <a:r>
              <a:rPr sz="1350" b="0">
                <a:solidFill>
                  <a:srgbClr val="54605C"/>
                </a:solidFill>
                <a:latin typeface="Arial"/>
                <a:ea typeface="Arial"/>
                <a:cs typeface="Arial"/>
              </a:rPr>
              <a:t>7 / 12</a:t>
            </a:r>
          </a:p>
        </p:txBody>
      </p:sp>
    </p:spTree>
    <p:extLst>
      <p:ext uri="{BB962C8B-B14F-4D97-AF65-F5344CB8AC3E}">
        <p14:creationId xmlns:p14="http://schemas.microsoft.com/office/powerpoint/2010/main" val="33559056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B713F83-C7FC-40E8-BE0C-2481B4C04562}"/>
              </a:ext>
            </a:extLst>
          </p:cNvPr>
          <p:cNvSpPr>
            <a:spLocks xmlns:a="http://schemas.openxmlformats.org/drawingml/2006/main" noGrp="1"/>
          </p:cNvSpPr>
          <p:nvPr/>
        </p:nvSpPr>
        <p:spPr>
          <a:xfrm xmlns:a="http://schemas.openxmlformats.org/drawingml/2006/main">
            <a:off x="609600" y="2762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ENT303TC 2026/27  A3</a:t>
            </a:r>
          </a:p>
        </p:txBody>
      </p:sp>
      <p:sp>
        <p:nvSpPr>
          <p:cNvPr id="2" name="">
            <a:extLst xmlns:a="http://schemas.openxmlformats.org/drawingml/2006/main">
              <a:ext uri="{FF2B5EF4-FFF2-40B4-BE49-F238E27FC236}">
                <a16:creationId xmlns:a16="http://schemas.microsoft.com/office/drawing/2014/main" id="{2D68732D-D664-4044-B581-6ED71BB14F72}"/>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C29"/>
                </a:solidFill>
                <a:latin typeface="Arial"/>
                <a:ea typeface="Arial"/>
                <a:cs typeface="Arial"/>
              </a:defRPr>
            </a:pPr>
            <a:r>
              <a:rPr sz="3300" b="1">
                <a:solidFill>
                  <a:srgbClr val="202C29"/>
                </a:solidFill>
                <a:latin typeface="Arial"/>
                <a:ea typeface="Arial"/>
                <a:cs typeface="Arial"/>
              </a:rPr>
              <a:t>Personal schedules and privacy</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e21f078a902458a"/>
          <a:stretch xmlns:a="http://schemas.openxmlformats.org/drawingml/2006/main"/>
        </p:blipFill>
        <p:spPr>
          <a:xfrm xmlns:a="http://schemas.openxmlformats.org/drawingml/2006/main">
            <a:off x="609600" y="1741959"/>
            <a:ext cx="5286375" cy="371698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B6F4B23-6779-4182-A4A7-3CC85BFA3C84}"/>
              </a:ext>
            </a:extLst>
          </p:cNvPr>
          <p:cNvSpPr>
            <a:spLocks xmlns:a="http://schemas.openxmlformats.org/drawingml/2006/main" noGrp="1"/>
          </p:cNvSpPr>
          <p:nvPr/>
        </p:nvSpPr>
        <p:spPr>
          <a:xfrm xmlns:a="http://schemas.openxmlformats.org/drawingml/2006/main">
            <a:off x="6438900" y="1752600"/>
            <a:ext cx="5143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Import a screenshot or PDF, or add classes manually.</a:t>
            </a:r>
          </a:p>
        </p:txBody>
      </p:sp>
      <p:sp>
        <p:nvSpPr>
          <p:cNvPr id="5" name="">
            <a:extLst xmlns:a="http://schemas.openxmlformats.org/drawingml/2006/main">
              <a:ext uri="{FF2B5EF4-FFF2-40B4-BE49-F238E27FC236}">
                <a16:creationId xmlns:a16="http://schemas.microsoft.com/office/drawing/2014/main" id="{5903B292-D70F-4751-BEA2-00417FD39BED}"/>
              </a:ext>
            </a:extLst>
          </p:cNvPr>
          <p:cNvSpPr>
            <a:spLocks xmlns:a="http://schemas.openxmlformats.org/drawingml/2006/main" noGrp="1"/>
          </p:cNvSpPr>
          <p:nvPr/>
        </p:nvSpPr>
        <p:spPr>
          <a:xfrm xmlns:a="http://schemas.openxmlformats.org/drawingml/2006/main">
            <a:off x="6438900" y="2667000"/>
            <a:ext cx="5143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Confirm each person's term, weeks and exceptions.</a:t>
            </a:r>
          </a:p>
        </p:txBody>
      </p:sp>
      <p:sp>
        <p:nvSpPr>
          <p:cNvPr id="6" name="">
            <a:extLst xmlns:a="http://schemas.openxmlformats.org/drawingml/2006/main">
              <a:ext uri="{FF2B5EF4-FFF2-40B4-BE49-F238E27FC236}">
                <a16:creationId xmlns:a16="http://schemas.microsoft.com/office/drawing/2014/main" id="{F2D4DA00-8A60-468F-AFBB-DEA63E1FD212}"/>
              </a:ext>
            </a:extLst>
          </p:cNvPr>
          <p:cNvSpPr>
            <a:spLocks xmlns:a="http://schemas.openxmlformats.org/drawingml/2006/main" noGrp="1"/>
          </p:cNvSpPr>
          <p:nvPr/>
        </p:nvSpPr>
        <p:spPr>
          <a:xfrm xmlns:a="http://schemas.openxmlformats.org/drawingml/2006/main">
            <a:off x="6438900" y="3581400"/>
            <a:ext cx="5143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Suggest a mutually available time and meeting place.</a:t>
            </a:r>
          </a:p>
        </p:txBody>
      </p:sp>
      <p:sp>
        <p:nvSpPr>
          <p:cNvPr id="7" name="">
            <a:extLst xmlns:a="http://schemas.openxmlformats.org/drawingml/2006/main">
              <a:ext uri="{FF2B5EF4-FFF2-40B4-BE49-F238E27FC236}">
                <a16:creationId xmlns:a16="http://schemas.microsoft.com/office/drawing/2014/main" id="{574DF9F2-BBB4-4851-B2B9-CC551C131818}"/>
              </a:ext>
            </a:extLst>
          </p:cNvPr>
          <p:cNvSpPr>
            <a:spLocks xmlns:a="http://schemas.openxmlformats.org/drawingml/2006/main" noGrp="1"/>
          </p:cNvSpPr>
          <p:nvPr/>
        </p:nvSpPr>
        <p:spPr>
          <a:xfrm xmlns:a="http://schemas.openxmlformats.org/drawingml/2006/main">
            <a:off x="6438900" y="4495800"/>
            <a:ext cx="5143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Share neither the full timetable nor live GPS by default.</a:t>
            </a:r>
          </a:p>
        </p:txBody>
      </p:sp>
      <p:sp>
        <p:nvSpPr>
          <p:cNvPr id="8" name="">
            <a:extLst xmlns:a="http://schemas.openxmlformats.org/drawingml/2006/main">
              <a:ext uri="{FF2B5EF4-FFF2-40B4-BE49-F238E27FC236}">
                <a16:creationId xmlns:a16="http://schemas.microsoft.com/office/drawing/2014/main" id="{818AA6A5-6676-4BC4-8833-AF4DFEB1DBC0}"/>
              </a:ext>
            </a:extLst>
          </p:cNvPr>
          <p:cNvSpPr>
            <a:spLocks xmlns:a="http://schemas.openxmlformats.org/drawingml/2006/main" noGrp="1"/>
          </p:cNvSpPr>
          <p:nvPr/>
        </p:nvSpPr>
        <p:spPr>
          <a:xfrm xmlns:a="http://schemas.openxmlformats.org/drawingml/2006/main">
            <a:off x="609600" y="5953125"/>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OCR can misread a table. Manual review remains mandatory.</a:t>
            </a:r>
          </a:p>
        </p:txBody>
      </p:sp>
      <p:sp>
        <p:nvSpPr>
          <p:cNvPr id="9" name="">
            <a:extLst xmlns:a="http://schemas.openxmlformats.org/drawingml/2006/main">
              <a:ext uri="{FF2B5EF4-FFF2-40B4-BE49-F238E27FC236}">
                <a16:creationId xmlns:a16="http://schemas.microsoft.com/office/drawing/2014/main" id="{A598CDBC-09FD-4EFB-A955-27873B68199F}"/>
              </a:ext>
            </a:extLst>
          </p:cNvPr>
          <p:cNvSpPr>
            <a:spLocks xmlns:a="http://schemas.openxmlformats.org/drawingml/2006/main" noGrp="1"/>
          </p:cNvSpPr>
          <p:nvPr/>
        </p:nvSpPr>
        <p:spPr>
          <a:xfrm xmlns:a="http://schemas.openxmlformats.org/drawingml/2006/main">
            <a:off x="10763250" y="647700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05C"/>
                </a:solidFill>
                <a:latin typeface="Arial"/>
                <a:ea typeface="Arial"/>
                <a:cs typeface="Arial"/>
              </a:defRPr>
            </a:pPr>
            <a:r>
              <a:rPr sz="1350" b="0">
                <a:solidFill>
                  <a:srgbClr val="54605C"/>
                </a:solidFill>
                <a:latin typeface="Arial"/>
                <a:ea typeface="Arial"/>
                <a:cs typeface="Arial"/>
              </a:rPr>
              <a:t>8 / 12</a:t>
            </a:r>
          </a:p>
        </p:txBody>
      </p:sp>
    </p:spTree>
    <p:extLst>
      <p:ext uri="{BB962C8B-B14F-4D97-AF65-F5344CB8AC3E}">
        <p14:creationId xmlns:p14="http://schemas.microsoft.com/office/powerpoint/2010/main" val="958081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64CBA2F-C0FE-4EEA-92FA-7DD8ED16FC7F}"/>
              </a:ext>
            </a:extLst>
          </p:cNvPr>
          <p:cNvSpPr>
            <a:spLocks xmlns:a="http://schemas.openxmlformats.org/drawingml/2006/main" noGrp="1"/>
          </p:cNvSpPr>
          <p:nvPr/>
        </p:nvSpPr>
        <p:spPr>
          <a:xfrm xmlns:a="http://schemas.openxmlformats.org/drawingml/2006/main">
            <a:off x="609600" y="2762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ENT303TC 2026/27  A3</a:t>
            </a:r>
          </a:p>
        </p:txBody>
      </p:sp>
      <p:sp>
        <p:nvSpPr>
          <p:cNvPr id="2" name="">
            <a:extLst xmlns:a="http://schemas.openxmlformats.org/drawingml/2006/main">
              <a:ext uri="{FF2B5EF4-FFF2-40B4-BE49-F238E27FC236}">
                <a16:creationId xmlns:a16="http://schemas.microsoft.com/office/drawing/2014/main" id="{7ADD6C2B-4480-4C04-868E-B538D6F23862}"/>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C29"/>
                </a:solidFill>
                <a:latin typeface="Arial"/>
                <a:ea typeface="Arial"/>
                <a:cs typeface="Arial"/>
              </a:defRPr>
            </a:pPr>
            <a:r>
              <a:rPr sz="3300" b="1">
                <a:solidFill>
                  <a:srgbClr val="202C29"/>
                </a:solidFill>
                <a:latin typeface="Arial"/>
                <a:ea typeface="Arial"/>
                <a:cs typeface="Arial"/>
              </a:rPr>
              <a:t>Engineering and operating limits</a:t>
            </a:r>
          </a:p>
        </p:txBody>
      </p:sp>
      <p:sp>
        <p:nvSpPr>
          <p:cNvPr id="3" name="">
            <a:extLst xmlns:a="http://schemas.openxmlformats.org/drawingml/2006/main">
              <a:ext uri="{FF2B5EF4-FFF2-40B4-BE49-F238E27FC236}">
                <a16:creationId xmlns:a16="http://schemas.microsoft.com/office/drawing/2014/main" id="{6ED4EEAD-BE08-4DD9-9E35-D5ABF84BA777}"/>
              </a:ext>
            </a:extLst>
          </p:cNvPr>
          <p:cNvSpPr>
            <a:spLocks xmlns:a="http://schemas.openxmlformats.org/drawingml/2006/main" noGrp="1"/>
          </p:cNvSpPr>
          <p:nvPr/>
        </p:nvSpPr>
        <p:spPr>
          <a:xfrm xmlns:a="http://schemas.openxmlformats.org/drawingml/2006/main">
            <a:off x="609600" y="1714500"/>
            <a:ext cx="5181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7634E"/>
                </a:solidFill>
                <a:latin typeface="Arial"/>
                <a:ea typeface="Arial"/>
                <a:cs typeface="Arial"/>
              </a:defRPr>
            </a:pPr>
            <a:r>
              <a:rPr sz="2250" b="1">
                <a:solidFill>
                  <a:srgbClr val="27634E"/>
                </a:solidFill>
                <a:latin typeface="Arial"/>
                <a:ea typeface="Arial"/>
                <a:cs typeface="Arial"/>
              </a:rPr>
              <a:t>Implemented safeguards</a:t>
            </a:r>
          </a:p>
        </p:txBody>
      </p:sp>
      <p:sp>
        <p:nvSpPr>
          <p:cNvPr id="4" name="">
            <a:extLst xmlns:a="http://schemas.openxmlformats.org/drawingml/2006/main">
              <a:ext uri="{FF2B5EF4-FFF2-40B4-BE49-F238E27FC236}">
                <a16:creationId xmlns:a16="http://schemas.microsoft.com/office/drawing/2014/main" id="{AB579E34-BFEE-439D-B6AD-405E2DDE924C}"/>
              </a:ext>
            </a:extLst>
          </p:cNvPr>
          <p:cNvSpPr>
            <a:spLocks xmlns:a="http://schemas.openxmlformats.org/drawingml/2006/main" noGrp="1"/>
          </p:cNvSpPr>
          <p:nvPr/>
        </p:nvSpPr>
        <p:spPr>
          <a:xfrm xmlns:a="http://schemas.openxmlformats.org/drawingml/2006/main">
            <a:off x="6438900" y="17145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7634E"/>
                </a:solidFill>
                <a:latin typeface="Arial"/>
                <a:ea typeface="Arial"/>
                <a:cs typeface="Arial"/>
              </a:defRPr>
            </a:pPr>
            <a:r>
              <a:rPr sz="2250" b="1">
                <a:solidFill>
                  <a:srgbClr val="27634E"/>
                </a:solidFill>
                <a:latin typeface="Arial"/>
                <a:ea typeface="Arial"/>
                <a:cs typeface="Arial"/>
              </a:rPr>
              <a:t>Before public deployment</a:t>
            </a:r>
          </a:p>
        </p:txBody>
      </p:sp>
      <p:sp>
        <p:nvSpPr>
          <p:cNvPr id="5" name="">
            <a:extLst xmlns:a="http://schemas.openxmlformats.org/drawingml/2006/main">
              <a:ext uri="{FF2B5EF4-FFF2-40B4-BE49-F238E27FC236}">
                <a16:creationId xmlns:a16="http://schemas.microsoft.com/office/drawing/2014/main" id="{919155D1-BE25-4B99-B9C2-EFC0FF806916}"/>
              </a:ext>
            </a:extLst>
          </p:cNvPr>
          <p:cNvSpPr>
            <a:spLocks xmlns:a="http://schemas.openxmlformats.org/drawingml/2006/main" noGrp="1"/>
          </p:cNvSpPr>
          <p:nvPr/>
        </p:nvSpPr>
        <p:spPr>
          <a:xfrm xmlns:a="http://schemas.openxmlformats.org/drawingml/2006/main">
            <a:off x="609600" y="2371725"/>
            <a:ext cx="5181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Student-email verification and private session cookies.</a:t>
            </a:r>
          </a:p>
        </p:txBody>
      </p:sp>
      <p:sp>
        <p:nvSpPr>
          <p:cNvPr id="6" name="">
            <a:extLst xmlns:a="http://schemas.openxmlformats.org/drawingml/2006/main">
              <a:ext uri="{FF2B5EF4-FFF2-40B4-BE49-F238E27FC236}">
                <a16:creationId xmlns:a16="http://schemas.microsoft.com/office/drawing/2014/main" id="{9B41343D-06A1-4851-AA82-17C67D2D2BAB}"/>
              </a:ext>
            </a:extLst>
          </p:cNvPr>
          <p:cNvSpPr>
            <a:spLocks xmlns:a="http://schemas.openxmlformats.org/drawingml/2006/main" noGrp="1"/>
          </p:cNvSpPr>
          <p:nvPr/>
        </p:nvSpPr>
        <p:spPr>
          <a:xfrm xmlns:a="http://schemas.openxmlformats.org/drawingml/2006/main">
            <a:off x="609600" y="3200400"/>
            <a:ext cx="5181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Ownership checks, stock/date validation and retry deduplication.</a:t>
            </a:r>
          </a:p>
        </p:txBody>
      </p:sp>
      <p:sp>
        <p:nvSpPr>
          <p:cNvPr id="7" name="">
            <a:extLst xmlns:a="http://schemas.openxmlformats.org/drawingml/2006/main">
              <a:ext uri="{FF2B5EF4-FFF2-40B4-BE49-F238E27FC236}">
                <a16:creationId xmlns:a16="http://schemas.microsoft.com/office/drawing/2014/main" id="{D5E8BBAB-BDFD-4774-A958-4A37086AF831}"/>
              </a:ext>
            </a:extLst>
          </p:cNvPr>
          <p:cNvSpPr>
            <a:spLocks xmlns:a="http://schemas.openxmlformats.org/drawingml/2006/main" noGrp="1"/>
          </p:cNvSpPr>
          <p:nvPr/>
        </p:nvSpPr>
        <p:spPr>
          <a:xfrm xmlns:a="http://schemas.openxmlformats.org/drawingml/2006/main">
            <a:off x="609600" y="4029075"/>
            <a:ext cx="5181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Photo review, participant confirmation and disputes.</a:t>
            </a:r>
          </a:p>
        </p:txBody>
      </p:sp>
      <p:sp>
        <p:nvSpPr>
          <p:cNvPr id="8" name="">
            <a:extLst xmlns:a="http://schemas.openxmlformats.org/drawingml/2006/main">
              <a:ext uri="{FF2B5EF4-FFF2-40B4-BE49-F238E27FC236}">
                <a16:creationId xmlns:a16="http://schemas.microsoft.com/office/drawing/2014/main" id="{20F3FFE0-A920-490C-BAE0-2242BDFAF5CD}"/>
              </a:ext>
            </a:extLst>
          </p:cNvPr>
          <p:cNvSpPr>
            <a:spLocks xmlns:a="http://schemas.openxmlformats.org/drawingml/2006/main" noGrp="1"/>
          </p:cNvSpPr>
          <p:nvPr/>
        </p:nvSpPr>
        <p:spPr>
          <a:xfrm xmlns:a="http://schemas.openxmlformats.org/drawingml/2006/main">
            <a:off x="609600" y="4857750"/>
            <a:ext cx="5181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Stable chat and notification history.</a:t>
            </a:r>
          </a:p>
        </p:txBody>
      </p:sp>
      <p:sp>
        <p:nvSpPr>
          <p:cNvPr id="9" name="">
            <a:extLst xmlns:a="http://schemas.openxmlformats.org/drawingml/2006/main">
              <a:ext uri="{FF2B5EF4-FFF2-40B4-BE49-F238E27FC236}">
                <a16:creationId xmlns:a16="http://schemas.microsoft.com/office/drawing/2014/main" id="{C5B3DED0-970E-4C4E-BA9D-51847FEEE6B5}"/>
              </a:ext>
            </a:extLst>
          </p:cNvPr>
          <p:cNvSpPr>
            <a:spLocks xmlns:a="http://schemas.openxmlformats.org/drawingml/2006/main" noGrp="1"/>
          </p:cNvSpPr>
          <p:nvPr/>
        </p:nvSpPr>
        <p:spPr>
          <a:xfrm xmlns:a="http://schemas.openxmlformats.org/drawingml/2006/main">
            <a:off x="6438900" y="2371725"/>
            <a:ext cx="5143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Production SMTP, HTTPS and PostgreSQL acceptance.</a:t>
            </a:r>
          </a:p>
        </p:txBody>
      </p:sp>
      <p:sp>
        <p:nvSpPr>
          <p:cNvPr id="10" name="">
            <a:extLst xmlns:a="http://schemas.openxmlformats.org/drawingml/2006/main">
              <a:ext uri="{FF2B5EF4-FFF2-40B4-BE49-F238E27FC236}">
                <a16:creationId xmlns:a16="http://schemas.microsoft.com/office/drawing/2014/main" id="{7C1EAAA8-1309-4680-8ABB-D89E7F8B048E}"/>
              </a:ext>
            </a:extLst>
          </p:cNvPr>
          <p:cNvSpPr>
            <a:spLocks xmlns:a="http://schemas.openxmlformats.org/drawingml/2006/main" noGrp="1"/>
          </p:cNvSpPr>
          <p:nvPr/>
        </p:nvSpPr>
        <p:spPr>
          <a:xfrm xmlns:a="http://schemas.openxmlformats.org/drawingml/2006/main">
            <a:off x="6438900" y="3200400"/>
            <a:ext cx="5143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Backup restore, real-device tests and moderator ownership.</a:t>
            </a:r>
          </a:p>
        </p:txBody>
      </p:sp>
      <p:sp>
        <p:nvSpPr>
          <p:cNvPr id="11" name="">
            <a:extLst xmlns:a="http://schemas.openxmlformats.org/drawingml/2006/main">
              <a:ext uri="{FF2B5EF4-FFF2-40B4-BE49-F238E27FC236}">
                <a16:creationId xmlns:a16="http://schemas.microsoft.com/office/drawing/2014/main" id="{2120BBC5-7C0C-4218-B8E0-3C34E54A17B8}"/>
              </a:ext>
            </a:extLst>
          </p:cNvPr>
          <p:cNvSpPr>
            <a:spLocks xmlns:a="http://schemas.openxmlformats.org/drawingml/2006/main" noGrp="1"/>
          </p:cNvSpPr>
          <p:nvPr/>
        </p:nvSpPr>
        <p:spPr>
          <a:xfrm xmlns:a="http://schemas.openxmlformats.org/drawingml/2006/main">
            <a:off x="6438900" y="4029075"/>
            <a:ext cx="5143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Payment and deposit policy reviewed with appropriate support.</a:t>
            </a:r>
          </a:p>
        </p:txBody>
      </p:sp>
      <p:sp>
        <p:nvSpPr>
          <p:cNvPr id="12" name="">
            <a:extLst xmlns:a="http://schemas.openxmlformats.org/drawingml/2006/main">
              <a:ext uri="{FF2B5EF4-FFF2-40B4-BE49-F238E27FC236}">
                <a16:creationId xmlns:a16="http://schemas.microsoft.com/office/drawing/2014/main" id="{083B8039-0484-45A1-A740-C83326C95929}"/>
              </a:ext>
            </a:extLst>
          </p:cNvPr>
          <p:cNvSpPr>
            <a:spLocks xmlns:a="http://schemas.openxmlformats.org/drawingml/2006/main" noGrp="1"/>
          </p:cNvSpPr>
          <p:nvPr/>
        </p:nvSpPr>
        <p:spPr>
          <a:xfrm xmlns:a="http://schemas.openxmlformats.org/drawingml/2006/main">
            <a:off x="6438900" y="4857750"/>
            <a:ext cx="5143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A controlled release with incident reporting.</a:t>
            </a:r>
          </a:p>
        </p:txBody>
      </p:sp>
      <p:sp>
        <p:nvSpPr>
          <p:cNvPr id="13" name="">
            <a:extLst xmlns:a="http://schemas.openxmlformats.org/drawingml/2006/main">
              <a:ext uri="{FF2B5EF4-FFF2-40B4-BE49-F238E27FC236}">
                <a16:creationId xmlns:a16="http://schemas.microsoft.com/office/drawing/2014/main" id="{97F804A3-8BE9-4F5C-A01A-6491D71D641B}"/>
              </a:ext>
            </a:extLst>
          </p:cNvPr>
          <p:cNvSpPr>
            <a:spLocks xmlns:a="http://schemas.openxmlformats.org/drawingml/2006/main" noGrp="1"/>
          </p:cNvSpPr>
          <p:nvPr/>
        </p:nvSpPr>
        <p:spPr>
          <a:xfrm xmlns:a="http://schemas.openxmlformats.org/drawingml/2006/main">
            <a:off x="609600" y="5953125"/>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No SSO, payment escrow, insured trades or zero-bug guarantee.</a:t>
            </a:r>
          </a:p>
        </p:txBody>
      </p:sp>
      <p:sp>
        <p:nvSpPr>
          <p:cNvPr id="14" name="">
            <a:extLst xmlns:a="http://schemas.openxmlformats.org/drawingml/2006/main">
              <a:ext uri="{FF2B5EF4-FFF2-40B4-BE49-F238E27FC236}">
                <a16:creationId xmlns:a16="http://schemas.microsoft.com/office/drawing/2014/main" id="{3B6AA3FB-7825-46F1-A234-BA5FEF3BB01C}"/>
              </a:ext>
            </a:extLst>
          </p:cNvPr>
          <p:cNvSpPr>
            <a:spLocks xmlns:a="http://schemas.openxmlformats.org/drawingml/2006/main" noGrp="1"/>
          </p:cNvSpPr>
          <p:nvPr/>
        </p:nvSpPr>
        <p:spPr>
          <a:xfrm xmlns:a="http://schemas.openxmlformats.org/drawingml/2006/main">
            <a:off x="10763250" y="647700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05C"/>
                </a:solidFill>
                <a:latin typeface="Arial"/>
                <a:ea typeface="Arial"/>
                <a:cs typeface="Arial"/>
              </a:defRPr>
            </a:pPr>
            <a:r>
              <a:rPr sz="1350" b="0">
                <a:solidFill>
                  <a:srgbClr val="54605C"/>
                </a:solidFill>
                <a:latin typeface="Arial"/>
                <a:ea typeface="Arial"/>
                <a:cs typeface="Arial"/>
              </a:rPr>
              <a:t>9 / 12</a:t>
            </a:r>
          </a:p>
        </p:txBody>
      </p:sp>
    </p:spTree>
    <p:extLst>
      <p:ext uri="{BB962C8B-B14F-4D97-AF65-F5344CB8AC3E}">
        <p14:creationId xmlns:p14="http://schemas.microsoft.com/office/powerpoint/2010/main" val="40554574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1EA898A-618A-4244-B4B4-7DED40F30F43}"/>
              </a:ext>
            </a:extLst>
          </p:cNvPr>
          <p:cNvSpPr>
            <a:spLocks xmlns:a="http://schemas.openxmlformats.org/drawingml/2006/main" noGrp="1"/>
          </p:cNvSpPr>
          <p:nvPr/>
        </p:nvSpPr>
        <p:spPr>
          <a:xfrm xmlns:a="http://schemas.openxmlformats.org/drawingml/2006/main">
            <a:off x="609600" y="2762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ENT303TC 2026/27  A3</a:t>
            </a:r>
          </a:p>
        </p:txBody>
      </p:sp>
      <p:sp>
        <p:nvSpPr>
          <p:cNvPr id="2" name="">
            <a:extLst xmlns:a="http://schemas.openxmlformats.org/drawingml/2006/main">
              <a:ext uri="{FF2B5EF4-FFF2-40B4-BE49-F238E27FC236}">
                <a16:creationId xmlns:a16="http://schemas.microsoft.com/office/drawing/2014/main" id="{9672613F-823A-4B7F-91FE-B7726BEC4222}"/>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C29"/>
                </a:solidFill>
                <a:latin typeface="Arial"/>
                <a:ea typeface="Arial"/>
                <a:cs typeface="Arial"/>
              </a:defRPr>
            </a:pPr>
            <a:r>
              <a:rPr sz="3300" b="1">
                <a:solidFill>
                  <a:srgbClr val="202C29"/>
                </a:solidFill>
                <a:latin typeface="Arial"/>
                <a:ea typeface="Arial"/>
                <a:cs typeface="Arial"/>
              </a:rPr>
              <a:t>Business model and costs</a:t>
            </a:r>
          </a:p>
        </p:txBody>
      </p:sp>
      <p:sp>
        <p:nvSpPr>
          <p:cNvPr id="3" name="">
            <a:extLst xmlns:a="http://schemas.openxmlformats.org/drawingml/2006/main">
              <a:ext uri="{FF2B5EF4-FFF2-40B4-BE49-F238E27FC236}">
                <a16:creationId xmlns:a16="http://schemas.microsoft.com/office/drawing/2014/main" id="{EFED6E64-E040-410B-B96E-9101A708DC74}"/>
              </a:ext>
            </a:extLst>
          </p:cNvPr>
          <p:cNvSpPr>
            <a:spLocks xmlns:a="http://schemas.openxmlformats.org/drawingml/2006/main" noGrp="1"/>
          </p:cNvSpPr>
          <p:nvPr/>
        </p:nvSpPr>
        <p:spPr>
          <a:xfrm xmlns:a="http://schemas.openxmlformats.org/drawingml/2006/main">
            <a:off x="609600" y="1714500"/>
            <a:ext cx="5181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7634E"/>
                </a:solidFill>
                <a:latin typeface="Arial"/>
                <a:ea typeface="Arial"/>
                <a:cs typeface="Arial"/>
              </a:defRPr>
            </a:pPr>
            <a:r>
              <a:rPr sz="2250" b="1">
                <a:solidFill>
                  <a:srgbClr val="27634E"/>
                </a:solidFill>
                <a:latin typeface="Arial"/>
                <a:ea typeface="Arial"/>
                <a:cs typeface="Arial"/>
              </a:rPr>
              <a:t>Nine-block service model</a:t>
            </a:r>
          </a:p>
        </p:txBody>
      </p:sp>
      <p:sp>
        <p:nvSpPr>
          <p:cNvPr id="4" name="">
            <a:extLst xmlns:a="http://schemas.openxmlformats.org/drawingml/2006/main">
              <a:ext uri="{FF2B5EF4-FFF2-40B4-BE49-F238E27FC236}">
                <a16:creationId xmlns:a16="http://schemas.microsoft.com/office/drawing/2014/main" id="{C840C9EE-C85F-46BA-952E-65A976A78675}"/>
              </a:ext>
            </a:extLst>
          </p:cNvPr>
          <p:cNvSpPr>
            <a:spLocks xmlns:a="http://schemas.openxmlformats.org/drawingml/2006/main" noGrp="1"/>
          </p:cNvSpPr>
          <p:nvPr/>
        </p:nvSpPr>
        <p:spPr>
          <a:xfrm xmlns:a="http://schemas.openxmlformats.org/drawingml/2006/main">
            <a:off x="6438900" y="17145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7634E"/>
                </a:solidFill>
                <a:latin typeface="Arial"/>
                <a:ea typeface="Arial"/>
                <a:cs typeface="Arial"/>
              </a:defRPr>
            </a:pPr>
            <a:r>
              <a:rPr sz="2250" b="1">
                <a:solidFill>
                  <a:srgbClr val="27634E"/>
                </a:solidFill>
                <a:latin typeface="Arial"/>
                <a:ea typeface="Arial"/>
                <a:cs typeface="Arial"/>
              </a:rPr>
              <a:t>Four-week base scenario</a:t>
            </a:r>
          </a:p>
        </p:txBody>
      </p:sp>
      <p:sp>
        <p:nvSpPr>
          <p:cNvPr id="5" name="">
            <a:extLst xmlns:a="http://schemas.openxmlformats.org/drawingml/2006/main">
              <a:ext uri="{FF2B5EF4-FFF2-40B4-BE49-F238E27FC236}">
                <a16:creationId xmlns:a16="http://schemas.microsoft.com/office/drawing/2014/main" id="{68BCEAF2-3217-48C4-ADF5-54CF08D7A370}"/>
              </a:ext>
            </a:extLst>
          </p:cNvPr>
          <p:cNvSpPr>
            <a:spLocks xmlns:a="http://schemas.openxmlformats.org/drawingml/2006/main" noGrp="1"/>
          </p:cNvSpPr>
          <p:nvPr/>
        </p:nvSpPr>
        <p:spPr>
          <a:xfrm xmlns:a="http://schemas.openxmlformats.org/drawingml/2006/main">
            <a:off x="609600" y="2371725"/>
            <a:ext cx="5181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Segments: occasional users and item owners.</a:t>
            </a:r>
          </a:p>
        </p:txBody>
      </p:sp>
      <p:sp>
        <p:nvSpPr>
          <p:cNvPr id="6" name="">
            <a:extLst xmlns:a="http://schemas.openxmlformats.org/drawingml/2006/main">
              <a:ext uri="{FF2B5EF4-FFF2-40B4-BE49-F238E27FC236}">
                <a16:creationId xmlns:a16="http://schemas.microsoft.com/office/drawing/2014/main" id="{80EDFED5-1A40-4487-B442-868DE7EC009E}"/>
              </a:ext>
            </a:extLst>
          </p:cNvPr>
          <p:cNvSpPr>
            <a:spLocks xmlns:a="http://schemas.openxmlformats.org/drawingml/2006/main" noGrp="1"/>
          </p:cNvSpPr>
          <p:nvPr/>
        </p:nvSpPr>
        <p:spPr>
          <a:xfrm xmlns:a="http://schemas.openxmlformats.org/drawingml/2006/main">
            <a:off x="609600" y="3038475"/>
            <a:ext cx="5181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Value: compatible dates and a clear local agreement.</a:t>
            </a:r>
          </a:p>
        </p:txBody>
      </p:sp>
      <p:sp>
        <p:nvSpPr>
          <p:cNvPr id="7" name="">
            <a:extLst xmlns:a="http://schemas.openxmlformats.org/drawingml/2006/main">
              <a:ext uri="{FF2B5EF4-FFF2-40B4-BE49-F238E27FC236}">
                <a16:creationId xmlns:a16="http://schemas.microsoft.com/office/drawing/2014/main" id="{B08C1A67-6932-4087-B393-D5104C168A6E}"/>
              </a:ext>
            </a:extLst>
          </p:cNvPr>
          <p:cNvSpPr>
            <a:spLocks xmlns:a="http://schemas.openxmlformats.org/drawingml/2006/main" noGrp="1"/>
          </p:cNvSpPr>
          <p:nvPr/>
        </p:nvSpPr>
        <p:spPr>
          <a:xfrm xmlns:a="http://schemas.openxmlformats.org/drawingml/2006/main">
            <a:off x="609600" y="3705225"/>
            <a:ext cx="5181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Channels: permitted classes and societies.</a:t>
            </a:r>
          </a:p>
        </p:txBody>
      </p:sp>
      <p:sp>
        <p:nvSpPr>
          <p:cNvPr id="8" name="">
            <a:extLst xmlns:a="http://schemas.openxmlformats.org/drawingml/2006/main">
              <a:ext uri="{FF2B5EF4-FFF2-40B4-BE49-F238E27FC236}">
                <a16:creationId xmlns:a16="http://schemas.microsoft.com/office/drawing/2014/main" id="{806D0090-5565-4392-813D-D79C9870214D}"/>
              </a:ext>
            </a:extLst>
          </p:cNvPr>
          <p:cNvSpPr>
            <a:spLocks xmlns:a="http://schemas.openxmlformats.org/drawingml/2006/main" noGrp="1"/>
          </p:cNvSpPr>
          <p:nvPr/>
        </p:nvSpPr>
        <p:spPr>
          <a:xfrm xmlns:a="http://schemas.openxmlformats.org/drawingml/2006/main">
            <a:off x="609600" y="4371975"/>
            <a:ext cx="5181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Activities/resources: moderation, code and evidence.</a:t>
            </a:r>
          </a:p>
        </p:txBody>
      </p:sp>
      <p:sp>
        <p:nvSpPr>
          <p:cNvPr id="9" name="">
            <a:extLst xmlns:a="http://schemas.openxmlformats.org/drawingml/2006/main">
              <a:ext uri="{FF2B5EF4-FFF2-40B4-BE49-F238E27FC236}">
                <a16:creationId xmlns:a16="http://schemas.microsoft.com/office/drawing/2014/main" id="{EA1C2935-86E5-4EDB-9E00-C1F8CCD813E7}"/>
              </a:ext>
            </a:extLst>
          </p:cNvPr>
          <p:cNvSpPr>
            <a:spLocks xmlns:a="http://schemas.openxmlformats.org/drawingml/2006/main" noGrp="1"/>
          </p:cNvSpPr>
          <p:nvPr/>
        </p:nvSpPr>
        <p:spPr>
          <a:xfrm xmlns:a="http://schemas.openxmlformats.org/drawingml/2006/main">
            <a:off x="609600" y="5038725"/>
            <a:ext cx="5181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Partners: prospective, none signed.</a:t>
            </a:r>
          </a:p>
        </p:txBody>
      </p:sp>
      <p:sp>
        <p:nvSpPr>
          <p:cNvPr id="10" name="">
            <a:extLst xmlns:a="http://schemas.openxmlformats.org/drawingml/2006/main">
              <a:ext uri="{FF2B5EF4-FFF2-40B4-BE49-F238E27FC236}">
                <a16:creationId xmlns:a16="http://schemas.microsoft.com/office/drawing/2014/main" id="{591100A9-42F2-4194-B2CF-74567B566AF1}"/>
              </a:ext>
            </a:extLst>
          </p:cNvPr>
          <p:cNvSpPr>
            <a:spLocks xmlns:a="http://schemas.openxmlformats.org/drawingml/2006/main" noGrp="1"/>
          </p:cNvSpPr>
          <p:nvPr/>
        </p:nvSpPr>
        <p:spPr>
          <a:xfrm xmlns:a="http://schemas.openxmlformats.org/drawingml/2006/main">
            <a:off x="6438900" y="2371725"/>
            <a:ext cx="5143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GMV CNY 216. Pilot revenue CNY 0.</a:t>
            </a:r>
          </a:p>
        </p:txBody>
      </p:sp>
      <p:sp>
        <p:nvSpPr>
          <p:cNvPr id="11" name="">
            <a:extLst xmlns:a="http://schemas.openxmlformats.org/drawingml/2006/main">
              <a:ext uri="{FF2B5EF4-FFF2-40B4-BE49-F238E27FC236}">
                <a16:creationId xmlns:a16="http://schemas.microsoft.com/office/drawing/2014/main" id="{0C609948-FB4C-44E8-ACBC-A0DB03C7369E}"/>
              </a:ext>
            </a:extLst>
          </p:cNvPr>
          <p:cNvSpPr>
            <a:spLocks xmlns:a="http://schemas.openxmlformats.org/drawingml/2006/main" noGrp="1"/>
          </p:cNvSpPr>
          <p:nvPr/>
        </p:nvSpPr>
        <p:spPr>
          <a:xfrm xmlns:a="http://schemas.openxmlformats.org/drawingml/2006/main">
            <a:off x="6438900" y="3038475"/>
            <a:ext cx="5143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Planned cash cost CNY 180.</a:t>
            </a:r>
          </a:p>
        </p:txBody>
      </p:sp>
      <p:sp>
        <p:nvSpPr>
          <p:cNvPr id="12" name="">
            <a:extLst xmlns:a="http://schemas.openxmlformats.org/drawingml/2006/main">
              <a:ext uri="{FF2B5EF4-FFF2-40B4-BE49-F238E27FC236}">
                <a16:creationId xmlns:a16="http://schemas.microsoft.com/office/drawing/2014/main" id="{217E3007-01F3-49C9-B698-1D5CB8BF82F8}"/>
              </a:ext>
            </a:extLst>
          </p:cNvPr>
          <p:cNvSpPr>
            <a:spLocks xmlns:a="http://schemas.openxmlformats.org/drawingml/2006/main" noGrp="1"/>
          </p:cNvSpPr>
          <p:nvPr/>
        </p:nvSpPr>
        <p:spPr>
          <a:xfrm xmlns:a="http://schemas.openxmlformats.org/drawingml/2006/main">
            <a:off x="6438900" y="3705225"/>
            <a:ext cx="5143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Team time 56 hours, assumed value CNY 1,120.</a:t>
            </a:r>
          </a:p>
        </p:txBody>
      </p:sp>
      <p:sp>
        <p:nvSpPr>
          <p:cNvPr id="13" name="">
            <a:extLst xmlns:a="http://schemas.openxmlformats.org/drawingml/2006/main">
              <a:ext uri="{FF2B5EF4-FFF2-40B4-BE49-F238E27FC236}">
                <a16:creationId xmlns:a16="http://schemas.microsoft.com/office/drawing/2014/main" id="{FDB41F5C-AEDB-4644-9C10-964BE5AE9F5C}"/>
              </a:ext>
            </a:extLst>
          </p:cNvPr>
          <p:cNvSpPr>
            <a:spLocks xmlns:a="http://schemas.openxmlformats.org/drawingml/2006/main" noGrp="1"/>
          </p:cNvSpPr>
          <p:nvPr/>
        </p:nvSpPr>
        <p:spPr>
          <a:xfrm xmlns:a="http://schemas.openxmlformats.org/drawingml/2006/main">
            <a:off x="6438900" y="4371975"/>
            <a:ext cx="5143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Later 5% fee: CNY 10.80 before costs.</a:t>
            </a:r>
          </a:p>
        </p:txBody>
      </p:sp>
      <p:sp>
        <p:nvSpPr>
          <p:cNvPr id="14" name="">
            <a:extLst xmlns:a="http://schemas.openxmlformats.org/drawingml/2006/main">
              <a:ext uri="{FF2B5EF4-FFF2-40B4-BE49-F238E27FC236}">
                <a16:creationId xmlns:a16="http://schemas.microsoft.com/office/drawing/2014/main" id="{041763E0-0940-4229-B51B-AA9CCF6D91D6}"/>
              </a:ext>
            </a:extLst>
          </p:cNvPr>
          <p:cNvSpPr>
            <a:spLocks xmlns:a="http://schemas.openxmlformats.org/drawingml/2006/main" noGrp="1"/>
          </p:cNvSpPr>
          <p:nvPr/>
        </p:nvSpPr>
        <p:spPr>
          <a:xfrm xmlns:a="http://schemas.openxmlformats.org/drawingml/2006/main">
            <a:off x="6438900" y="5038725"/>
            <a:ext cx="5143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Economics favour a small supported service.</a:t>
            </a:r>
          </a:p>
        </p:txBody>
      </p:sp>
      <p:sp>
        <p:nvSpPr>
          <p:cNvPr id="15" name="">
            <a:extLst xmlns:a="http://schemas.openxmlformats.org/drawingml/2006/main">
              <a:ext uri="{FF2B5EF4-FFF2-40B4-BE49-F238E27FC236}">
                <a16:creationId xmlns:a16="http://schemas.microsoft.com/office/drawing/2014/main" id="{11C45D69-F7BA-4009-8E41-A689746B4378}"/>
              </a:ext>
            </a:extLst>
          </p:cNvPr>
          <p:cNvSpPr>
            <a:spLocks xmlns:a="http://schemas.openxmlformats.org/drawingml/2006/main" noGrp="1"/>
          </p:cNvSpPr>
          <p:nvPr/>
        </p:nvSpPr>
        <p:spPr>
          <a:xfrm xmlns:a="http://schemas.openxmlformats.org/drawingml/2006/main">
            <a:off x="609600" y="5953125"/>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Relationship: responsive support. Costs and revenue are assumptions, not actuals.</a:t>
            </a:r>
          </a:p>
        </p:txBody>
      </p:sp>
      <p:sp>
        <p:nvSpPr>
          <p:cNvPr id="16" name="">
            <a:extLst xmlns:a="http://schemas.openxmlformats.org/drawingml/2006/main">
              <a:ext uri="{FF2B5EF4-FFF2-40B4-BE49-F238E27FC236}">
                <a16:creationId xmlns:a16="http://schemas.microsoft.com/office/drawing/2014/main" id="{F5328438-51D3-4B12-8346-802A7C4E5436}"/>
              </a:ext>
            </a:extLst>
          </p:cNvPr>
          <p:cNvSpPr>
            <a:spLocks xmlns:a="http://schemas.openxmlformats.org/drawingml/2006/main" noGrp="1"/>
          </p:cNvSpPr>
          <p:nvPr/>
        </p:nvSpPr>
        <p:spPr>
          <a:xfrm xmlns:a="http://schemas.openxmlformats.org/drawingml/2006/main">
            <a:off x="10763250" y="647700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05C"/>
                </a:solidFill>
                <a:latin typeface="Arial"/>
                <a:ea typeface="Arial"/>
                <a:cs typeface="Arial"/>
              </a:defRPr>
            </a:pPr>
            <a:r>
              <a:rPr sz="1350" b="0">
                <a:solidFill>
                  <a:srgbClr val="54605C"/>
                </a:solidFill>
                <a:latin typeface="Arial"/>
                <a:ea typeface="Arial"/>
                <a:cs typeface="Arial"/>
              </a:rPr>
              <a:t>10 / 12</a:t>
            </a:r>
          </a:p>
        </p:txBody>
      </p:sp>
    </p:spTree>
    <p:extLst>
      <p:ext uri="{BB962C8B-B14F-4D97-AF65-F5344CB8AC3E}">
        <p14:creationId xmlns:p14="http://schemas.microsoft.com/office/powerpoint/2010/main" val="8492523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8CDAB2-71F2-4CC6-9CC2-4BCF5A994E36}"/>
              </a:ext>
            </a:extLst>
          </p:cNvPr>
          <p:cNvSpPr>
            <a:spLocks xmlns:a="http://schemas.openxmlformats.org/drawingml/2006/main" noGrp="1"/>
          </p:cNvSpPr>
          <p:nvPr/>
        </p:nvSpPr>
        <p:spPr>
          <a:xfrm xmlns:a="http://schemas.openxmlformats.org/drawingml/2006/main">
            <a:off x="609600" y="2762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ENT303TC 2026/27  A3</a:t>
            </a:r>
          </a:p>
        </p:txBody>
      </p:sp>
      <p:sp>
        <p:nvSpPr>
          <p:cNvPr id="2" name="">
            <a:extLst xmlns:a="http://schemas.openxmlformats.org/drawingml/2006/main">
              <a:ext uri="{FF2B5EF4-FFF2-40B4-BE49-F238E27FC236}">
                <a16:creationId xmlns:a16="http://schemas.microsoft.com/office/drawing/2014/main" id="{62161623-7AC0-48B3-A3B5-AC1520257419}"/>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C29"/>
                </a:solidFill>
                <a:latin typeface="Arial"/>
                <a:ea typeface="Arial"/>
                <a:cs typeface="Arial"/>
              </a:defRPr>
            </a:pPr>
            <a:r>
              <a:rPr sz="3300" b="1">
                <a:solidFill>
                  <a:srgbClr val="202C29"/>
                </a:solidFill>
                <a:latin typeface="Arial"/>
                <a:ea typeface="Arial"/>
                <a:cs typeface="Arial"/>
              </a:rPr>
              <a:t>Pilot, decision gates and risks</a:t>
            </a:r>
          </a:p>
        </p:txBody>
      </p:sp>
      <p:graphicFrame>
        <p:nvGraphicFramePr>
          <p:cNvPr id="8" name=""/>
          <p:cNvGraphicFramePr/>
          <p:nvPr/>
        </p:nvGraphicFramePr>
        <p:xfrm>
          <a:off xmlns:a="http://schemas.openxmlformats.org/drawingml/2006/main" x="609600" y="1714500"/>
          <a:ext xmlns:a="http://schemas.openxmlformats.org/drawingml/2006/main" cx="10972800" cy="3810000"/>
        </p:xfrm>
        <a:graphic xmlns:a="http://schemas.openxmlformats.org/drawingml/2006/main">
          <a:graphicData uri="http://schemas.openxmlformats.org/drawingml/2006/table">
            <a:tbl>
              <a:tblPr/>
              <a:tblGrid>
                <a:gridCol w="2514600"/>
                <a:gridCol w="3962400"/>
                <a:gridCol w="4495800"/>
              </a:tblGrid>
              <a:tr h="762000">
                <a:tc>
                  <a:txBody>
                    <a:bodyPr>
                      <a:noAutofit/>
                    </a:bodyPr>
                    <a:lstStyle/>
                    <a:p>
                      <a:r>
                        <a:rPr sz="1800" b="1">
                          <a:solidFill>
                            <a:srgbClr val="FFFFFF"/>
                          </a:solidFill>
                          <a:latin typeface="Arial"/>
                          <a:ea typeface="Arial"/>
                          <a:cs typeface="Arial"/>
                        </a:rPr>
                        <a:t>Question</a:t>
                      </a:r>
                    </a:p>
                  </a:txBody>
                  <a:tcPr marL="91440" marR="91440" marT="45720" marB="45720">
                    <a:solidFill>
                      <a:srgbClr val="27634E"/>
                    </a:solidFill>
                  </a:tcPr>
                </a:tc>
                <a:tc>
                  <a:txBody>
                    <a:bodyPr>
                      <a:noAutofit/>
                    </a:bodyPr>
                    <a:lstStyle/>
                    <a:p>
                      <a:r>
                        <a:rPr sz="1800" b="1">
                          <a:solidFill>
                            <a:srgbClr val="FFFFFF"/>
                          </a:solidFill>
                          <a:latin typeface="Arial"/>
                          <a:ea typeface="Arial"/>
                          <a:cs typeface="Arial"/>
                        </a:rPr>
                        <a:t>Proposed gate</a:t>
                      </a:r>
                    </a:p>
                  </a:txBody>
                  <a:tcPr marL="91440" marR="91440" marT="45720" marB="45720">
                    <a:solidFill>
                      <a:srgbClr val="27634E"/>
                    </a:solidFill>
                  </a:tcPr>
                </a:tc>
                <a:tc>
                  <a:txBody>
                    <a:bodyPr>
                      <a:noAutofit/>
                    </a:bodyPr>
                    <a:lstStyle/>
                    <a:p>
                      <a:r>
                        <a:rPr sz="1800" b="1">
                          <a:solidFill>
                            <a:srgbClr val="FFFFFF"/>
                          </a:solidFill>
                          <a:latin typeface="Arial"/>
                          <a:ea typeface="Arial"/>
                          <a:cs typeface="Arial"/>
                        </a:rPr>
                        <a:t>Response if unmet</a:t>
                      </a:r>
                    </a:p>
                  </a:txBody>
                  <a:tcPr marL="91440" marR="91440" marT="45720" marB="45720">
                    <a:solidFill>
                      <a:srgbClr val="27634E"/>
                    </a:solidFill>
                  </a:tcPr>
                </a:tc>
              </a:tr>
              <a:tr h="762000">
                <a:tc>
                  <a:txBody>
                    <a:bodyPr>
                      <a:noAutofit/>
                    </a:bodyPr>
                    <a:lstStyle/>
                    <a:p>
                      <a:r>
                        <a:rPr sz="1800" b="0">
                          <a:solidFill>
                            <a:srgbClr val="202C29"/>
                          </a:solidFill>
                          <a:latin typeface="Arial"/>
                          <a:ea typeface="Arial"/>
                          <a:cs typeface="Arial"/>
                        </a:rPr>
                        <a:t>Can users finish the key task?</a:t>
                      </a:r>
                    </a:p>
                  </a:txBody>
                  <a:tcPr marL="91440" marR="91440" marT="45720" marB="45720">
                    <a:solidFill>
                      <a:srgbClr val="F2F6F3"/>
                    </a:solidFill>
                  </a:tcPr>
                </a:tc>
                <a:tc>
                  <a:txBody>
                    <a:bodyPr>
                      <a:noAutofit/>
                    </a:bodyPr>
                    <a:lstStyle/>
                    <a:p>
                      <a:r>
                        <a:rPr sz="1800" b="0">
                          <a:solidFill>
                            <a:srgbClr val="202C29"/>
                          </a:solidFill>
                          <a:latin typeface="Arial"/>
                          <a:ea typeface="Arial"/>
                          <a:cs typeface="Arial"/>
                        </a:rPr>
                        <a:t>At least 4 of 5 finish unaided</a:t>
                      </a:r>
                    </a:p>
                  </a:txBody>
                  <a:tcPr marL="91440" marR="91440" marT="45720" marB="45720">
                    <a:solidFill>
                      <a:srgbClr val="F2F6F3"/>
                    </a:solidFill>
                  </a:tcPr>
                </a:tc>
                <a:tc>
                  <a:txBody>
                    <a:bodyPr>
                      <a:noAutofit/>
                    </a:bodyPr>
                    <a:lstStyle/>
                    <a:p>
                      <a:r>
                        <a:rPr sz="1800" b="0">
                          <a:solidFill>
                            <a:srgbClr val="202C29"/>
                          </a:solidFill>
                          <a:latin typeface="Arial"/>
                          <a:ea typeface="Arial"/>
                          <a:cs typeface="Arial"/>
                        </a:rPr>
                        <a:t>Fix the flow before recruitment</a:t>
                      </a:r>
                    </a:p>
                  </a:txBody>
                  <a:tcPr marL="91440" marR="91440" marT="45720" marB="45720">
                    <a:solidFill>
                      <a:srgbClr val="F2F6F3"/>
                    </a:solidFill>
                  </a:tcPr>
                </a:tc>
              </a:tr>
              <a:tr h="762000">
                <a:tc>
                  <a:txBody>
                    <a:bodyPr>
                      <a:noAutofit/>
                    </a:bodyPr>
                    <a:lstStyle/>
                    <a:p>
                      <a:r>
                        <a:rPr sz="1800" b="0">
                          <a:solidFill>
                            <a:srgbClr val="202C29"/>
                          </a:solidFill>
                          <a:latin typeface="Arial"/>
                          <a:ea typeface="Arial"/>
                          <a:cs typeface="Arial"/>
                        </a:rPr>
                        <a:t>Can real requests find supply?</a:t>
                      </a:r>
                    </a:p>
                  </a:txBody>
                  <a:tcPr marL="91440" marR="91440" marT="45720" marB="45720">
                    <a:solidFill>
                      <a:srgbClr val="FFFFFF"/>
                    </a:solidFill>
                  </a:tcPr>
                </a:tc>
                <a:tc>
                  <a:txBody>
                    <a:bodyPr>
                      <a:noAutofit/>
                    </a:bodyPr>
                    <a:lstStyle/>
                    <a:p>
                      <a:r>
                        <a:rPr sz="1800" b="0">
                          <a:solidFill>
                            <a:srgbClr val="202C29"/>
                          </a:solidFill>
                          <a:latin typeface="Arial"/>
                          <a:ea typeface="Arial"/>
                          <a:cs typeface="Arial"/>
                        </a:rPr>
                        <a:t>3 useful replies within 48 hours</a:t>
                      </a:r>
                    </a:p>
                  </a:txBody>
                  <a:tcPr marL="91440" marR="91440" marT="45720" marB="45720">
                    <a:solidFill>
                      <a:srgbClr val="FFFFFF"/>
                    </a:solidFill>
                  </a:tcPr>
                </a:tc>
                <a:tc>
                  <a:txBody>
                    <a:bodyPr>
                      <a:noAutofit/>
                    </a:bodyPr>
                    <a:lstStyle/>
                    <a:p>
                      <a:r>
                        <a:rPr sz="1800" b="0">
                          <a:solidFill>
                            <a:srgbClr val="202C29"/>
                          </a:solidFill>
                          <a:latin typeface="Arial"/>
                          <a:ea typeface="Arial"/>
                          <a:cs typeface="Arial"/>
                        </a:rPr>
                        <a:t>Reduce categories or change service</a:t>
                      </a:r>
                    </a:p>
                  </a:txBody>
                  <a:tcPr marL="91440" marR="91440" marT="45720" marB="45720">
                    <a:solidFill>
                      <a:srgbClr val="FFFFFF"/>
                    </a:solidFill>
                  </a:tcPr>
                </a:tc>
              </a:tr>
              <a:tr h="762000">
                <a:tc>
                  <a:txBody>
                    <a:bodyPr>
                      <a:noAutofit/>
                    </a:bodyPr>
                    <a:lstStyle/>
                    <a:p>
                      <a:r>
                        <a:rPr sz="1800" b="0">
                          <a:solidFill>
                            <a:srgbClr val="202C29"/>
                          </a:solidFill>
                          <a:latin typeface="Arial"/>
                          <a:ea typeface="Arial"/>
                          <a:cs typeface="Arial"/>
                        </a:rPr>
                        <a:t>Can initial trades complete?</a:t>
                      </a:r>
                    </a:p>
                  </a:txBody>
                  <a:tcPr marL="91440" marR="91440" marT="45720" marB="45720">
                    <a:solidFill>
                      <a:srgbClr val="F2F6F3"/>
                    </a:solidFill>
                  </a:tcPr>
                </a:tc>
                <a:tc>
                  <a:txBody>
                    <a:bodyPr>
                      <a:noAutofit/>
                    </a:bodyPr>
                    <a:lstStyle/>
                    <a:p>
                      <a:r>
                        <a:rPr sz="1800" b="0">
                          <a:solidFill>
                            <a:srgbClr val="202C29"/>
                          </a:solidFill>
                          <a:latin typeface="Arial"/>
                          <a:ea typeface="Arial"/>
                          <a:cs typeface="Arial"/>
                        </a:rPr>
                        <a:t>3 completed pilot trades</a:t>
                      </a:r>
                    </a:p>
                  </a:txBody>
                  <a:tcPr marL="91440" marR="91440" marT="45720" marB="45720">
                    <a:solidFill>
                      <a:srgbClr val="F2F6F3"/>
                    </a:solidFill>
                  </a:tcPr>
                </a:tc>
                <a:tc>
                  <a:txBody>
                    <a:bodyPr>
                      <a:noAutofit/>
                    </a:bodyPr>
                    <a:lstStyle/>
                    <a:p>
                      <a:r>
                        <a:rPr sz="1800" b="0">
                          <a:solidFill>
                            <a:srgbClr val="202C29"/>
                          </a:solidFill>
                          <a:latin typeface="Arial"/>
                          <a:ea typeface="Arial"/>
                          <a:cs typeface="Arial"/>
                        </a:rPr>
                        <a:t>Study failures, avoid paid growth</a:t>
                      </a:r>
                    </a:p>
                  </a:txBody>
                  <a:tcPr marL="91440" marR="91440" marT="45720" marB="45720">
                    <a:solidFill>
                      <a:srgbClr val="F2F6F3"/>
                    </a:solidFill>
                  </a:tcPr>
                </a:tc>
              </a:tr>
              <a:tr h="762000">
                <a:tc>
                  <a:txBody>
                    <a:bodyPr>
                      <a:noAutofit/>
                    </a:bodyPr>
                    <a:lstStyle/>
                    <a:p>
                      <a:r>
                        <a:rPr sz="1800" b="0">
                          <a:solidFill>
                            <a:srgbClr val="202C29"/>
                          </a:solidFill>
                          <a:latin typeface="Arial"/>
                          <a:ea typeface="Arial"/>
                          <a:cs typeface="Arial"/>
                        </a:rPr>
                        <a:t>Can the team operate safely?</a:t>
                      </a:r>
                    </a:p>
                  </a:txBody>
                  <a:tcPr marL="91440" marR="91440" marT="45720" marB="45720">
                    <a:solidFill>
                      <a:srgbClr val="FFFFFF"/>
                    </a:solidFill>
                  </a:tcPr>
                </a:tc>
                <a:tc>
                  <a:txBody>
                    <a:bodyPr>
                      <a:noAutofit/>
                    </a:bodyPr>
                    <a:lstStyle/>
                    <a:p>
                      <a:r>
                        <a:rPr sz="1800" b="0">
                          <a:solidFill>
                            <a:srgbClr val="202C29"/>
                          </a:solidFill>
                          <a:latin typeface="Arial"/>
                          <a:ea typeface="Arial"/>
                          <a:cs typeface="Arial"/>
                        </a:rPr>
                        <a:t>Named moderator and restore test</a:t>
                      </a:r>
                    </a:p>
                  </a:txBody>
                  <a:tcPr marL="91440" marR="91440" marT="45720" marB="45720">
                    <a:solidFill>
                      <a:srgbClr val="FFFFFF"/>
                    </a:solidFill>
                  </a:tcPr>
                </a:tc>
                <a:tc>
                  <a:txBody>
                    <a:bodyPr>
                      <a:noAutofit/>
                    </a:bodyPr>
                    <a:lstStyle/>
                    <a:p>
                      <a:r>
                        <a:rPr sz="1800" b="0">
                          <a:solidFill>
                            <a:srgbClr val="202C29"/>
                          </a:solidFill>
                          <a:latin typeface="Arial"/>
                          <a:ea typeface="Arial"/>
                          <a:cs typeface="Arial"/>
                        </a:rPr>
                        <a:t>Delay public launch</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3A2668D-1055-4AC3-96FF-8AF2199E8828}"/>
              </a:ext>
            </a:extLst>
          </p:cNvPr>
          <p:cNvSpPr>
            <a:spLocks xmlns:a="http://schemas.openxmlformats.org/drawingml/2006/main" noGrp="1"/>
          </p:cNvSpPr>
          <p:nvPr/>
        </p:nvSpPr>
        <p:spPr>
          <a:xfrm xmlns:a="http://schemas.openxmlformats.org/drawingml/2006/main">
            <a:off x="609600" y="5953125"/>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Decision gates are planning judgments, not statistically representative findings.</a:t>
            </a:r>
          </a:p>
        </p:txBody>
      </p:sp>
      <p:sp>
        <p:nvSpPr>
          <p:cNvPr id="5" name="">
            <a:extLst xmlns:a="http://schemas.openxmlformats.org/drawingml/2006/main">
              <a:ext uri="{FF2B5EF4-FFF2-40B4-BE49-F238E27FC236}">
                <a16:creationId xmlns:a16="http://schemas.microsoft.com/office/drawing/2014/main" id="{5BD5DBED-07F2-489E-9235-084F9D17A373}"/>
              </a:ext>
            </a:extLst>
          </p:cNvPr>
          <p:cNvSpPr>
            <a:spLocks xmlns:a="http://schemas.openxmlformats.org/drawingml/2006/main" noGrp="1"/>
          </p:cNvSpPr>
          <p:nvPr/>
        </p:nvSpPr>
        <p:spPr>
          <a:xfrm xmlns:a="http://schemas.openxmlformats.org/drawingml/2006/main">
            <a:off x="10763250" y="647700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05C"/>
                </a:solidFill>
                <a:latin typeface="Arial"/>
                <a:ea typeface="Arial"/>
                <a:cs typeface="Arial"/>
              </a:defRPr>
            </a:pPr>
            <a:r>
              <a:rPr sz="1350" b="0">
                <a:solidFill>
                  <a:srgbClr val="54605C"/>
                </a:solidFill>
                <a:latin typeface="Arial"/>
                <a:ea typeface="Arial"/>
                <a:cs typeface="Arial"/>
              </a:rPr>
              <a:t>11 / 12</a:t>
            </a:r>
          </a:p>
        </p:txBody>
      </p:sp>
    </p:spTree>
    <p:extLst>
      <p:ext uri="{BB962C8B-B14F-4D97-AF65-F5344CB8AC3E}">
        <p14:creationId xmlns:p14="http://schemas.microsoft.com/office/powerpoint/2010/main" val="164937958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C0E91A7-B520-4A65-8D2C-46F1D6794436}"/>
              </a:ext>
            </a:extLst>
          </p:cNvPr>
          <p:cNvSpPr>
            <a:spLocks xmlns:a="http://schemas.openxmlformats.org/drawingml/2006/main" noGrp="1"/>
          </p:cNvSpPr>
          <p:nvPr/>
        </p:nvSpPr>
        <p:spPr>
          <a:xfrm xmlns:a="http://schemas.openxmlformats.org/drawingml/2006/main">
            <a:off x="609600" y="2762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ENT303TC 2026/27  A3</a:t>
            </a:r>
          </a:p>
        </p:txBody>
      </p:sp>
      <p:sp>
        <p:nvSpPr>
          <p:cNvPr id="2" name="">
            <a:extLst xmlns:a="http://schemas.openxmlformats.org/drawingml/2006/main">
              <a:ext uri="{FF2B5EF4-FFF2-40B4-BE49-F238E27FC236}">
                <a16:creationId xmlns:a16="http://schemas.microsoft.com/office/drawing/2014/main" id="{C3CEA4D5-78F9-4518-BAB8-95BF92EE6E44}"/>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C29"/>
                </a:solidFill>
                <a:latin typeface="Arial"/>
                <a:ea typeface="Arial"/>
                <a:cs typeface="Arial"/>
              </a:defRPr>
            </a:pPr>
            <a:r>
              <a:rPr sz="3300" b="1">
                <a:solidFill>
                  <a:srgbClr val="202C29"/>
                </a:solidFill>
                <a:latin typeface="Arial"/>
                <a:ea typeface="Arial"/>
                <a:cs typeface="Arial"/>
              </a:rPr>
              <a:t>Team and next commitments</a:t>
            </a:r>
          </a:p>
        </p:txBody>
      </p:sp>
      <p:sp>
        <p:nvSpPr>
          <p:cNvPr id="3" name="">
            <a:extLst xmlns:a="http://schemas.openxmlformats.org/drawingml/2006/main">
              <a:ext uri="{FF2B5EF4-FFF2-40B4-BE49-F238E27FC236}">
                <a16:creationId xmlns:a16="http://schemas.microsoft.com/office/drawing/2014/main" id="{D6CB8D70-5C97-4EE2-87E8-C57713EA10BD}"/>
              </a:ext>
            </a:extLst>
          </p:cNvPr>
          <p:cNvSpPr>
            <a:spLocks xmlns:a="http://schemas.openxmlformats.org/drawingml/2006/main" noGrp="1"/>
          </p:cNvSpPr>
          <p:nvPr/>
        </p:nvSpPr>
        <p:spPr>
          <a:xfrm xmlns:a="http://schemas.openxmlformats.org/drawingml/2006/main">
            <a:off x="609600" y="1714500"/>
            <a:ext cx="5181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7634E"/>
                </a:solidFill>
                <a:latin typeface="Arial"/>
                <a:ea typeface="Arial"/>
                <a:cs typeface="Arial"/>
              </a:defRPr>
            </a:pPr>
            <a:r>
              <a:rPr sz="2250" b="1">
                <a:solidFill>
                  <a:srgbClr val="27634E"/>
                </a:solidFill>
                <a:latin typeface="Arial"/>
                <a:ea typeface="Arial"/>
                <a:cs typeface="Arial"/>
              </a:rPr>
              <a:t>Seven-member team</a:t>
            </a:r>
          </a:p>
        </p:txBody>
      </p:sp>
      <p:sp>
        <p:nvSpPr>
          <p:cNvPr id="4" name="">
            <a:extLst xmlns:a="http://schemas.openxmlformats.org/drawingml/2006/main">
              <a:ext uri="{FF2B5EF4-FFF2-40B4-BE49-F238E27FC236}">
                <a16:creationId xmlns:a16="http://schemas.microsoft.com/office/drawing/2014/main" id="{28C28DB9-4B5A-4E4A-9CB7-6B042421BEA7}"/>
              </a:ext>
            </a:extLst>
          </p:cNvPr>
          <p:cNvSpPr>
            <a:spLocks xmlns:a="http://schemas.openxmlformats.org/drawingml/2006/main" noGrp="1"/>
          </p:cNvSpPr>
          <p:nvPr/>
        </p:nvSpPr>
        <p:spPr>
          <a:xfrm xmlns:a="http://schemas.openxmlformats.org/drawingml/2006/main">
            <a:off x="6438900" y="17145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7634E"/>
                </a:solidFill>
                <a:latin typeface="Arial"/>
                <a:ea typeface="Arial"/>
                <a:cs typeface="Arial"/>
              </a:defRPr>
            </a:pPr>
            <a:r>
              <a:rPr sz="2250" b="1">
                <a:solidFill>
                  <a:srgbClr val="27634E"/>
                </a:solidFill>
                <a:latin typeface="Arial"/>
                <a:ea typeface="Arial"/>
                <a:cs typeface="Arial"/>
              </a:rPr>
              <a:t>Resources requested</a:t>
            </a:r>
          </a:p>
        </p:txBody>
      </p:sp>
      <p:sp>
        <p:nvSpPr>
          <p:cNvPr id="5" name="">
            <a:extLst xmlns:a="http://schemas.openxmlformats.org/drawingml/2006/main">
              <a:ext uri="{FF2B5EF4-FFF2-40B4-BE49-F238E27FC236}">
                <a16:creationId xmlns:a16="http://schemas.microsoft.com/office/drawing/2014/main" id="{5A764680-901D-4DB8-B221-62F2407B2E66}"/>
              </a:ext>
            </a:extLst>
          </p:cNvPr>
          <p:cNvSpPr>
            <a:spLocks xmlns:a="http://schemas.openxmlformats.org/drawingml/2006/main" noGrp="1"/>
          </p:cNvSpPr>
          <p:nvPr/>
        </p:nvSpPr>
        <p:spPr>
          <a:xfrm xmlns:a="http://schemas.openxmlformats.org/drawingml/2006/main">
            <a:off x="609600" y="2371725"/>
            <a:ext cx="5181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Rita: product coordination. Wang Rui: presentation.</a:t>
            </a:r>
          </a:p>
        </p:txBody>
      </p:sp>
      <p:sp>
        <p:nvSpPr>
          <p:cNvPr id="6" name="">
            <a:extLst xmlns:a="http://schemas.openxmlformats.org/drawingml/2006/main">
              <a:ext uri="{FF2B5EF4-FFF2-40B4-BE49-F238E27FC236}">
                <a16:creationId xmlns:a16="http://schemas.microsoft.com/office/drawing/2014/main" id="{E23D068D-FE51-40E4-B8B4-027D8BFA53C5}"/>
              </a:ext>
            </a:extLst>
          </p:cNvPr>
          <p:cNvSpPr>
            <a:spLocks xmlns:a="http://schemas.openxmlformats.org/drawingml/2006/main" noGrp="1"/>
          </p:cNvSpPr>
          <p:nvPr/>
        </p:nvSpPr>
        <p:spPr>
          <a:xfrm xmlns:a="http://schemas.openxmlformats.org/drawingml/2006/main">
            <a:off x="609600" y="3200400"/>
            <a:ext cx="5181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Huang Yuxuan: evidence. Tang Yinqiu: market model.</a:t>
            </a:r>
          </a:p>
        </p:txBody>
      </p:sp>
      <p:sp>
        <p:nvSpPr>
          <p:cNvPr id="7" name="">
            <a:extLst xmlns:a="http://schemas.openxmlformats.org/drawingml/2006/main">
              <a:ext uri="{FF2B5EF4-FFF2-40B4-BE49-F238E27FC236}">
                <a16:creationId xmlns:a16="http://schemas.microsoft.com/office/drawing/2014/main" id="{2D84B34C-5C91-4134-BB92-A5D6BBE34E54}"/>
              </a:ext>
            </a:extLst>
          </p:cNvPr>
          <p:cNvSpPr>
            <a:spLocks xmlns:a="http://schemas.openxmlformats.org/drawingml/2006/main" noGrp="1"/>
          </p:cNvSpPr>
          <p:nvPr/>
        </p:nvSpPr>
        <p:spPr>
          <a:xfrm xmlns:a="http://schemas.openxmlformats.org/drawingml/2006/main">
            <a:off x="609600" y="4029075"/>
            <a:ext cx="5181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Mao Xiangyi: positioning. Huang Junjie: research.</a:t>
            </a:r>
          </a:p>
        </p:txBody>
      </p:sp>
      <p:sp>
        <p:nvSpPr>
          <p:cNvPr id="8" name="">
            <a:extLst xmlns:a="http://schemas.openxmlformats.org/drawingml/2006/main">
              <a:ext uri="{FF2B5EF4-FFF2-40B4-BE49-F238E27FC236}">
                <a16:creationId xmlns:a16="http://schemas.microsoft.com/office/drawing/2014/main" id="{E2A60B78-636A-4235-AC00-CEC33DC0BDE0}"/>
              </a:ext>
            </a:extLst>
          </p:cNvPr>
          <p:cNvSpPr>
            <a:spLocks xmlns:a="http://schemas.openxmlformats.org/drawingml/2006/main" noGrp="1"/>
          </p:cNvSpPr>
          <p:nvPr/>
        </p:nvSpPr>
        <p:spPr>
          <a:xfrm xmlns:a="http://schemas.openxmlformats.org/drawingml/2006/main">
            <a:off x="609600" y="4857750"/>
            <a:ext cx="5181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Li Yuanlong: competitor review.</a:t>
            </a:r>
          </a:p>
        </p:txBody>
      </p:sp>
      <p:sp>
        <p:nvSpPr>
          <p:cNvPr id="9" name="">
            <a:extLst xmlns:a="http://schemas.openxmlformats.org/drawingml/2006/main">
              <a:ext uri="{FF2B5EF4-FFF2-40B4-BE49-F238E27FC236}">
                <a16:creationId xmlns:a16="http://schemas.microsoft.com/office/drawing/2014/main" id="{598A01B5-C802-4C81-AF53-9BC22C457579}"/>
              </a:ext>
            </a:extLst>
          </p:cNvPr>
          <p:cNvSpPr>
            <a:spLocks xmlns:a="http://schemas.openxmlformats.org/drawingml/2006/main" noGrp="1"/>
          </p:cNvSpPr>
          <p:nvPr/>
        </p:nvSpPr>
        <p:spPr>
          <a:xfrm xmlns:a="http://schemas.openxmlformats.org/drawingml/2006/main">
            <a:off x="6438900" y="2371725"/>
            <a:ext cx="5143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Access to a permitted recruitment channel.</a:t>
            </a:r>
          </a:p>
        </p:txBody>
      </p:sp>
      <p:sp>
        <p:nvSpPr>
          <p:cNvPr id="10" name="">
            <a:extLst xmlns:a="http://schemas.openxmlformats.org/drawingml/2006/main">
              <a:ext uri="{FF2B5EF4-FFF2-40B4-BE49-F238E27FC236}">
                <a16:creationId xmlns:a16="http://schemas.microsoft.com/office/drawing/2014/main" id="{A7884676-370D-4490-B0AA-D28BF0B32B6B}"/>
              </a:ext>
            </a:extLst>
          </p:cNvPr>
          <p:cNvSpPr>
            <a:spLocks xmlns:a="http://schemas.openxmlformats.org/drawingml/2006/main" noGrp="1"/>
          </p:cNvSpPr>
          <p:nvPr/>
        </p:nvSpPr>
        <p:spPr>
          <a:xfrm xmlns:a="http://schemas.openxmlformats.org/drawingml/2006/main">
            <a:off x="6438900" y="3200400"/>
            <a:ext cx="5143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Mentor review of assumptions and operating boundaries.</a:t>
            </a:r>
          </a:p>
        </p:txBody>
      </p:sp>
      <p:sp>
        <p:nvSpPr>
          <p:cNvPr id="11" name="">
            <a:extLst xmlns:a="http://schemas.openxmlformats.org/drawingml/2006/main">
              <a:ext uri="{FF2B5EF4-FFF2-40B4-BE49-F238E27FC236}">
                <a16:creationId xmlns:a16="http://schemas.microsoft.com/office/drawing/2014/main" id="{1389769F-575E-408F-9FD6-0A142BAB32B4}"/>
              </a:ext>
            </a:extLst>
          </p:cNvPr>
          <p:cNvSpPr>
            <a:spLocks xmlns:a="http://schemas.openxmlformats.org/drawingml/2006/main" noGrp="1"/>
          </p:cNvSpPr>
          <p:nvPr/>
        </p:nvSpPr>
        <p:spPr>
          <a:xfrm xmlns:a="http://schemas.openxmlformats.org/drawingml/2006/main">
            <a:off x="6438900" y="4029075"/>
            <a:ext cx="5143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Five volunteers for the first consented usability round.</a:t>
            </a:r>
          </a:p>
        </p:txBody>
      </p:sp>
      <p:sp>
        <p:nvSpPr>
          <p:cNvPr id="12" name="">
            <a:extLst xmlns:a="http://schemas.openxmlformats.org/drawingml/2006/main">
              <a:ext uri="{FF2B5EF4-FFF2-40B4-BE49-F238E27FC236}">
                <a16:creationId xmlns:a16="http://schemas.microsoft.com/office/drawing/2014/main" id="{11AC565D-BD96-4D32-8EF5-6CE9AF6715DB}"/>
              </a:ext>
            </a:extLst>
          </p:cNvPr>
          <p:cNvSpPr>
            <a:spLocks xmlns:a="http://schemas.openxmlformats.org/drawingml/2006/main" noGrp="1"/>
          </p:cNvSpPr>
          <p:nvPr/>
        </p:nvSpPr>
        <p:spPr>
          <a:xfrm xmlns:a="http://schemas.openxmlformats.org/drawingml/2006/main">
            <a:off x="6438900" y="4857750"/>
            <a:ext cx="5143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A4 reflections based on each member's actual work.</a:t>
            </a:r>
          </a:p>
        </p:txBody>
      </p:sp>
      <p:sp>
        <p:nvSpPr>
          <p:cNvPr id="13" name="">
            <a:extLst xmlns:a="http://schemas.openxmlformats.org/drawingml/2006/main">
              <a:ext uri="{FF2B5EF4-FFF2-40B4-BE49-F238E27FC236}">
                <a16:creationId xmlns:a16="http://schemas.microsoft.com/office/drawing/2014/main" id="{8E44C263-388E-49CA-8E34-FE7F4EE567E4}"/>
              </a:ext>
            </a:extLst>
          </p:cNvPr>
          <p:cNvSpPr>
            <a:spLocks xmlns:a="http://schemas.openxmlformats.org/drawingml/2006/main" noGrp="1"/>
          </p:cNvSpPr>
          <p:nvPr/>
        </p:nvSpPr>
        <p:spPr>
          <a:xfrm xmlns:a="http://schemas.openxmlformats.org/drawingml/2006/main">
            <a:off x="609600" y="5953125"/>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Proposed role allocation requires team confirmation. A3 due 21 March 2027, 23:59 Beijing.</a:t>
            </a:r>
          </a:p>
        </p:txBody>
      </p:sp>
      <p:sp>
        <p:nvSpPr>
          <p:cNvPr id="14" name="">
            <a:extLst xmlns:a="http://schemas.openxmlformats.org/drawingml/2006/main">
              <a:ext uri="{FF2B5EF4-FFF2-40B4-BE49-F238E27FC236}">
                <a16:creationId xmlns:a16="http://schemas.microsoft.com/office/drawing/2014/main" id="{1F8138E5-EFC9-452D-A994-66F268D0EBBD}"/>
              </a:ext>
            </a:extLst>
          </p:cNvPr>
          <p:cNvSpPr>
            <a:spLocks xmlns:a="http://schemas.openxmlformats.org/drawingml/2006/main" noGrp="1"/>
          </p:cNvSpPr>
          <p:nvPr/>
        </p:nvSpPr>
        <p:spPr>
          <a:xfrm xmlns:a="http://schemas.openxmlformats.org/drawingml/2006/main">
            <a:off x="10763250" y="647700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05C"/>
                </a:solidFill>
                <a:latin typeface="Arial"/>
                <a:ea typeface="Arial"/>
                <a:cs typeface="Arial"/>
              </a:defRPr>
            </a:pPr>
            <a:r>
              <a:rPr sz="1350" b="0">
                <a:solidFill>
                  <a:srgbClr val="54605C"/>
                </a:solidFill>
                <a:latin typeface="Arial"/>
                <a:ea typeface="Arial"/>
                <a:cs typeface="Arial"/>
              </a:rPr>
              <a:t>12 / 12</a:t>
            </a:r>
          </a:p>
        </p:txBody>
      </p:sp>
    </p:spTree>
    <p:extLst>
      <p:ext uri="{BB962C8B-B14F-4D97-AF65-F5344CB8AC3E}">
        <p14:creationId xmlns:p14="http://schemas.microsoft.com/office/powerpoint/2010/main" val="7360221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2026-10-06T13:57:01.0000000Z</dcterms:created>
  <dcterms:modified xsi:type="dcterms:W3CDTF">2026-10-06T13:57:01.0000000Z</dcterms:modified>
</coreProperties>
</file>