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bc75a910d149cc" /><Relationship Type="http://schemas.openxmlformats.org/officeDocument/2006/relationships/extended-properties" Target="/docProps/app.xml" Id="R58d2692e50cc41f0" /><Relationship Type="http://schemas.openxmlformats.org/officeDocument/2006/relationships/officeDocument" Target="/ppt/presentation.xml" Id="R06c9eea3d5d24dcd" /></Relationships>
</file>

<file path=ppt/presentation.xml><?xml version="1.0" encoding="utf-8"?>
<p:presentation xmlns:p="http://schemas.openxmlformats.org/presentationml/2006/main">
  <p:sldMasterIdLst>
    <p:sldMasterId xmlns:r="http://schemas.openxmlformats.org/officeDocument/2006/relationships" id="2147483648" r:id="R87757db80ff8400c"/>
  </p:sldMasterIdLst>
  <p:notesMasterIdLst>
    <p:notesMasterId xmlns:r="http://schemas.openxmlformats.org/officeDocument/2006/relationships" r:id="Rb35c70a9350c45f2"/>
  </p:notesMasterIdLst>
  <p:sldIdLst>
    <p:sldId xmlns:r="http://schemas.openxmlformats.org/officeDocument/2006/relationships" id="256" r:id="Rb2f61781ec584b61"/>
    <p:sldId xmlns:r="http://schemas.openxmlformats.org/officeDocument/2006/relationships" id="257" r:id="Rbee7dab4773b425a"/>
    <p:sldId xmlns:r="http://schemas.openxmlformats.org/officeDocument/2006/relationships" id="258" r:id="Rb1398852dc8d44b1"/>
    <p:sldId xmlns:r="http://schemas.openxmlformats.org/officeDocument/2006/relationships" id="259" r:id="Rcf8e9be25d344aa5"/>
    <p:sldId xmlns:r="http://schemas.openxmlformats.org/officeDocument/2006/relationships" id="260" r:id="R2bb8f0b0a7374cfb"/>
    <p:sldId xmlns:r="http://schemas.openxmlformats.org/officeDocument/2006/relationships" id="261" r:id="Rfee1f4259a7e40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4cbe154c704810" /><Relationship Type="http://schemas.openxmlformats.org/officeDocument/2006/relationships/slideMaster" Target="/ppt/slideMasters/slideMaster1.xml" Id="R87757db80ff8400c" /><Relationship Type="http://schemas.openxmlformats.org/officeDocument/2006/relationships/notesMaster" Target="/ppt/notesMasters/notesMaster1.xml" Id="Rb35c70a9350c45f2" /><Relationship Type="http://schemas.openxmlformats.org/officeDocument/2006/relationships/presProps" Target="/ppt/presProps.xml" Id="R8a10cf7ba3f042f4" /><Relationship Type="http://schemas.openxmlformats.org/officeDocument/2006/relationships/tableStyles" Target="/ppt/tableStyles.xml" Id="R560054142db14b56" /><Relationship Type="http://schemas.openxmlformats.org/officeDocument/2006/relationships/slide" Target="/ppt/slides/slide1.xml" Id="Rb2f61781ec584b61" /><Relationship Type="http://schemas.openxmlformats.org/officeDocument/2006/relationships/slide" Target="/ppt/slides/slide2.xml" Id="Rbee7dab4773b425a" /><Relationship Type="http://schemas.openxmlformats.org/officeDocument/2006/relationships/slide" Target="/ppt/slides/slide3.xml" Id="Rb1398852dc8d44b1" /><Relationship Type="http://schemas.openxmlformats.org/officeDocument/2006/relationships/slide" Target="/ppt/slides/slide4.xml" Id="Rcf8e9be25d344aa5" /><Relationship Type="http://schemas.openxmlformats.org/officeDocument/2006/relationships/slide" Target="/ppt/slides/slide5.xml" Id="R2bb8f0b0a7374cfb" /><Relationship Type="http://schemas.openxmlformats.org/officeDocument/2006/relationships/slide" Target="/ppt/slides/slide6.xml" Id="Rfee1f4259a7e40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c5fed9628345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3391c1ce084a4b" /><Relationship Type="http://schemas.openxmlformats.org/officeDocument/2006/relationships/notesMaster" Target="/ppt/notesMasters/notesMaster1.xml" Id="R9b842bc3a6d545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d4e110a9994612" /><Relationship Type="http://schemas.openxmlformats.org/officeDocument/2006/relationships/notesMaster" Target="/ppt/notesMasters/notesMaster1.xml" Id="R07eaf0030d464d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3587c8fdfa414b" /><Relationship Type="http://schemas.openxmlformats.org/officeDocument/2006/relationships/notesMaster" Target="/ppt/notesMasters/notesMaster1.xml" Id="R33cd88e99b4f49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88f1146992473c" /><Relationship Type="http://schemas.openxmlformats.org/officeDocument/2006/relationships/notesMaster" Target="/ppt/notesMasters/notesMaster1.xml" Id="Rb9dc62b002104f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f99e55cc2f4aa4" /><Relationship Type="http://schemas.openxmlformats.org/officeDocument/2006/relationships/notesMaster" Target="/ppt/notesMasters/notesMaster1.xml" Id="R36a38d3617084e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e68e354ee546d6" /><Relationship Type="http://schemas.openxmlformats.org/officeDocument/2006/relationships/notesMaster" Target="/ppt/notesMasters/notesMaster1.xml" Id="Rfb64a088a2754b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ENT303TC A1. Exactly six slides, including this cover, with no appendix. Prepared 6 October 2026. Group number and official member identifiers require confirmation. All planning values are assumptions. H1, handbook pp.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hypothesise that coordination, not only item discovery, creates friction. We will ask about the last real incident before presenting the solution. We have no verified interview quotes or market validation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https://www.xjtlu.edu.cn/en/overview, updated May 2026, checked 6 October 2026. 26,000+ is institution-wide and must not be substituted for reachable SIP/XEC students. S2 https://www.goofish.com/; S3 https://www.rrzu.com/home/index; S4 https://www.aihuishou.com/. We compare their stated purpose, not unverified feature absences. Scenario: 120*15%=18 activated, 18*40%=7.2 expected completed transactions over four weeks. Model outputs are expectations, not observed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code demonstrates discovery, needs, personal schedule review, booking and messaging. OCR requires user correction. Student email verification is implemented, but production SMTP/HTTPS remain deployment tasks. No SSO, escrow or insured transactions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BMC in support dossier covers all nine blocks. Economics: 7.2 expected transactions*30 average transaction consideration=216 GMV. Refundable deposits, free borrowing and swap values are excluded. Pilot fee=0. Optional 5% fee later is a hypothesis, not an implemented charge. Planned hosting 60+email 20+materials 50+contingency 50=180. Labour valued separately at 7 people*2 h/week*4 weeks*20 CNY/h=1120, opportunity cost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郭宇璇（Rita）, 汪睿, 黄禹轩, 汤鋆秋, 毛相宜, 黄俊杰, 李元龙. Responsibilities are proposed, not verified contribution records. H1 weekly checkpoints pp. 3-5 and assessment p.6. Separate assessment brief takes precedence. Prepared 6 October 2026. A1 must refresh with actual research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66d07d9b6f4a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064cad2061481f" /><Relationship Type="http://schemas.openxmlformats.org/officeDocument/2006/relationships/slideLayout" Target="/ppt/slideLayouts/slideLayout1.xml" Id="R660c4e9ced4241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0c4e9ced4241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8f04762197419b" /><Relationship Type="http://schemas.openxmlformats.org/officeDocument/2006/relationships/notesSlide" Target="/ppt/notesSlides/notesSlide1.xml" Id="R355afd66870b45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923042887b46c6" /><Relationship Type="http://schemas.openxmlformats.org/officeDocument/2006/relationships/notesSlide" Target="/ppt/notesSlides/notesSlide2.xml" Id="R2e01ed55bab943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38e8ac354244f2" /><Relationship Type="http://schemas.openxmlformats.org/officeDocument/2006/relationships/notesSlide" Target="/ppt/notesSlides/notesSlide3.xml" Id="R655af49b75d14d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a24a85a66b40d7" /><Relationship Type="http://schemas.openxmlformats.org/officeDocument/2006/relationships/image" Target="/ppt/media/image.jpeg" Id="Re6a92aba4f9a45b7" /><Relationship Type="http://schemas.openxmlformats.org/officeDocument/2006/relationships/notesSlide" Target="/ppt/notesSlides/notesSlide4.xml" Id="Rf292a05e21d243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23a218f26f49a4" /><Relationship Type="http://schemas.openxmlformats.org/officeDocument/2006/relationships/notesSlide" Target="/ppt/notesSlides/notesSlide5.xml" Id="Rdc851a66f4c045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c225ea62e34e70" /><Relationship Type="http://schemas.openxmlformats.org/officeDocument/2006/relationships/notesSlide" Target="/ppt/notesSlides/notesSlide6.xml" Id="Rf96ebf64920948b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1D8CDE-6769-4BDF-A26E-E55F2FA3667A}"/>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A1</a:t>
            </a:r>
          </a:p>
        </p:txBody>
      </p:sp>
      <p:sp>
        <p:nvSpPr>
          <p:cNvPr id="2" name="">
            <a:extLst xmlns:a="http://schemas.openxmlformats.org/drawingml/2006/main">
              <a:ext uri="{FF2B5EF4-FFF2-40B4-BE49-F238E27FC236}">
                <a16:creationId xmlns:a16="http://schemas.microsoft.com/office/drawing/2014/main" id="{706DD8B1-963E-4D15-AB5F-96309A258027}"/>
              </a:ext>
            </a:extLst>
          </p:cNvPr>
          <p:cNvSpPr>
            <a:spLocks xmlns:a="http://schemas.openxmlformats.org/drawingml/2006/main" noGrp="1"/>
          </p:cNvSpPr>
          <p:nvPr/>
        </p:nvSpPr>
        <p:spPr>
          <a:xfrm xmlns:a="http://schemas.openxmlformats.org/drawingml/2006/main">
            <a:off x="609600" y="1333500"/>
            <a:ext cx="109347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800" b="1">
                <a:solidFill>
                  <a:srgbClr val="27634E"/>
                </a:solidFill>
                <a:latin typeface="Arial"/>
                <a:ea typeface="Arial"/>
                <a:cs typeface="Arial"/>
              </a:defRPr>
            </a:pPr>
            <a:r>
              <a:rPr sz="7800" b="1">
                <a:solidFill>
                  <a:srgbClr val="27634E"/>
                </a:solidFill>
                <a:latin typeface="Arial"/>
                <a:ea typeface="Arial"/>
                <a:cs typeface="Arial"/>
              </a:rPr>
              <a:t>U Use</a:t>
            </a:r>
          </a:p>
        </p:txBody>
      </p:sp>
      <p:sp>
        <p:nvSpPr>
          <p:cNvPr id="3" name="">
            <a:extLst xmlns:a="http://schemas.openxmlformats.org/drawingml/2006/main">
              <a:ext uri="{FF2B5EF4-FFF2-40B4-BE49-F238E27FC236}">
                <a16:creationId xmlns:a16="http://schemas.microsoft.com/office/drawing/2014/main" id="{FCCBD04B-83F0-4FA3-A68C-22E2AAFC534D}"/>
              </a:ext>
            </a:extLst>
          </p:cNvPr>
          <p:cNvSpPr>
            <a:spLocks xmlns:a="http://schemas.openxmlformats.org/drawingml/2006/main" noGrp="1"/>
          </p:cNvSpPr>
          <p:nvPr/>
        </p:nvSpPr>
        <p:spPr>
          <a:xfrm xmlns:a="http://schemas.openxmlformats.org/drawingml/2006/main">
            <a:off x="609600" y="27432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202C29"/>
                </a:solidFill>
                <a:latin typeface="Arial"/>
                <a:ea typeface="Arial"/>
                <a:cs typeface="Arial"/>
              </a:defRPr>
            </a:pPr>
            <a:r>
              <a:rPr sz="3000" b="1">
                <a:solidFill>
                  <a:srgbClr val="202C29"/>
                </a:solidFill>
                <a:latin typeface="Arial"/>
                <a:ea typeface="Arial"/>
                <a:cs typeface="Arial"/>
              </a:rPr>
              <a:t>Campus item access at SIP and XEC</a:t>
            </a:r>
          </a:p>
        </p:txBody>
      </p:sp>
      <p:sp>
        <p:nvSpPr>
          <p:cNvPr id="4" name="">
            <a:extLst xmlns:a="http://schemas.openxmlformats.org/drawingml/2006/main">
              <a:ext uri="{FF2B5EF4-FFF2-40B4-BE49-F238E27FC236}">
                <a16:creationId xmlns:a16="http://schemas.microsoft.com/office/drawing/2014/main" id="{C7ED2F64-13E8-4DAD-8A87-15CE537F87D9}"/>
              </a:ext>
            </a:extLst>
          </p:cNvPr>
          <p:cNvSpPr>
            <a:spLocks xmlns:a="http://schemas.openxmlformats.org/drawingml/2006/main" noGrp="1"/>
          </p:cNvSpPr>
          <p:nvPr/>
        </p:nvSpPr>
        <p:spPr>
          <a:xfrm xmlns:a="http://schemas.openxmlformats.org/drawingml/2006/main">
            <a:off x="609600" y="3810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C29"/>
                </a:solidFill>
                <a:latin typeface="Arial"/>
                <a:ea typeface="Arial"/>
                <a:cs typeface="Arial"/>
              </a:defRPr>
            </a:pPr>
            <a:r>
              <a:rPr sz="2100" b="0">
                <a:solidFill>
                  <a:srgbClr val="202C29"/>
                </a:solidFill>
                <a:latin typeface="Arial"/>
                <a:ea typeface="Arial"/>
                <a:cs typeface="Arial"/>
              </a:rPr>
              <a:t>Borrow, rent, buy or swap an item for a specific need.</a:t>
            </a:r>
          </a:p>
        </p:txBody>
      </p:sp>
      <p:sp>
        <p:nvSpPr>
          <p:cNvPr id="5" name="">
            <a:extLst xmlns:a="http://schemas.openxmlformats.org/drawingml/2006/main">
              <a:ext uri="{FF2B5EF4-FFF2-40B4-BE49-F238E27FC236}">
                <a16:creationId xmlns:a16="http://schemas.microsoft.com/office/drawing/2014/main" id="{57BE135B-9ECB-4129-8505-29F396DBE612}"/>
              </a:ext>
            </a:extLst>
          </p:cNvPr>
          <p:cNvSpPr>
            <a:spLocks xmlns:a="http://schemas.openxmlformats.org/drawingml/2006/main" noGrp="1"/>
          </p:cNvSpPr>
          <p:nvPr/>
        </p:nvSpPr>
        <p:spPr>
          <a:xfrm xmlns:a="http://schemas.openxmlformats.org/drawingml/2006/main">
            <a:off x="609600" y="44958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C29"/>
                </a:solidFill>
                <a:latin typeface="Arial"/>
                <a:ea typeface="Arial"/>
                <a:cs typeface="Arial"/>
              </a:defRPr>
            </a:pPr>
            <a:r>
              <a:rPr sz="2100" b="0">
                <a:solidFill>
                  <a:srgbClr val="202C29"/>
                </a:solidFill>
                <a:latin typeface="Arial"/>
                <a:ea typeface="Arial"/>
                <a:cs typeface="Arial"/>
              </a:rPr>
              <a:t>A working local prototype with demand still to validate.</a:t>
            </a:r>
          </a:p>
        </p:txBody>
      </p:sp>
      <p:sp>
        <p:nvSpPr>
          <p:cNvPr id="6" name="">
            <a:extLst xmlns:a="http://schemas.openxmlformats.org/drawingml/2006/main">
              <a:ext uri="{FF2B5EF4-FFF2-40B4-BE49-F238E27FC236}">
                <a16:creationId xmlns:a16="http://schemas.microsoft.com/office/drawing/2014/main" id="{4278C607-74D4-4CCE-A2FC-CA18C02CA51D}"/>
              </a:ext>
            </a:extLst>
          </p:cNvPr>
          <p:cNvSpPr>
            <a:spLocks xmlns:a="http://schemas.openxmlformats.org/drawingml/2006/main" noGrp="1"/>
          </p:cNvSpPr>
          <p:nvPr/>
        </p:nvSpPr>
        <p:spPr>
          <a:xfrm xmlns:a="http://schemas.openxmlformats.org/drawingml/2006/main">
            <a:off x="609600" y="57626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4605C"/>
                </a:solidFill>
                <a:latin typeface="Arial"/>
                <a:ea typeface="Arial"/>
                <a:cs typeface="Arial"/>
              </a:defRPr>
            </a:pPr>
            <a:r>
              <a:rPr sz="1650" b="0">
                <a:solidFill>
                  <a:srgbClr val="54605C"/>
                </a:solidFill>
                <a:latin typeface="Arial"/>
                <a:ea typeface="Arial"/>
                <a:cs typeface="Arial"/>
              </a:rPr>
              <a:t>6 October 2026  |  Group details to confirm</a:t>
            </a:r>
          </a:p>
        </p:txBody>
      </p:sp>
      <p:sp>
        <p:nvSpPr>
          <p:cNvPr id="7" name="">
            <a:extLst xmlns:a="http://schemas.openxmlformats.org/drawingml/2006/main">
              <a:ext uri="{FF2B5EF4-FFF2-40B4-BE49-F238E27FC236}">
                <a16:creationId xmlns:a16="http://schemas.microsoft.com/office/drawing/2014/main" id="{978937FA-1EDF-423B-B5C9-796BC5149BF7}"/>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1 / 6</a:t>
            </a:r>
          </a:p>
        </p:txBody>
      </p:sp>
    </p:spTree>
    <p:extLst>
      <p:ext uri="{BB962C8B-B14F-4D97-AF65-F5344CB8AC3E}">
        <p14:creationId xmlns:p14="http://schemas.microsoft.com/office/powerpoint/2010/main" val="14715053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54A0766-C6F2-428B-B95F-7D2B82D44672}"/>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A1</a:t>
            </a:r>
          </a:p>
        </p:txBody>
      </p:sp>
      <p:sp>
        <p:nvSpPr>
          <p:cNvPr id="2" name="">
            <a:extLst xmlns:a="http://schemas.openxmlformats.org/drawingml/2006/main">
              <a:ext uri="{FF2B5EF4-FFF2-40B4-BE49-F238E27FC236}">
                <a16:creationId xmlns:a16="http://schemas.microsoft.com/office/drawing/2014/main" id="{1B8A21B4-CF7D-46F3-B277-456F7B78A78C}"/>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The problem hypothesis</a:t>
            </a:r>
          </a:p>
        </p:txBody>
      </p:sp>
      <p:sp>
        <p:nvSpPr>
          <p:cNvPr id="3" name="">
            <a:extLst xmlns:a="http://schemas.openxmlformats.org/drawingml/2006/main">
              <a:ext uri="{FF2B5EF4-FFF2-40B4-BE49-F238E27FC236}">
                <a16:creationId xmlns:a16="http://schemas.microsoft.com/office/drawing/2014/main" id="{3ACD0729-4B60-44B4-9854-2B25D61B8379}"/>
              </a:ext>
            </a:extLst>
          </p:cNvPr>
          <p:cNvSpPr>
            <a:spLocks xmlns:a="http://schemas.openxmlformats.org/drawingml/2006/main" noGrp="1"/>
          </p:cNvSpPr>
          <p:nvPr/>
        </p:nvSpPr>
        <p:spPr>
          <a:xfrm xmlns:a="http://schemas.openxmlformats.org/drawingml/2006/main">
            <a:off x="609600" y="171450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A short-term need</a:t>
            </a:r>
          </a:p>
        </p:txBody>
      </p:sp>
      <p:sp>
        <p:nvSpPr>
          <p:cNvPr id="4" name="">
            <a:extLst xmlns:a="http://schemas.openxmlformats.org/drawingml/2006/main">
              <a:ext uri="{FF2B5EF4-FFF2-40B4-BE49-F238E27FC236}">
                <a16:creationId xmlns:a16="http://schemas.microsoft.com/office/drawing/2014/main" id="{28ABEFDE-7FE5-47BD-B707-9C7B283A2009}"/>
              </a:ext>
            </a:extLst>
          </p:cNvPr>
          <p:cNvSpPr>
            <a:spLocks xmlns:a="http://schemas.openxmlformats.org/drawingml/2006/main" noGrp="1"/>
          </p:cNvSpPr>
          <p:nvPr/>
        </p:nvSpPr>
        <p:spPr>
          <a:xfrm xmlns:a="http://schemas.openxmlformats.org/drawingml/2006/main">
            <a:off x="6438900" y="17145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Coordination adds friction</a:t>
            </a:r>
          </a:p>
        </p:txBody>
      </p:sp>
      <p:sp>
        <p:nvSpPr>
          <p:cNvPr id="5" name="">
            <a:extLst xmlns:a="http://schemas.openxmlformats.org/drawingml/2006/main">
              <a:ext uri="{FF2B5EF4-FFF2-40B4-BE49-F238E27FC236}">
                <a16:creationId xmlns:a16="http://schemas.microsoft.com/office/drawing/2014/main" id="{7E3D172C-BC12-47F3-9537-F8F47D3EBB4F}"/>
              </a:ext>
            </a:extLst>
          </p:cNvPr>
          <p:cNvSpPr>
            <a:spLocks xmlns:a="http://schemas.openxmlformats.org/drawingml/2006/main" noGrp="1"/>
          </p:cNvSpPr>
          <p:nvPr/>
        </p:nvSpPr>
        <p:spPr>
          <a:xfrm xmlns:a="http://schemas.openxmlformats.org/drawingml/2006/main">
            <a:off x="609600" y="2371725"/>
            <a:ext cx="518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 student needs an item for an event, a trip or a project.</a:t>
            </a:r>
          </a:p>
        </p:txBody>
      </p:sp>
      <p:sp>
        <p:nvSpPr>
          <p:cNvPr id="6" name="">
            <a:extLst xmlns:a="http://schemas.openxmlformats.org/drawingml/2006/main">
              <a:ext uri="{FF2B5EF4-FFF2-40B4-BE49-F238E27FC236}">
                <a16:creationId xmlns:a16="http://schemas.microsoft.com/office/drawing/2014/main" id="{5148D170-3230-4275-A771-5F8D1CB6A46C}"/>
              </a:ext>
            </a:extLst>
          </p:cNvPr>
          <p:cNvSpPr>
            <a:spLocks xmlns:a="http://schemas.openxmlformats.org/drawingml/2006/main" noGrp="1"/>
          </p:cNvSpPr>
          <p:nvPr/>
        </p:nvSpPr>
        <p:spPr>
          <a:xfrm xmlns:a="http://schemas.openxmlformats.org/drawingml/2006/main">
            <a:off x="609600" y="3419475"/>
            <a:ext cx="518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Buying may be unnecessary. Borrowing depends on finding an owner with compatible dates.</a:t>
            </a:r>
          </a:p>
        </p:txBody>
      </p:sp>
      <p:sp>
        <p:nvSpPr>
          <p:cNvPr id="7" name="">
            <a:extLst xmlns:a="http://schemas.openxmlformats.org/drawingml/2006/main">
              <a:ext uri="{FF2B5EF4-FFF2-40B4-BE49-F238E27FC236}">
                <a16:creationId xmlns:a16="http://schemas.microsoft.com/office/drawing/2014/main" id="{96E1B63C-D2F1-4A52-B4C3-8312BF0D0785}"/>
              </a:ext>
            </a:extLst>
          </p:cNvPr>
          <p:cNvSpPr>
            <a:spLocks xmlns:a="http://schemas.openxmlformats.org/drawingml/2006/main" noGrp="1"/>
          </p:cNvSpPr>
          <p:nvPr/>
        </p:nvSpPr>
        <p:spPr>
          <a:xfrm xmlns:a="http://schemas.openxmlformats.org/drawingml/2006/main">
            <a:off x="6438900" y="237172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Availability, the meeting place and return terms require agreement.</a:t>
            </a:r>
          </a:p>
        </p:txBody>
      </p:sp>
      <p:sp>
        <p:nvSpPr>
          <p:cNvPr id="8" name="">
            <a:extLst xmlns:a="http://schemas.openxmlformats.org/drawingml/2006/main">
              <a:ext uri="{FF2B5EF4-FFF2-40B4-BE49-F238E27FC236}">
                <a16:creationId xmlns:a16="http://schemas.microsoft.com/office/drawing/2014/main" id="{FDC83D16-B626-4A85-A7C6-8DADA2E03C39}"/>
              </a:ext>
            </a:extLst>
          </p:cNvPr>
          <p:cNvSpPr>
            <a:spLocks xmlns:a="http://schemas.openxmlformats.org/drawingml/2006/main" noGrp="1"/>
          </p:cNvSpPr>
          <p:nvPr/>
        </p:nvSpPr>
        <p:spPr>
          <a:xfrm xmlns:a="http://schemas.openxmlformats.org/drawingml/2006/main">
            <a:off x="6438900" y="341947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Some students prefer to keep their location private.</a:t>
            </a:r>
          </a:p>
        </p:txBody>
      </p:sp>
      <p:sp>
        <p:nvSpPr>
          <p:cNvPr id="9" name="">
            <a:extLst xmlns:a="http://schemas.openxmlformats.org/drawingml/2006/main">
              <a:ext uri="{FF2B5EF4-FFF2-40B4-BE49-F238E27FC236}">
                <a16:creationId xmlns:a16="http://schemas.microsoft.com/office/drawing/2014/main" id="{323951B3-D393-48FE-BCF5-D238112CE1DF}"/>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Hypotheses from product planning. No completed participant study is claimed.</a:t>
            </a:r>
          </a:p>
        </p:txBody>
      </p:sp>
      <p:sp>
        <p:nvSpPr>
          <p:cNvPr id="10" name="">
            <a:extLst xmlns:a="http://schemas.openxmlformats.org/drawingml/2006/main">
              <a:ext uri="{FF2B5EF4-FFF2-40B4-BE49-F238E27FC236}">
                <a16:creationId xmlns:a16="http://schemas.microsoft.com/office/drawing/2014/main" id="{D9791962-E0E2-4FC2-B7F1-8C78533EF77D}"/>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2 / 6</a:t>
            </a:r>
          </a:p>
        </p:txBody>
      </p:sp>
    </p:spTree>
    <p:extLst>
      <p:ext uri="{BB962C8B-B14F-4D97-AF65-F5344CB8AC3E}">
        <p14:creationId xmlns:p14="http://schemas.microsoft.com/office/powerpoint/2010/main" val="939014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4FAE40-0F85-4306-81C6-4CD88B4595C8}"/>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A1</a:t>
            </a:r>
          </a:p>
        </p:txBody>
      </p:sp>
      <p:sp>
        <p:nvSpPr>
          <p:cNvPr id="2" name="">
            <a:extLst xmlns:a="http://schemas.openxmlformats.org/drawingml/2006/main">
              <a:ext uri="{FF2B5EF4-FFF2-40B4-BE49-F238E27FC236}">
                <a16:creationId xmlns:a16="http://schemas.microsoft.com/office/drawing/2014/main" id="{F0CDBE47-B183-4470-866B-5EF8E56E7B86}"/>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Market and alternatives</a:t>
            </a:r>
          </a:p>
        </p:txBody>
      </p:sp>
      <p:sp>
        <p:nvSpPr>
          <p:cNvPr id="3" name="">
            <a:extLst xmlns:a="http://schemas.openxmlformats.org/drawingml/2006/main">
              <a:ext uri="{FF2B5EF4-FFF2-40B4-BE49-F238E27FC236}">
                <a16:creationId xmlns:a16="http://schemas.microsoft.com/office/drawing/2014/main" id="{3A8ECBEC-F335-4DFF-BA4F-4F9FF7D842FB}"/>
              </a:ext>
            </a:extLst>
          </p:cNvPr>
          <p:cNvSpPr>
            <a:spLocks xmlns:a="http://schemas.openxmlformats.org/drawingml/2006/main" noGrp="1"/>
          </p:cNvSpPr>
          <p:nvPr/>
        </p:nvSpPr>
        <p:spPr>
          <a:xfrm xmlns:a="http://schemas.openxmlformats.org/drawingml/2006/main">
            <a:off x="609600" y="1571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26,000+ XJTLU students provide institutional context.</a:t>
            </a:r>
          </a:p>
        </p:txBody>
      </p:sp>
      <p:sp>
        <p:nvSpPr>
          <p:cNvPr id="4" name="">
            <a:extLst xmlns:a="http://schemas.openxmlformats.org/drawingml/2006/main">
              <a:ext uri="{FF2B5EF4-FFF2-40B4-BE49-F238E27FC236}">
                <a16:creationId xmlns:a16="http://schemas.microsoft.com/office/drawing/2014/main" id="{C1E7BBBB-E9B2-4D48-B5AD-EC31521E1812}"/>
              </a:ext>
            </a:extLst>
          </p:cNvPr>
          <p:cNvSpPr>
            <a:spLocks xmlns:a="http://schemas.openxmlformats.org/drawingml/2006/main" noGrp="1"/>
          </p:cNvSpPr>
          <p:nvPr/>
        </p:nvSpPr>
        <p:spPr>
          <a:xfrm xmlns:a="http://schemas.openxmlformats.org/drawingml/2006/main">
            <a:off x="609600" y="20478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Initial scenario: invite 60-180 reachable students over four weeks.</a:t>
            </a:r>
          </a:p>
        </p:txBody>
      </p:sp>
      <p:sp>
        <p:nvSpPr>
          <p:cNvPr id="5" name="">
            <a:extLst xmlns:a="http://schemas.openxmlformats.org/drawingml/2006/main">
              <a:ext uri="{FF2B5EF4-FFF2-40B4-BE49-F238E27FC236}">
                <a16:creationId xmlns:a16="http://schemas.microsoft.com/office/drawing/2014/main" id="{89B4045D-2410-4472-9A46-48E8085FE81E}"/>
              </a:ext>
            </a:extLst>
          </p:cNvPr>
          <p:cNvSpPr>
            <a:spLocks xmlns:a="http://schemas.openxmlformats.org/drawingml/2006/main" noGrp="1"/>
          </p:cNvSpPr>
          <p:nvPr/>
        </p:nvSpPr>
        <p:spPr>
          <a:xfrm xmlns:a="http://schemas.openxmlformats.org/drawingml/2006/main">
            <a:off x="609600" y="2524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Base case: 120 invited, 18 activated, about 7 completed trades.</a:t>
            </a:r>
          </a:p>
        </p:txBody>
      </p:sp>
      <p:graphicFrame>
        <p:nvGraphicFramePr>
          <p:cNvPr id="14" name=""/>
          <p:cNvGraphicFramePr/>
          <p:nvPr/>
        </p:nvGraphicFramePr>
        <p:xfrm>
          <a:off xmlns:a="http://schemas.openxmlformats.org/drawingml/2006/main" x="609600" y="3228975"/>
          <a:ext xmlns:a="http://schemas.openxmlformats.org/drawingml/2006/main" cx="10972800" cy="2286000"/>
        </p:xfrm>
        <a:graphic xmlns:a="http://schemas.openxmlformats.org/drawingml/2006/main">
          <a:graphicData uri="http://schemas.openxmlformats.org/drawingml/2006/table">
            <a:tbl>
              <a:tblPr/>
              <a:tblGrid>
                <a:gridCol w="2514600"/>
                <a:gridCol w="3962400"/>
                <a:gridCol w="4495800"/>
              </a:tblGrid>
              <a:tr h="571500">
                <a:tc>
                  <a:txBody>
                    <a:bodyPr>
                      <a:noAutofit/>
                    </a:bodyPr>
                    <a:lstStyle/>
                    <a:p>
                      <a:r>
                        <a:rPr sz="1800" b="1">
                          <a:solidFill>
                            <a:srgbClr val="FFFFFF"/>
                          </a:solidFill>
                          <a:latin typeface="Arial"/>
                          <a:ea typeface="Arial"/>
                          <a:cs typeface="Arial"/>
                        </a:rPr>
                        <a:t>Alternative</a:t>
                      </a:r>
                    </a:p>
                  </a:txBody>
                  <a:tcPr marL="91440" marR="91440" marT="45720" marB="45720">
                    <a:solidFill>
                      <a:srgbClr val="27634E"/>
                    </a:solidFill>
                  </a:tcPr>
                </a:tc>
                <a:tc>
                  <a:txBody>
                    <a:bodyPr>
                      <a:noAutofit/>
                    </a:bodyPr>
                    <a:lstStyle/>
                    <a:p>
                      <a:r>
                        <a:rPr sz="1800" b="1">
                          <a:solidFill>
                            <a:srgbClr val="FFFFFF"/>
                          </a:solidFill>
                          <a:latin typeface="Arial"/>
                          <a:ea typeface="Arial"/>
                          <a:cs typeface="Arial"/>
                        </a:rPr>
                        <a:t>Established purpose</a:t>
                      </a:r>
                    </a:p>
                  </a:txBody>
                  <a:tcPr marL="91440" marR="91440" marT="45720" marB="45720">
                    <a:solidFill>
                      <a:srgbClr val="27634E"/>
                    </a:solidFill>
                  </a:tcPr>
                </a:tc>
                <a:tc>
                  <a:txBody>
                    <a:bodyPr>
                      <a:noAutofit/>
                    </a:bodyPr>
                    <a:lstStyle/>
                    <a:p>
                      <a:r>
                        <a:rPr sz="1800" b="1">
                          <a:solidFill>
                            <a:srgbClr val="FFFFFF"/>
                          </a:solidFill>
                          <a:latin typeface="Arial"/>
                          <a:ea typeface="Arial"/>
                          <a:cs typeface="Arial"/>
                        </a:rPr>
                        <a:t>U Use hypothesis</a:t>
                      </a:r>
                    </a:p>
                  </a:txBody>
                  <a:tcPr marL="91440" marR="91440" marT="45720" marB="45720">
                    <a:solidFill>
                      <a:srgbClr val="27634E"/>
                    </a:solidFill>
                  </a:tcPr>
                </a:tc>
              </a:tr>
              <a:tr h="571500">
                <a:tc>
                  <a:txBody>
                    <a:bodyPr>
                      <a:noAutofit/>
                    </a:bodyPr>
                    <a:lstStyle/>
                    <a:p>
                      <a:r>
                        <a:rPr sz="1800" b="0">
                          <a:solidFill>
                            <a:srgbClr val="202C29"/>
                          </a:solidFill>
                          <a:latin typeface="Arial"/>
                          <a:ea typeface="Arial"/>
                          <a:cs typeface="Arial"/>
                        </a:rPr>
                        <a:t>Goofish</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Second-hand marketplace</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Campus date coordination</a:t>
                      </a:r>
                    </a:p>
                  </a:txBody>
                  <a:tcPr marL="91440" marR="91440" marT="45720" marB="45720">
                    <a:solidFill>
                      <a:srgbClr val="F2F6F3"/>
                    </a:solidFill>
                  </a:tcPr>
                </a:tc>
              </a:tr>
              <a:tr h="571500">
                <a:tc>
                  <a:txBody>
                    <a:bodyPr>
                      <a:noAutofit/>
                    </a:bodyPr>
                    <a:lstStyle/>
                    <a:p>
                      <a:r>
                        <a:rPr sz="1800" b="0">
                          <a:solidFill>
                            <a:srgbClr val="202C29"/>
                          </a:solidFill>
                          <a:latin typeface="Arial"/>
                          <a:ea typeface="Arial"/>
                          <a:cs typeface="Arial"/>
                        </a:rPr>
                        <a:t>Renrenzu</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Rental marketplace</a:t>
                      </a:r>
                    </a:p>
                  </a:txBody>
                  <a:tcPr marL="91440" marR="91440" marT="45720" marB="45720">
                    <a:solidFill>
                      <a:srgbClr val="FFFFFF"/>
                    </a:solidFill>
                  </a:tcPr>
                </a:tc>
                <a:tc>
                  <a:txBody>
                    <a:bodyPr>
                      <a:noAutofit/>
                    </a:bodyPr>
                    <a:lstStyle/>
                    <a:p>
                      <a:r>
                        <a:rPr sz="1800" b="0">
                          <a:solidFill>
                            <a:srgbClr val="202C29"/>
                          </a:solidFill>
                          <a:latin typeface="Arial"/>
                          <a:ea typeface="Arial"/>
                          <a:cs typeface="Arial"/>
                        </a:rPr>
                        <a:t>Peer access for a short need</a:t>
                      </a:r>
                    </a:p>
                  </a:txBody>
                  <a:tcPr marL="91440" marR="91440" marT="45720" marB="45720">
                    <a:solidFill>
                      <a:srgbClr val="FFFFFF"/>
                    </a:solidFill>
                  </a:tcPr>
                </a:tc>
              </a:tr>
              <a:tr h="571500">
                <a:tc>
                  <a:txBody>
                    <a:bodyPr>
                      <a:noAutofit/>
                    </a:bodyPr>
                    <a:lstStyle/>
                    <a:p>
                      <a:r>
                        <a:rPr sz="1800" b="0">
                          <a:solidFill>
                            <a:srgbClr val="202C29"/>
                          </a:solidFill>
                          <a:latin typeface="Arial"/>
                          <a:ea typeface="Arial"/>
                          <a:cs typeface="Arial"/>
                        </a:rPr>
                        <a:t>Aihuishou</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Recycling and resale</a:t>
                      </a:r>
                    </a:p>
                  </a:txBody>
                  <a:tcPr marL="91440" marR="91440" marT="45720" marB="45720">
                    <a:solidFill>
                      <a:srgbClr val="F2F6F3"/>
                    </a:solidFill>
                  </a:tcPr>
                </a:tc>
                <a:tc>
                  <a:txBody>
                    <a:bodyPr>
                      <a:noAutofit/>
                    </a:bodyPr>
                    <a:lstStyle/>
                    <a:p>
                      <a:r>
                        <a:rPr sz="1800" b="0">
                          <a:solidFill>
                            <a:srgbClr val="202C29"/>
                          </a:solidFill>
                          <a:latin typeface="Arial"/>
                          <a:ea typeface="Arial"/>
                          <a:cs typeface="Arial"/>
                        </a:rPr>
                        <a:t>Local temporary use</a:t>
                      </a:r>
                    </a:p>
                  </a:txBody>
                  <a:tcPr marL="91440" marR="91440" marT="45720" marB="45720">
                    <a:solidFill>
                      <a:srgbClr val="F2F6F3"/>
                    </a:solidFill>
                  </a:tcPr>
                </a:tc>
              </a:tr>
            </a:tbl>
          </a:graphicData>
        </a:graphic>
      </p:graphicFrame>
      <p:sp>
        <p:nvSpPr>
          <p:cNvPr id="7" name="">
            <a:extLst xmlns:a="http://schemas.openxmlformats.org/drawingml/2006/main">
              <a:ext uri="{FF2B5EF4-FFF2-40B4-BE49-F238E27FC236}">
                <a16:creationId xmlns:a16="http://schemas.microsoft.com/office/drawing/2014/main" id="{B697C20B-26E3-491E-8DD7-67D81ED96BAD}"/>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Scenario assumptions, not a forecast. Campus-specific reachable population remains unverified.</a:t>
            </a:r>
          </a:p>
        </p:txBody>
      </p:sp>
      <p:sp>
        <p:nvSpPr>
          <p:cNvPr id="8" name="">
            <a:extLst xmlns:a="http://schemas.openxmlformats.org/drawingml/2006/main">
              <a:ext uri="{FF2B5EF4-FFF2-40B4-BE49-F238E27FC236}">
                <a16:creationId xmlns:a16="http://schemas.microsoft.com/office/drawing/2014/main" id="{6C6B9888-4614-4E8F-B812-26993166D46B}"/>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3 / 6</a:t>
            </a:r>
          </a:p>
        </p:txBody>
      </p:sp>
    </p:spTree>
    <p:extLst>
      <p:ext uri="{BB962C8B-B14F-4D97-AF65-F5344CB8AC3E}">
        <p14:creationId xmlns:p14="http://schemas.microsoft.com/office/powerpoint/2010/main" val="1681302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68BF70-9F64-494E-B8CF-B047CDC55141}"/>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A1</a:t>
            </a:r>
          </a:p>
        </p:txBody>
      </p:sp>
      <p:sp>
        <p:nvSpPr>
          <p:cNvPr id="2" name="">
            <a:extLst xmlns:a="http://schemas.openxmlformats.org/drawingml/2006/main">
              <a:ext uri="{FF2B5EF4-FFF2-40B4-BE49-F238E27FC236}">
                <a16:creationId xmlns:a16="http://schemas.microsoft.com/office/drawing/2014/main" id="{FA34D6A3-98E8-4E10-BE6D-0D8B747A1D89}"/>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The product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6a92aba4f9a45b7"/>
          <a:stretch xmlns:a="http://schemas.openxmlformats.org/drawingml/2006/main"/>
        </p:blipFill>
        <p:spPr>
          <a:xfrm xmlns:a="http://schemas.openxmlformats.org/drawingml/2006/main">
            <a:off x="1375109" y="1619250"/>
            <a:ext cx="5422232" cy="39624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11F2F1F-8CF6-4D00-8847-3DD5AB60D99C}"/>
              </a:ext>
            </a:extLst>
          </p:cNvPr>
          <p:cNvSpPr>
            <a:spLocks xmlns:a="http://schemas.openxmlformats.org/drawingml/2006/main" noGrp="1"/>
          </p:cNvSpPr>
          <p:nvPr/>
        </p:nvSpPr>
        <p:spPr>
          <a:xfrm xmlns:a="http://schemas.openxmlformats.org/drawingml/2006/main">
            <a:off x="7905750" y="17526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Date-aware discovery checks item availability.</a:t>
            </a:r>
          </a:p>
        </p:txBody>
      </p:sp>
      <p:sp>
        <p:nvSpPr>
          <p:cNvPr id="5" name="">
            <a:extLst xmlns:a="http://schemas.openxmlformats.org/drawingml/2006/main">
              <a:ext uri="{FF2B5EF4-FFF2-40B4-BE49-F238E27FC236}">
                <a16:creationId xmlns:a16="http://schemas.microsoft.com/office/drawing/2014/main" id="{0BDD8856-E111-4D64-8058-CC58BE935004}"/>
              </a:ext>
            </a:extLst>
          </p:cNvPr>
          <p:cNvSpPr>
            <a:spLocks xmlns:a="http://schemas.openxmlformats.org/drawingml/2006/main" noGrp="1"/>
          </p:cNvSpPr>
          <p:nvPr/>
        </p:nvSpPr>
        <p:spPr>
          <a:xfrm xmlns:a="http://schemas.openxmlformats.org/drawingml/2006/main">
            <a:off x="7905750" y="26670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The needs board lets an owner respond to a specific request.</a:t>
            </a:r>
          </a:p>
        </p:txBody>
      </p:sp>
      <p:sp>
        <p:nvSpPr>
          <p:cNvPr id="6" name="">
            <a:extLst xmlns:a="http://schemas.openxmlformats.org/drawingml/2006/main">
              <a:ext uri="{FF2B5EF4-FFF2-40B4-BE49-F238E27FC236}">
                <a16:creationId xmlns:a16="http://schemas.microsoft.com/office/drawing/2014/main" id="{F8F9A4D2-DB22-4F62-8C26-863B8419FACD}"/>
              </a:ext>
            </a:extLst>
          </p:cNvPr>
          <p:cNvSpPr>
            <a:spLocks xmlns:a="http://schemas.openxmlformats.org/drawingml/2006/main" noGrp="1"/>
          </p:cNvSpPr>
          <p:nvPr/>
        </p:nvSpPr>
        <p:spPr>
          <a:xfrm xmlns:a="http://schemas.openxmlformats.org/drawingml/2006/main">
            <a:off x="7905750" y="35814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Each user can review their own imported timetable.</a:t>
            </a:r>
          </a:p>
        </p:txBody>
      </p:sp>
      <p:sp>
        <p:nvSpPr>
          <p:cNvPr id="7" name="">
            <a:extLst xmlns:a="http://schemas.openxmlformats.org/drawingml/2006/main">
              <a:ext uri="{FF2B5EF4-FFF2-40B4-BE49-F238E27FC236}">
                <a16:creationId xmlns:a16="http://schemas.microsoft.com/office/drawing/2014/main" id="{BE3FE19E-D3CC-478F-9AA6-D1130C190D4E}"/>
              </a:ext>
            </a:extLst>
          </p:cNvPr>
          <p:cNvSpPr>
            <a:spLocks xmlns:a="http://schemas.openxmlformats.org/drawingml/2006/main" noGrp="1"/>
          </p:cNvSpPr>
          <p:nvPr/>
        </p:nvSpPr>
        <p:spPr>
          <a:xfrm xmlns:a="http://schemas.openxmlformats.org/drawingml/2006/main">
            <a:off x="7905750" y="4495800"/>
            <a:ext cx="36766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Maps and nearby sharing remain optional.</a:t>
            </a:r>
          </a:p>
        </p:txBody>
      </p:sp>
      <p:sp>
        <p:nvSpPr>
          <p:cNvPr id="8" name="">
            <a:extLst xmlns:a="http://schemas.openxmlformats.org/drawingml/2006/main">
              <a:ext uri="{FF2B5EF4-FFF2-40B4-BE49-F238E27FC236}">
                <a16:creationId xmlns:a16="http://schemas.microsoft.com/office/drawing/2014/main" id="{E73E44CA-9398-4338-9791-C7CDE8E1B491}"/>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Actual local interface. Displayed inventory and accounts are synthetic demo data.</a:t>
            </a:r>
          </a:p>
        </p:txBody>
      </p:sp>
      <p:sp>
        <p:nvSpPr>
          <p:cNvPr id="9" name="">
            <a:extLst xmlns:a="http://schemas.openxmlformats.org/drawingml/2006/main">
              <a:ext uri="{FF2B5EF4-FFF2-40B4-BE49-F238E27FC236}">
                <a16:creationId xmlns:a16="http://schemas.microsoft.com/office/drawing/2014/main" id="{9A8D3D3F-190B-423A-B32C-64313F552060}"/>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4 / 6</a:t>
            </a:r>
          </a:p>
        </p:txBody>
      </p:sp>
    </p:spTree>
    <p:extLst>
      <p:ext uri="{BB962C8B-B14F-4D97-AF65-F5344CB8AC3E}">
        <p14:creationId xmlns:p14="http://schemas.microsoft.com/office/powerpoint/2010/main" val="12405628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4FE4225-66E4-4A88-AAB7-F35E4B15723C}"/>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A1</a:t>
            </a:r>
          </a:p>
        </p:txBody>
      </p:sp>
      <p:sp>
        <p:nvSpPr>
          <p:cNvPr id="2" name="">
            <a:extLst xmlns:a="http://schemas.openxmlformats.org/drawingml/2006/main">
              <a:ext uri="{FF2B5EF4-FFF2-40B4-BE49-F238E27FC236}">
                <a16:creationId xmlns:a16="http://schemas.microsoft.com/office/drawing/2014/main" id="{5B77894B-978A-46E5-A82F-BF2F6F48F4FC}"/>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Business model and feasibility</a:t>
            </a:r>
          </a:p>
        </p:txBody>
      </p:sp>
      <p:sp>
        <p:nvSpPr>
          <p:cNvPr id="3" name="">
            <a:extLst xmlns:a="http://schemas.openxmlformats.org/drawingml/2006/main">
              <a:ext uri="{FF2B5EF4-FFF2-40B4-BE49-F238E27FC236}">
                <a16:creationId xmlns:a16="http://schemas.microsoft.com/office/drawing/2014/main" id="{288EB23F-EF64-4DD1-8C07-BBC6AEB25B17}"/>
              </a:ext>
            </a:extLst>
          </p:cNvPr>
          <p:cNvSpPr>
            <a:spLocks xmlns:a="http://schemas.openxmlformats.org/drawingml/2006/main" noGrp="1"/>
          </p:cNvSpPr>
          <p:nvPr/>
        </p:nvSpPr>
        <p:spPr>
          <a:xfrm xmlns:a="http://schemas.openxmlformats.org/drawingml/2006/main">
            <a:off x="609600" y="171450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A narrow first service</a:t>
            </a:r>
          </a:p>
        </p:txBody>
      </p:sp>
      <p:sp>
        <p:nvSpPr>
          <p:cNvPr id="4" name="">
            <a:extLst xmlns:a="http://schemas.openxmlformats.org/drawingml/2006/main">
              <a:ext uri="{FF2B5EF4-FFF2-40B4-BE49-F238E27FC236}">
                <a16:creationId xmlns:a16="http://schemas.microsoft.com/office/drawing/2014/main" id="{2D855EE3-2AB4-4838-B7E9-365D2F8E06BF}"/>
              </a:ext>
            </a:extLst>
          </p:cNvPr>
          <p:cNvSpPr>
            <a:spLocks xmlns:a="http://schemas.openxmlformats.org/drawingml/2006/main" noGrp="1"/>
          </p:cNvSpPr>
          <p:nvPr/>
        </p:nvSpPr>
        <p:spPr>
          <a:xfrm xmlns:a="http://schemas.openxmlformats.org/drawingml/2006/main">
            <a:off x="6438900" y="17145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Economics to test</a:t>
            </a:r>
          </a:p>
        </p:txBody>
      </p:sp>
      <p:sp>
        <p:nvSpPr>
          <p:cNvPr id="5" name="">
            <a:extLst xmlns:a="http://schemas.openxmlformats.org/drawingml/2006/main">
              <a:ext uri="{FF2B5EF4-FFF2-40B4-BE49-F238E27FC236}">
                <a16:creationId xmlns:a16="http://schemas.microsoft.com/office/drawing/2014/main" id="{E91B6357-7DCC-471F-9351-C909170501DE}"/>
              </a:ext>
            </a:extLst>
          </p:cNvPr>
          <p:cNvSpPr>
            <a:spLocks xmlns:a="http://schemas.openxmlformats.org/drawingml/2006/main" noGrp="1"/>
          </p:cNvSpPr>
          <p:nvPr/>
        </p:nvSpPr>
        <p:spPr>
          <a:xfrm xmlns:a="http://schemas.openxmlformats.org/drawingml/2006/main">
            <a:off x="609600" y="2371725"/>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Students with occasional needs and owners of idle items.</a:t>
            </a:r>
          </a:p>
        </p:txBody>
      </p:sp>
      <p:sp>
        <p:nvSpPr>
          <p:cNvPr id="6" name="">
            <a:extLst xmlns:a="http://schemas.openxmlformats.org/drawingml/2006/main">
              <a:ext uri="{FF2B5EF4-FFF2-40B4-BE49-F238E27FC236}">
                <a16:creationId xmlns:a16="http://schemas.microsoft.com/office/drawing/2014/main" id="{D7A140C4-63AB-4993-A3EE-DC2A99B9A7DD}"/>
              </a:ext>
            </a:extLst>
          </p:cNvPr>
          <p:cNvSpPr>
            <a:spLocks xmlns:a="http://schemas.openxmlformats.org/drawingml/2006/main" noGrp="1"/>
          </p:cNvSpPr>
          <p:nvPr/>
        </p:nvSpPr>
        <p:spPr>
          <a:xfrm xmlns:a="http://schemas.openxmlformats.org/drawingml/2006/main">
            <a:off x="609600" y="3200400"/>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Recruit through a permitted class or society channel.</a:t>
            </a:r>
          </a:p>
        </p:txBody>
      </p:sp>
      <p:sp>
        <p:nvSpPr>
          <p:cNvPr id="7" name="">
            <a:extLst xmlns:a="http://schemas.openxmlformats.org/drawingml/2006/main">
              <a:ext uri="{FF2B5EF4-FFF2-40B4-BE49-F238E27FC236}">
                <a16:creationId xmlns:a16="http://schemas.microsoft.com/office/drawing/2014/main" id="{8C95005C-E0C4-4634-A625-D0573F1AF320}"/>
              </a:ext>
            </a:extLst>
          </p:cNvPr>
          <p:cNvSpPr>
            <a:spLocks xmlns:a="http://schemas.openxmlformats.org/drawingml/2006/main" noGrp="1"/>
          </p:cNvSpPr>
          <p:nvPr/>
        </p:nvSpPr>
        <p:spPr>
          <a:xfrm xmlns:a="http://schemas.openxmlformats.org/drawingml/2006/main">
            <a:off x="609600" y="4029075"/>
            <a:ext cx="5181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Free pilot. Manual moderation and dispute review.</a:t>
            </a:r>
          </a:p>
        </p:txBody>
      </p:sp>
      <p:sp>
        <p:nvSpPr>
          <p:cNvPr id="8" name="">
            <a:extLst xmlns:a="http://schemas.openxmlformats.org/drawingml/2006/main">
              <a:ext uri="{FF2B5EF4-FFF2-40B4-BE49-F238E27FC236}">
                <a16:creationId xmlns:a16="http://schemas.microsoft.com/office/drawing/2014/main" id="{30051918-ED51-4F16-8CAD-FD94135C157B}"/>
              </a:ext>
            </a:extLst>
          </p:cNvPr>
          <p:cNvSpPr>
            <a:spLocks xmlns:a="http://schemas.openxmlformats.org/drawingml/2006/main" noGrp="1"/>
          </p:cNvSpPr>
          <p:nvPr/>
        </p:nvSpPr>
        <p:spPr>
          <a:xfrm xmlns:a="http://schemas.openxmlformats.org/drawingml/2006/main">
            <a:off x="6438900" y="2371725"/>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Base case GMV: CNY 216 over four weeks.</a:t>
            </a:r>
          </a:p>
        </p:txBody>
      </p:sp>
      <p:sp>
        <p:nvSpPr>
          <p:cNvPr id="9" name="">
            <a:extLst xmlns:a="http://schemas.openxmlformats.org/drawingml/2006/main">
              <a:ext uri="{FF2B5EF4-FFF2-40B4-BE49-F238E27FC236}">
                <a16:creationId xmlns:a16="http://schemas.microsoft.com/office/drawing/2014/main" id="{8BD907C3-C036-434D-B3C3-6810644FBD5E}"/>
              </a:ext>
            </a:extLst>
          </p:cNvPr>
          <p:cNvSpPr>
            <a:spLocks xmlns:a="http://schemas.openxmlformats.org/drawingml/2006/main" noGrp="1"/>
          </p:cNvSpPr>
          <p:nvPr/>
        </p:nvSpPr>
        <p:spPr>
          <a:xfrm xmlns:a="http://schemas.openxmlformats.org/drawingml/2006/main">
            <a:off x="6438900" y="3200400"/>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Pilot fee revenue: CNY 0. Refundable deposits excluded.</a:t>
            </a:r>
          </a:p>
        </p:txBody>
      </p:sp>
      <p:sp>
        <p:nvSpPr>
          <p:cNvPr id="10" name="">
            <a:extLst xmlns:a="http://schemas.openxmlformats.org/drawingml/2006/main">
              <a:ext uri="{FF2B5EF4-FFF2-40B4-BE49-F238E27FC236}">
                <a16:creationId xmlns:a16="http://schemas.microsoft.com/office/drawing/2014/main" id="{7034FEE7-8C7E-42E5-815D-80CD0B30F3BF}"/>
              </a:ext>
            </a:extLst>
          </p:cNvPr>
          <p:cNvSpPr>
            <a:spLocks xmlns:a="http://schemas.openxmlformats.org/drawingml/2006/main" noGrp="1"/>
          </p:cNvSpPr>
          <p:nvPr/>
        </p:nvSpPr>
        <p:spPr>
          <a:xfrm xmlns:a="http://schemas.openxmlformats.org/drawingml/2006/main">
            <a:off x="6438900" y="4029075"/>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Planned cash cost: CNY 180, plus team time.</a:t>
            </a:r>
          </a:p>
        </p:txBody>
      </p:sp>
      <p:sp>
        <p:nvSpPr>
          <p:cNvPr id="11" name="">
            <a:extLst xmlns:a="http://schemas.openxmlformats.org/drawingml/2006/main">
              <a:ext uri="{FF2B5EF4-FFF2-40B4-BE49-F238E27FC236}">
                <a16:creationId xmlns:a16="http://schemas.microsoft.com/office/drawing/2014/main" id="{40F2B970-063D-407E-ABFE-34CFD0366491}"/>
              </a:ext>
            </a:extLst>
          </p:cNvPr>
          <p:cNvSpPr>
            <a:spLocks xmlns:a="http://schemas.openxmlformats.org/drawingml/2006/main" noGrp="1"/>
          </p:cNvSpPr>
          <p:nvPr/>
        </p:nvSpPr>
        <p:spPr>
          <a:xfrm xmlns:a="http://schemas.openxmlformats.org/drawingml/2006/main">
            <a:off x="6438900" y="4857750"/>
            <a:ext cx="5143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A later 5% fee would yield CNY 10.80, before costs.</a:t>
            </a:r>
          </a:p>
        </p:txBody>
      </p:sp>
      <p:sp>
        <p:nvSpPr>
          <p:cNvPr id="12" name="">
            <a:extLst xmlns:a="http://schemas.openxmlformats.org/drawingml/2006/main">
              <a:ext uri="{FF2B5EF4-FFF2-40B4-BE49-F238E27FC236}">
                <a16:creationId xmlns:a16="http://schemas.microsoft.com/office/drawing/2014/main" id="{7258E2D3-9923-4DD1-B58A-6D5DF1F03B4D}"/>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Illustrative assumptions. No paying users, signed partners or institutional endorsement.</a:t>
            </a:r>
          </a:p>
        </p:txBody>
      </p:sp>
      <p:sp>
        <p:nvSpPr>
          <p:cNvPr id="13" name="">
            <a:extLst xmlns:a="http://schemas.openxmlformats.org/drawingml/2006/main">
              <a:ext uri="{FF2B5EF4-FFF2-40B4-BE49-F238E27FC236}">
                <a16:creationId xmlns:a16="http://schemas.microsoft.com/office/drawing/2014/main" id="{538C5D5C-3969-455B-8C32-3AD87F95C53F}"/>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5 / 6</a:t>
            </a:r>
          </a:p>
        </p:txBody>
      </p:sp>
    </p:spTree>
    <p:extLst>
      <p:ext uri="{BB962C8B-B14F-4D97-AF65-F5344CB8AC3E}">
        <p14:creationId xmlns:p14="http://schemas.microsoft.com/office/powerpoint/2010/main" val="976487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AC1375-230C-4A8A-BEBB-202D42328D18}"/>
              </a:ext>
            </a:extLst>
          </p:cNvPr>
          <p:cNvSpPr>
            <a:spLocks xmlns:a="http://schemas.openxmlformats.org/drawingml/2006/main" noGrp="1"/>
          </p:cNvSpPr>
          <p:nvPr/>
        </p:nvSpPr>
        <p:spPr>
          <a:xfrm xmlns:a="http://schemas.openxmlformats.org/drawingml/2006/main">
            <a:off x="609600" y="276225"/>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ENT303TC 2026/27  A1</a:t>
            </a:r>
          </a:p>
        </p:txBody>
      </p:sp>
      <p:sp>
        <p:nvSpPr>
          <p:cNvPr id="2" name="">
            <a:extLst xmlns:a="http://schemas.openxmlformats.org/drawingml/2006/main">
              <a:ext uri="{FF2B5EF4-FFF2-40B4-BE49-F238E27FC236}">
                <a16:creationId xmlns:a16="http://schemas.microsoft.com/office/drawing/2014/main" id="{2E9CB26B-CC9A-4BF1-8DB5-D95F1C30260B}"/>
              </a:ext>
            </a:extLst>
          </p:cNvPr>
          <p:cNvSpPr>
            <a:spLocks xmlns:a="http://schemas.openxmlformats.org/drawingml/2006/main" noGrp="1"/>
          </p:cNvSpPr>
          <p:nvPr/>
        </p:nvSpPr>
        <p:spPr>
          <a:xfrm xmlns:a="http://schemas.openxmlformats.org/drawingml/2006/main">
            <a:off x="609600" y="7429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C29"/>
                </a:solidFill>
                <a:latin typeface="Arial"/>
                <a:ea typeface="Arial"/>
                <a:cs typeface="Arial"/>
              </a:defRPr>
            </a:pPr>
            <a:r>
              <a:rPr sz="3300" b="1">
                <a:solidFill>
                  <a:srgbClr val="202C29"/>
                </a:solidFill>
                <a:latin typeface="Arial"/>
                <a:ea typeface="Arial"/>
                <a:cs typeface="Arial"/>
              </a:rPr>
              <a:t>Validation and next decisions</a:t>
            </a:r>
          </a:p>
        </p:txBody>
      </p:sp>
      <p:sp>
        <p:nvSpPr>
          <p:cNvPr id="3" name="">
            <a:extLst xmlns:a="http://schemas.openxmlformats.org/drawingml/2006/main">
              <a:ext uri="{FF2B5EF4-FFF2-40B4-BE49-F238E27FC236}">
                <a16:creationId xmlns:a16="http://schemas.microsoft.com/office/drawing/2014/main" id="{39A37F38-BCDE-48B8-AC96-8A66F2B8D332}"/>
              </a:ext>
            </a:extLst>
          </p:cNvPr>
          <p:cNvSpPr>
            <a:spLocks xmlns:a="http://schemas.openxmlformats.org/drawingml/2006/main" noGrp="1"/>
          </p:cNvSpPr>
          <p:nvPr/>
        </p:nvSpPr>
        <p:spPr>
          <a:xfrm xmlns:a="http://schemas.openxmlformats.org/drawingml/2006/main">
            <a:off x="609600" y="171450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Evidence today</a:t>
            </a:r>
          </a:p>
        </p:txBody>
      </p:sp>
      <p:sp>
        <p:nvSpPr>
          <p:cNvPr id="4" name="">
            <a:extLst xmlns:a="http://schemas.openxmlformats.org/drawingml/2006/main">
              <a:ext uri="{FF2B5EF4-FFF2-40B4-BE49-F238E27FC236}">
                <a16:creationId xmlns:a16="http://schemas.microsoft.com/office/drawing/2014/main" id="{A8C5A66F-77D2-45BD-A289-FC883F97EA8D}"/>
              </a:ext>
            </a:extLst>
          </p:cNvPr>
          <p:cNvSpPr>
            <a:spLocks xmlns:a="http://schemas.openxmlformats.org/drawingml/2006/main" noGrp="1"/>
          </p:cNvSpPr>
          <p:nvPr/>
        </p:nvSpPr>
        <p:spPr>
          <a:xfrm xmlns:a="http://schemas.openxmlformats.org/drawingml/2006/main">
            <a:off x="6438900" y="17145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7634E"/>
                </a:solidFill>
                <a:latin typeface="Arial"/>
                <a:ea typeface="Arial"/>
                <a:cs typeface="Arial"/>
              </a:defRPr>
            </a:pPr>
            <a:r>
              <a:rPr sz="2250" b="1">
                <a:solidFill>
                  <a:srgbClr val="27634E"/>
                </a:solidFill>
                <a:latin typeface="Arial"/>
                <a:ea typeface="Arial"/>
                <a:cs typeface="Arial"/>
              </a:rPr>
              <a:t>Before A1 submission</a:t>
            </a:r>
          </a:p>
        </p:txBody>
      </p:sp>
      <p:sp>
        <p:nvSpPr>
          <p:cNvPr id="5" name="">
            <a:extLst xmlns:a="http://schemas.openxmlformats.org/drawingml/2006/main">
              <a:ext uri="{FF2B5EF4-FFF2-40B4-BE49-F238E27FC236}">
                <a16:creationId xmlns:a16="http://schemas.microsoft.com/office/drawing/2014/main" id="{194CCA22-F4D2-452F-A69D-9CEFA20B23DE}"/>
              </a:ext>
            </a:extLst>
          </p:cNvPr>
          <p:cNvSpPr>
            <a:spLocks xmlns:a="http://schemas.openxmlformats.org/drawingml/2006/main" noGrp="1"/>
          </p:cNvSpPr>
          <p:nvPr/>
        </p:nvSpPr>
        <p:spPr>
          <a:xfrm xmlns:a="http://schemas.openxmlformats.org/drawingml/2006/main">
            <a:off x="609600" y="2371725"/>
            <a:ext cx="518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Local code, regression tests and a working demo.</a:t>
            </a:r>
          </a:p>
        </p:txBody>
      </p:sp>
      <p:sp>
        <p:nvSpPr>
          <p:cNvPr id="6" name="">
            <a:extLst xmlns:a="http://schemas.openxmlformats.org/drawingml/2006/main">
              <a:ext uri="{FF2B5EF4-FFF2-40B4-BE49-F238E27FC236}">
                <a16:creationId xmlns:a16="http://schemas.microsoft.com/office/drawing/2014/main" id="{A5261484-DE8E-4D22-8EDD-8AA8F9CF4A6D}"/>
              </a:ext>
            </a:extLst>
          </p:cNvPr>
          <p:cNvSpPr>
            <a:spLocks xmlns:a="http://schemas.openxmlformats.org/drawingml/2006/main" noGrp="1"/>
          </p:cNvSpPr>
          <p:nvPr/>
        </p:nvSpPr>
        <p:spPr>
          <a:xfrm xmlns:a="http://schemas.openxmlformats.org/drawingml/2006/main">
            <a:off x="609600" y="3419475"/>
            <a:ext cx="518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Official market sources and a transparent scenario model.</a:t>
            </a:r>
          </a:p>
        </p:txBody>
      </p:sp>
      <p:sp>
        <p:nvSpPr>
          <p:cNvPr id="7" name="">
            <a:extLst xmlns:a="http://schemas.openxmlformats.org/drawingml/2006/main">
              <a:ext uri="{FF2B5EF4-FFF2-40B4-BE49-F238E27FC236}">
                <a16:creationId xmlns:a16="http://schemas.microsoft.com/office/drawing/2014/main" id="{1094FAC9-32BA-47B0-89E8-B522C5839825}"/>
              </a:ext>
            </a:extLst>
          </p:cNvPr>
          <p:cNvSpPr>
            <a:spLocks xmlns:a="http://schemas.openxmlformats.org/drawingml/2006/main" noGrp="1"/>
          </p:cNvSpPr>
          <p:nvPr/>
        </p:nvSpPr>
        <p:spPr>
          <a:xfrm xmlns:a="http://schemas.openxmlformats.org/drawingml/2006/main">
            <a:off x="609600" y="4467225"/>
            <a:ext cx="518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User demand, task success and willingness to pay remain untested.</a:t>
            </a:r>
          </a:p>
        </p:txBody>
      </p:sp>
      <p:sp>
        <p:nvSpPr>
          <p:cNvPr id="8" name="">
            <a:extLst xmlns:a="http://schemas.openxmlformats.org/drawingml/2006/main">
              <a:ext uri="{FF2B5EF4-FFF2-40B4-BE49-F238E27FC236}">
                <a16:creationId xmlns:a16="http://schemas.microsoft.com/office/drawing/2014/main" id="{EFA541E5-303B-4B66-AE01-E9A78154159D}"/>
              </a:ext>
            </a:extLst>
          </p:cNvPr>
          <p:cNvSpPr>
            <a:spLocks xmlns:a="http://schemas.openxmlformats.org/drawingml/2006/main" noGrp="1"/>
          </p:cNvSpPr>
          <p:nvPr/>
        </p:nvSpPr>
        <p:spPr>
          <a:xfrm xmlns:a="http://schemas.openxmlformats.org/drawingml/2006/main">
            <a:off x="6438900" y="237172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Pilot the research instrument, then retain 3-5 anonymised interactions.</a:t>
            </a:r>
          </a:p>
        </p:txBody>
      </p:sp>
      <p:sp>
        <p:nvSpPr>
          <p:cNvPr id="9" name="">
            <a:extLst xmlns:a="http://schemas.openxmlformats.org/drawingml/2006/main">
              <a:ext uri="{FF2B5EF4-FFF2-40B4-BE49-F238E27FC236}">
                <a16:creationId xmlns:a16="http://schemas.microsoft.com/office/drawing/2014/main" id="{C132E840-37B1-44F3-B6E0-7FC5C02C8289}"/>
              </a:ext>
            </a:extLst>
          </p:cNvPr>
          <p:cNvSpPr>
            <a:spLocks xmlns:a="http://schemas.openxmlformats.org/drawingml/2006/main" noGrp="1"/>
          </p:cNvSpPr>
          <p:nvPr/>
        </p:nvSpPr>
        <p:spPr>
          <a:xfrm xmlns:a="http://schemas.openxmlformats.org/drawingml/2006/main">
            <a:off x="6438900" y="341947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Trace three insights to raw evidence and revise the concept choice.</a:t>
            </a:r>
          </a:p>
        </p:txBody>
      </p:sp>
      <p:sp>
        <p:nvSpPr>
          <p:cNvPr id="10" name="">
            <a:extLst xmlns:a="http://schemas.openxmlformats.org/drawingml/2006/main">
              <a:ext uri="{FF2B5EF4-FFF2-40B4-BE49-F238E27FC236}">
                <a16:creationId xmlns:a16="http://schemas.microsoft.com/office/drawing/2014/main" id="{940454DD-EF3A-41C6-9B2F-B72BEC63AA0C}"/>
              </a:ext>
            </a:extLst>
          </p:cNvPr>
          <p:cNvSpPr>
            <a:spLocks xmlns:a="http://schemas.openxmlformats.org/drawingml/2006/main" noGrp="1"/>
          </p:cNvSpPr>
          <p:nvPr/>
        </p:nvSpPr>
        <p:spPr>
          <a:xfrm xmlns:a="http://schemas.openxmlformats.org/drawingml/2006/main">
            <a:off x="6438900" y="4467225"/>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C29"/>
                </a:solidFill>
                <a:latin typeface="Arial"/>
                <a:ea typeface="Arial"/>
                <a:cs typeface="Arial"/>
              </a:defRPr>
            </a:pPr>
            <a:r>
              <a:rPr sz="1950" b="0">
                <a:solidFill>
                  <a:srgbClr val="202C29"/>
                </a:solidFill>
                <a:latin typeface="Arial"/>
                <a:ea typeface="Arial"/>
                <a:cs typeface="Arial"/>
              </a:rPr>
              <a:t>Rehearse, verify the group details and retain both LMO receipts.</a:t>
            </a:r>
          </a:p>
        </p:txBody>
      </p:sp>
      <p:sp>
        <p:nvSpPr>
          <p:cNvPr id="11" name="">
            <a:extLst xmlns:a="http://schemas.openxmlformats.org/drawingml/2006/main">
              <a:ext uri="{FF2B5EF4-FFF2-40B4-BE49-F238E27FC236}">
                <a16:creationId xmlns:a16="http://schemas.microsoft.com/office/drawing/2014/main" id="{CC2A08C7-137E-475C-AF47-DE2A40550C9A}"/>
              </a:ext>
            </a:extLst>
          </p:cNvPr>
          <p:cNvSpPr>
            <a:spLocks xmlns:a="http://schemas.openxmlformats.org/drawingml/2006/main" noGrp="1"/>
          </p:cNvSpPr>
          <p:nvPr/>
        </p:nvSpPr>
        <p:spPr>
          <a:xfrm xmlns:a="http://schemas.openxmlformats.org/drawingml/2006/main">
            <a:off x="609600" y="5953125"/>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05C"/>
                </a:solidFill>
                <a:latin typeface="Arial"/>
                <a:ea typeface="Arial"/>
                <a:cs typeface="Arial"/>
              </a:defRPr>
            </a:pPr>
            <a:r>
              <a:rPr sz="1500" b="0">
                <a:solidFill>
                  <a:srgbClr val="54605C"/>
                </a:solidFill>
                <a:latin typeface="Arial"/>
                <a:ea typeface="Arial"/>
                <a:cs typeface="Arial"/>
              </a:rPr>
              <a:t>A1 deadline: 6 November 2026, 23:59. Six slides total, no appendix.</a:t>
            </a:r>
          </a:p>
        </p:txBody>
      </p:sp>
      <p:sp>
        <p:nvSpPr>
          <p:cNvPr id="12" name="">
            <a:extLst xmlns:a="http://schemas.openxmlformats.org/drawingml/2006/main">
              <a:ext uri="{FF2B5EF4-FFF2-40B4-BE49-F238E27FC236}">
                <a16:creationId xmlns:a16="http://schemas.microsoft.com/office/drawing/2014/main" id="{C314D2A9-1978-434D-92EA-2BE55CF6C620}"/>
              </a:ext>
            </a:extLst>
          </p:cNvPr>
          <p:cNvSpPr>
            <a:spLocks xmlns:a="http://schemas.openxmlformats.org/drawingml/2006/main" noGrp="1"/>
          </p:cNvSpPr>
          <p:nvPr/>
        </p:nvSpPr>
        <p:spPr>
          <a:xfrm xmlns:a="http://schemas.openxmlformats.org/drawingml/2006/main">
            <a:off x="10763250" y="6477000"/>
            <a:ext cx="819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05C"/>
                </a:solidFill>
                <a:latin typeface="Arial"/>
                <a:ea typeface="Arial"/>
                <a:cs typeface="Arial"/>
              </a:defRPr>
            </a:pPr>
            <a:r>
              <a:rPr sz="1350" b="0">
                <a:solidFill>
                  <a:srgbClr val="54605C"/>
                </a:solidFill>
                <a:latin typeface="Arial"/>
                <a:ea typeface="Arial"/>
                <a:cs typeface="Arial"/>
              </a:rPr>
              <a:t>6 / 6</a:t>
            </a:r>
          </a:p>
        </p:txBody>
      </p:sp>
    </p:spTree>
    <p:extLst>
      <p:ext uri="{BB962C8B-B14F-4D97-AF65-F5344CB8AC3E}">
        <p14:creationId xmlns:p14="http://schemas.microsoft.com/office/powerpoint/2010/main" val="15501255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2026-10-06T13:34:52.1990000Z</dcterms:created>
  <dcterms:modified xsi:type="dcterms:W3CDTF">2026-10-06T13:34:52.1990000Z</dcterms:modified>
</coreProperties>
</file>